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62e546b3371459f" /><Relationship Type="http://schemas.openxmlformats.org/officeDocument/2006/relationships/extended-properties" Target="/docProps/app.xml" Id="Ra40b3dfa7c7141f9" /><Relationship Type="http://schemas.openxmlformats.org/officeDocument/2006/relationships/officeDocument" Target="/ppt/presentation.xml" Id="R29e5b64cde064efe" /></Relationships>
</file>

<file path=ppt/presentation.xml><?xml version="1.0" encoding="utf-8"?>
<p:presentation xmlns:p="http://schemas.openxmlformats.org/presentationml/2006/main">
  <p:sldMasterIdLst>
    <p:sldMasterId xmlns:r="http://schemas.openxmlformats.org/officeDocument/2006/relationships" id="2147483648" r:id="R2636c0411c964755"/>
  </p:sldMasterIdLst>
  <p:notesMasterIdLst>
    <p:notesMasterId xmlns:r="http://schemas.openxmlformats.org/officeDocument/2006/relationships" r:id="R74c213b37b2c4cc6"/>
  </p:notesMasterIdLst>
  <p:sldIdLst>
    <p:sldId xmlns:r="http://schemas.openxmlformats.org/officeDocument/2006/relationships" id="256" r:id="Re8fbfc6517f14201"/>
    <p:sldId xmlns:r="http://schemas.openxmlformats.org/officeDocument/2006/relationships" id="257" r:id="R65ed4ac1feb94b18"/>
    <p:sldId xmlns:r="http://schemas.openxmlformats.org/officeDocument/2006/relationships" id="258" r:id="R223c219098bd4498"/>
    <p:sldId xmlns:r="http://schemas.openxmlformats.org/officeDocument/2006/relationships" id="259" r:id="Rb7f9338a28034532"/>
    <p:sldId xmlns:r="http://schemas.openxmlformats.org/officeDocument/2006/relationships" id="260" r:id="R82a1b3eb0ecf48f5"/>
    <p:sldId xmlns:r="http://schemas.openxmlformats.org/officeDocument/2006/relationships" id="261" r:id="R98d1246ac49e4e41"/>
    <p:sldId xmlns:r="http://schemas.openxmlformats.org/officeDocument/2006/relationships" id="262" r:id="Rdaba54568650445c"/>
    <p:sldId xmlns:r="http://schemas.openxmlformats.org/officeDocument/2006/relationships" id="263" r:id="R38a0a15297df4b30"/>
    <p:sldId xmlns:r="http://schemas.openxmlformats.org/officeDocument/2006/relationships" id="264" r:id="R8216ad1be3364e7b"/>
    <p:sldId xmlns:r="http://schemas.openxmlformats.org/officeDocument/2006/relationships" id="265" r:id="Re02fbfd2528945a5"/>
    <p:sldId xmlns:r="http://schemas.openxmlformats.org/officeDocument/2006/relationships" id="266" r:id="R5aed5bcd94094f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bfe8dedcd24fcd" /><Relationship Type="http://schemas.openxmlformats.org/officeDocument/2006/relationships/slideMaster" Target="/ppt/slideMasters/slideMaster1.xml" Id="R2636c0411c964755" /><Relationship Type="http://schemas.openxmlformats.org/officeDocument/2006/relationships/notesMaster" Target="/ppt/notesMasters/notesMaster1.xml" Id="R74c213b37b2c4cc6" /><Relationship Type="http://schemas.openxmlformats.org/officeDocument/2006/relationships/presProps" Target="/ppt/presProps.xml" Id="R006aa310fdc54c63" /><Relationship Type="http://schemas.openxmlformats.org/officeDocument/2006/relationships/tableStyles" Target="/ppt/tableStyles.xml" Id="Rf4570e5da94448c8" /><Relationship Type="http://schemas.openxmlformats.org/officeDocument/2006/relationships/slide" Target="/ppt/slides/slide1.xml" Id="Re8fbfc6517f14201" /><Relationship Type="http://schemas.openxmlformats.org/officeDocument/2006/relationships/slide" Target="/ppt/slides/slide2.xml" Id="R65ed4ac1feb94b18" /><Relationship Type="http://schemas.openxmlformats.org/officeDocument/2006/relationships/slide" Target="/ppt/slides/slide3.xml" Id="R223c219098bd4498" /><Relationship Type="http://schemas.openxmlformats.org/officeDocument/2006/relationships/slide" Target="/ppt/slides/slide4.xml" Id="Rb7f9338a28034532" /><Relationship Type="http://schemas.openxmlformats.org/officeDocument/2006/relationships/slide" Target="/ppt/slides/slide5.xml" Id="R82a1b3eb0ecf48f5" /><Relationship Type="http://schemas.openxmlformats.org/officeDocument/2006/relationships/slide" Target="/ppt/slides/slide6.xml" Id="R98d1246ac49e4e41" /><Relationship Type="http://schemas.openxmlformats.org/officeDocument/2006/relationships/slide" Target="/ppt/slides/slide7.xml" Id="Rdaba54568650445c" /><Relationship Type="http://schemas.openxmlformats.org/officeDocument/2006/relationships/slide" Target="/ppt/slides/slide8.xml" Id="R38a0a15297df4b30" /><Relationship Type="http://schemas.openxmlformats.org/officeDocument/2006/relationships/slide" Target="/ppt/slides/slide9.xml" Id="R8216ad1be3364e7b" /><Relationship Type="http://schemas.openxmlformats.org/officeDocument/2006/relationships/slide" Target="/ppt/slides/slide10.xml" Id="Re02fbfd2528945a5" /><Relationship Type="http://schemas.openxmlformats.org/officeDocument/2006/relationships/slide" Target="/ppt/slides/slide11.xml" Id="R5aed5bcd94094f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e9ee40ad7641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6e3db93c584506" /><Relationship Type="http://schemas.openxmlformats.org/officeDocument/2006/relationships/notesMaster" Target="/ppt/notesMasters/notesMaster1.xml" Id="R4a44ab801f2a46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1e665644194c42" /><Relationship Type="http://schemas.openxmlformats.org/officeDocument/2006/relationships/notesMaster" Target="/ppt/notesMasters/notesMaster1.xml" Id="R45a3882309de41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4efee4cc08445b" /><Relationship Type="http://schemas.openxmlformats.org/officeDocument/2006/relationships/notesMaster" Target="/ppt/notesMasters/notesMaster1.xml" Id="Ra15a41a201a94a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b8d561999e4d08" /><Relationship Type="http://schemas.openxmlformats.org/officeDocument/2006/relationships/notesMaster" Target="/ppt/notesMasters/notesMaster1.xml" Id="R7b80d8d3a52b48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81bc849076498b" /><Relationship Type="http://schemas.openxmlformats.org/officeDocument/2006/relationships/notesMaster" Target="/ppt/notesMasters/notesMaster1.xml" Id="R096c2cbd4ed04d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46e6d2d44e4d63" /><Relationship Type="http://schemas.openxmlformats.org/officeDocument/2006/relationships/notesMaster" Target="/ppt/notesMasters/notesMaster1.xml" Id="R7b626d85607d4b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2c56e3797d41f7" /><Relationship Type="http://schemas.openxmlformats.org/officeDocument/2006/relationships/notesMaster" Target="/ppt/notesMasters/notesMaster1.xml" Id="R8906d06a95a74c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eb574781704664" /><Relationship Type="http://schemas.openxmlformats.org/officeDocument/2006/relationships/notesMaster" Target="/ppt/notesMasters/notesMaster1.xml" Id="R62410879ad0e48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ba9312b4b64b57" /><Relationship Type="http://schemas.openxmlformats.org/officeDocument/2006/relationships/notesMaster" Target="/ppt/notesMasters/notesMaster1.xml" Id="R4bd04c7e22f545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294132f573460e" /><Relationship Type="http://schemas.openxmlformats.org/officeDocument/2006/relationships/notesMaster" Target="/ppt/notesMasters/notesMaster1.xml" Id="R880a020a640142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e6567364114097" /><Relationship Type="http://schemas.openxmlformats.org/officeDocument/2006/relationships/notesMaster" Target="/ppt/notesMasters/notesMaster1.xml" Id="R44567f0ec0fc45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(20 seconds)</a:t>
            </a:r>
          </a:p>
          <a:p xmlns:a="http://schemas.openxmlformats.org/drawingml/2006/main">
            <a:r>
              <a:t/>
            </a:r>
          </a:p>
          <a:p xmlns:a="http://schemas.openxmlformats.org/drawingml/2006/main">
            <a:r>
              <a:t>Track A asks us to assign each customer to a vehicle, respect capacity, and group nearby customers. We minimize pairwise distance within groups and evaluate routes separately. Our main finding is that translating a correct mathematical model into atom positions can change its preferred answer. We compare the encodings and test that distortion directly.</a:t>
            </a:r>
          </a:p>
          <a:p xmlns:a="http://schemas.openxmlformats.org/drawingml/2006/main">
            <a:r>
              <a:t/>
            </a:r>
          </a:p>
          <a:p xmlns:a="http://schemas.openxmlformats.org/drawingml/2006/main">
            <a:r>
              <a:t>Sources</a:t>
            </a:r>
          </a:p>
          <a:p xmlns:a="http://schemas.openxmlformats.org/drawingml/2006/main">
            <a:r>
              <a:t>broader: /Users/alanye/.codex/worktrees/track-a-research/duquantum-pasqal/research/track_a/REPORT.md</a:t>
            </a:r>
          </a:p>
          <a:p xmlns:a="http://schemas.openxmlformats.org/drawingml/2006/main">
            <a:r>
              <a:t>Snapshot: /Users/alanye/.codex/worktrees/2da4/duquantum-pasqal/audit/challenge_wrapup/sources/broader.md</a:t>
            </a:r>
          </a:p>
          <a:p xmlns:a="http://schemas.openxmlformats.org/drawingml/2006/main">
            <a:r>
              <a:t>SHA-256: de59bd028d125504ea95f2814d036920323d3bc7fc0db24063ea368ad0943778</a:t>
            </a:r>
          </a:p>
          <a:p xmlns:a="http://schemas.openxmlformats.org/drawingml/2006/main">
            <a:r>
              <a:t/>
            </a:r>
          </a:p>
          <a:p xmlns:a="http://schemas.openxmlformats.org/drawingml/2006/main">
            <a:r>
              <a:t>scaling: /Users/alanye/duquantum-pasqal/audit/scaling/REPORT.md</a:t>
            </a:r>
          </a:p>
          <a:p xmlns:a="http://schemas.openxmlformats.org/drawingml/2006/main">
            <a:r>
              <a:t>Snapshot: /Users/alanye/.codex/worktrees/2da4/duquantum-pasqal/audit/challenge_wrapup/sources/scaling.md</a:t>
            </a:r>
          </a:p>
          <a:p xmlns:a="http://schemas.openxmlformats.org/drawingml/2006/main">
            <a:r>
              <a:t>SHA-256: e7b4faa807984c12cca9e13d7581aeda86aee0fc63934a06c13b357a34b04b71</a:t>
            </a:r>
          </a:p>
          <a:p xmlns:a="http://schemas.openxmlformats.org/drawingml/2006/main">
            <a:r>
              <a:t/>
            </a:r>
          </a:p>
          <a:p xmlns:a="http://schemas.openxmlformats.org/drawingml/2006/main">
            <a:r>
              <a:t>Evidence follows the four-page Track A report. Main snapshot: October 25, 2026, 9:01 am ET. Historical sources refreshed at 9:54–9:56 am ET, including completed helper expansion and placement audit. Repeated layouts and overlapping studies are not independent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0:20–1:20  (60 seconds)</a:t>
            </a:r>
          </a:p>
          <a:p xmlns:a="http://schemas.openxmlformats.org/drawingml/2006/main">
            <a:r>
              <a:t/>
            </a:r>
          </a:p>
          <a:p xmlns:a="http://schemas.openxmlformats.org/drawingml/2006/main">
            <a:r>
              <a:t>One-hot assignment uses one bit per vehicle and a squared penalty to require exactly one active bit. The table lists valid codes in vehicle order. With two vehicles, one-hot uses ten and zero-one; reduced uses one and zero. With three vehicles, reduced uses ten, zero-one and zero-zero. Four vehicles use one hundred, zero-one-zero, zero-zero-one and all zeros. The last vehicle is implicit. Linear substitution reconstructs its indicator as one minus the other bits. Pair-product penalties forbid multiple active reduced bits: none is needed for two vehicles, one product for three, and three products for four. With a sufficiently large penalty this enforces assignment. Capacity is a separate choice on the next slide.</a:t>
            </a:r>
          </a:p>
          <a:p xmlns:a="http://schemas.openxmlformats.org/drawingml/2006/main">
            <a:r>
              <a:t/>
            </a:r>
          </a:p>
          <a:p xmlns:a="http://schemas.openxmlformats.org/drawingml/2006/main">
            <a:r>
              <a:t>Sources</a:t>
            </a:r>
          </a:p>
          <a:p xmlns:a="http://schemas.openxmlformats.org/drawingml/2006/main">
            <a:r>
              <a:t>screen: /Users/alanye/duquantum-pasqal/audit/encoding/report.md</a:t>
            </a:r>
          </a:p>
          <a:p xmlns:a="http://schemas.openxmlformats.org/drawingml/2006/main">
            <a:r>
              <a:t>Snapshot: /Users/alanye/.codex/worktrees/2da4/duquantum-pasqal/audit/challenge_wrapup/sources/screen.md</a:t>
            </a:r>
          </a:p>
          <a:p xmlns:a="http://schemas.openxmlformats.org/drawingml/2006/main">
            <a:r>
              <a:t>SHA-256: 2073f83407f590ed7e7faaf54be02fd17a4b43f37c1a6362f6774dd00e8cc9d4</a:t>
            </a:r>
          </a:p>
          <a:p xmlns:a="http://schemas.openxmlformats.org/drawingml/2006/main">
            <a:r>
              <a:t/>
            </a:r>
          </a:p>
          <a:p xmlns:a="http://schemas.openxmlformats.org/drawingml/2006/main">
            <a:r>
              <a:t>broader: /Users/alanye/.codex/worktrees/track-a-research/duquantum-pasqal/research/track_a/REPORT.md</a:t>
            </a:r>
          </a:p>
          <a:p xmlns:a="http://schemas.openxmlformats.org/drawingml/2006/main">
            <a:r>
              <a:t>Snapshot: /Users/alanye/.codex/worktrees/2da4/duquantum-pasqal/audit/challenge_wrapup/sources/broader.md</a:t>
            </a:r>
          </a:p>
          <a:p xmlns:a="http://schemas.openxmlformats.org/drawingml/2006/main">
            <a:r>
              <a:t>SHA-256: de59bd028d125504ea95f2814d036920323d3bc7fc0db24063ea368ad0943778</a:t>
            </a:r>
          </a:p>
          <a:p xmlns:a="http://schemas.openxmlformats.org/drawingml/2006/main">
            <a:r>
              <a:t/>
            </a:r>
          </a:p>
          <a:p xmlns:a="http://schemas.openxmlformats.org/drawingml/2006/main">
            <a:r>
              <a:t>scaling: /Users/alanye/duquantum-pasqal/audit/scaling/REPORT.md</a:t>
            </a:r>
          </a:p>
          <a:p xmlns:a="http://schemas.openxmlformats.org/drawingml/2006/main">
            <a:r>
              <a:t>Snapshot: /Users/alanye/.codex/worktrees/2da4/duquantum-pasqal/audit/challenge_wrapup/sources/scaling.md</a:t>
            </a:r>
          </a:p>
          <a:p xmlns:a="http://schemas.openxmlformats.org/drawingml/2006/main">
            <a:r>
              <a:t>SHA-256: e7b4faa807984c12cca9e13d7581aeda86aee0fc63934a06c13b357a34b04b71</a:t>
            </a:r>
          </a:p>
          <a:p xmlns:a="http://schemas.openxmlformats.org/drawingml/2006/main">
            <a:r>
              <a:t/>
            </a:r>
          </a:p>
          <a:p xmlns:a="http://schemas.openxmlformats.org/drawingml/2006/main">
            <a:r>
              <a:t>Evidence follows the four-page Track A report. Main snapshot: October 25, 2026, 9:01 am ET. Historical sources refreshed at 9:54–9:56 am ET, including completed helper expansion and placement audit. Repeated layouts and overlapping studies are not independent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1:20–2:00  (40 seconds)</a:t>
            </a:r>
          </a:p>
          <a:p xmlns:a="http://schemas.openxmlformats.org/drawingml/2006/main">
            <a:r>
              <a:t/>
            </a:r>
          </a:p>
          <a:p xmlns:a="http://schemas.openxmlformats.org/drawingml/2006/main">
            <a:r>
              <a:t>Capacity slack introduces nonnegative binary-encoded spare capacity. A legal load can choose slack so the capacity penalty is zero. An overloaded vehicle cannot. With sufficient penalties and valid assignment this enforces capacity in the intended ground state. Balance uses no slack bits and penalizes deviations from capacity, even for valid loads. For two vehicles of capacity seven, loads five and five and loads six and four are both feasible. Slack gives both zero capacity penalty, but balance prefers five and five. An overloaded eight and two split has positive balance cost but is not forbidden if the clustering objective compensates. This is the tradeoff behind the atom savings.</a:t>
            </a:r>
          </a:p>
          <a:p xmlns:a="http://schemas.openxmlformats.org/drawingml/2006/main">
            <a:r>
              <a:t/>
            </a:r>
          </a:p>
          <a:p xmlns:a="http://schemas.openxmlformats.org/drawingml/2006/main">
            <a:r>
              <a:t>Sources</a:t>
            </a:r>
          </a:p>
          <a:p xmlns:a="http://schemas.openxmlformats.org/drawingml/2006/main">
            <a:r>
              <a:t>scaling: /Users/alanye/duquantum-pasqal/audit/scaling/REPORT.md</a:t>
            </a:r>
          </a:p>
          <a:p xmlns:a="http://schemas.openxmlformats.org/drawingml/2006/main">
            <a:r>
              <a:t>Snapshot: /Users/alanye/.codex/worktrees/2da4/duquantum-pasqal/audit/challenge_wrapup/sources/scaling.md</a:t>
            </a:r>
          </a:p>
          <a:p xmlns:a="http://schemas.openxmlformats.org/drawingml/2006/main">
            <a:r>
              <a:t>SHA-256: e7b4faa807984c12cca9e13d7581aeda86aee0fc63934a06c13b357a34b04b71</a:t>
            </a:r>
          </a:p>
          <a:p xmlns:a="http://schemas.openxmlformats.org/drawingml/2006/main">
            <a:r>
              <a:t/>
            </a:r>
          </a:p>
          <a:p xmlns:a="http://schemas.openxmlformats.org/drawingml/2006/main">
            <a:r>
              <a:t>generator_source: /Users/alanye/.codex/worktrees/2da4/duquantum-pasqal/audit/track_a_methods/build/evidence/02_references.py</a:t>
            </a:r>
          </a:p>
          <a:p xmlns:a="http://schemas.openxmlformats.org/drawingml/2006/main">
            <a:r>
              <a:t>Snapshot: /Users/alanye/.codex/worktrees/2da4/duquantum-pasqal/audit/track_a_methods/build/evidence/02_references.py</a:t>
            </a:r>
          </a:p>
          <a:p xmlns:a="http://schemas.openxmlformats.org/drawingml/2006/main">
            <a:r>
              <a:t>SHA-256: b09887d4e8aed740041611457e4fef4aa107e2994e59b2fce9e13fa19edf60e4</a:t>
            </a:r>
          </a:p>
          <a:p xmlns:a="http://schemas.openxmlformats.org/drawingml/2006/main">
            <a:r>
              <a:t/>
            </a:r>
          </a:p>
          <a:p xmlns:a="http://schemas.openxmlformats.org/drawingml/2006/main">
            <a:r>
              <a:t>Evidence follows the four-page Track A report. Main snapshot: October 25, 2026, 9:01 am ET. Historical sources refreshed at 9:54–9:56 am ET, including completed helper expansion and placement audit. Repeated layouts and overlapping studies are not independent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2:00–2:25  (25 seconds)</a:t>
            </a:r>
          </a:p>
          <a:p xmlns:a="http://schemas.openxmlformats.org/drawingml/2006/main">
            <a:r>
              <a:t/>
            </a:r>
          </a:p>
          <a:p xmlns:a="http://schemas.openxmlformats.org/drawingml/2006/main">
            <a:r>
              <a:t>Assignment plus capacity slack is the exact baseline in the first row. It needs fourteen, forty-five and eighty atoms across our three sizes. The full-assignment balance surrogate removes slack. Reduced assignment additionally makes one vehicle implicit, needing only four, twenty and forty-five atoms. Those savings change the capacity model, so the reduced approach remains a heuristic.</a:t>
            </a:r>
          </a:p>
          <a:p xmlns:a="http://schemas.openxmlformats.org/drawingml/2006/main">
            <a:r>
              <a:t/>
            </a:r>
          </a:p>
          <a:p xmlns:a="http://schemas.openxmlformats.org/drawingml/2006/main">
            <a:r>
              <a:t>Sources</a:t>
            </a:r>
          </a:p>
          <a:p xmlns:a="http://schemas.openxmlformats.org/drawingml/2006/main">
            <a:r>
              <a:t>screen: /Users/alanye/duquantum-pasqal/audit/encoding/report.md</a:t>
            </a:r>
          </a:p>
          <a:p xmlns:a="http://schemas.openxmlformats.org/drawingml/2006/main">
            <a:r>
              <a:t>Snapshot: /Users/alanye/.codex/worktrees/2da4/duquantum-pasqal/audit/challenge_wrapup/sources/screen.md</a:t>
            </a:r>
          </a:p>
          <a:p xmlns:a="http://schemas.openxmlformats.org/drawingml/2006/main">
            <a:r>
              <a:t>SHA-256: 2073f83407f590ed7e7faaf54be02fd17a4b43f37c1a6362f6774dd00e8cc9d4</a:t>
            </a:r>
          </a:p>
          <a:p xmlns:a="http://schemas.openxmlformats.org/drawingml/2006/main">
            <a:r>
              <a:t/>
            </a:r>
          </a:p>
          <a:p xmlns:a="http://schemas.openxmlformats.org/drawingml/2006/main">
            <a:r>
              <a:t>broader: /Users/alanye/.codex/worktrees/track-a-research/duquantum-pasqal/research/track_a/REPORT.md</a:t>
            </a:r>
          </a:p>
          <a:p xmlns:a="http://schemas.openxmlformats.org/drawingml/2006/main">
            <a:r>
              <a:t>Snapshot: /Users/alanye/.codex/worktrees/2da4/duquantum-pasqal/audit/challenge_wrapup/sources/broader.md</a:t>
            </a:r>
          </a:p>
          <a:p xmlns:a="http://schemas.openxmlformats.org/drawingml/2006/main">
            <a:r>
              <a:t>SHA-256: de59bd028d125504ea95f2814d036920323d3bc7fc0db24063ea368ad0943778</a:t>
            </a:r>
          </a:p>
          <a:p xmlns:a="http://schemas.openxmlformats.org/drawingml/2006/main">
            <a:r>
              <a:t/>
            </a:r>
          </a:p>
          <a:p xmlns:a="http://schemas.openxmlformats.org/drawingml/2006/main">
            <a:r>
              <a:t>scaling: /Users/alanye/duquantum-pasqal/audit/scaling/REPORT.md</a:t>
            </a:r>
          </a:p>
          <a:p xmlns:a="http://schemas.openxmlformats.org/drawingml/2006/main">
            <a:r>
              <a:t>Snapshot: /Users/alanye/.codex/worktrees/2da4/duquantum-pasqal/audit/challenge_wrapup/sources/scaling.md</a:t>
            </a:r>
          </a:p>
          <a:p xmlns:a="http://schemas.openxmlformats.org/drawingml/2006/main">
            <a:r>
              <a:t>SHA-256: e7b4faa807984c12cca9e13d7581aeda86aee0fc63934a06c13b357a34b04b71</a:t>
            </a:r>
          </a:p>
          <a:p xmlns:a="http://schemas.openxmlformats.org/drawingml/2006/main">
            <a:r>
              <a:t/>
            </a:r>
          </a:p>
          <a:p xmlns:a="http://schemas.openxmlformats.org/drawingml/2006/main">
            <a:r>
              <a:t>Evidence follows the four-page Track A report. Main snapshot: October 25, 2026, 9:01 am ET. Historical sources refreshed at 9:54–9:56 am ET, including completed helper expansion and placement audit. Repeated layouts and overlapping studies are not independent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2:25–3:00  (35 seconds)</a:t>
            </a:r>
          </a:p>
          <a:p xmlns:a="http://schemas.openxmlformats.org/drawingml/2006/main">
            <a:r>
              <a:t/>
            </a:r>
          </a:p>
          <a:p xmlns:a="http://schemas.openxmlformats.org/drawingml/2006/main">
            <a:r>
              <a:t>We draw seeded positions and integer demands, using the problem sizes shown here. Before emulation, exact optimization rejects infeasible draws and keeps only cases where capacity changes the best clustering. We save seeds, valid assignment certificates, and demand ratios. A separate certificate search uses only demands and capacity to set textbook penalties. All twenty instances regenerate exactly and all twenty certificates pass. Exact screening grows exponentially, so this generator serves our small benchmark sizes.</a:t>
            </a:r>
          </a:p>
          <a:p xmlns:a="http://schemas.openxmlformats.org/drawingml/2006/main">
            <a:r>
              <a:t/>
            </a:r>
          </a:p>
          <a:p xmlns:a="http://schemas.openxmlformats.org/drawingml/2006/main">
            <a:r>
              <a:t>Sources</a:t>
            </a:r>
          </a:p>
          <a:p xmlns:a="http://schemas.openxmlformats.org/drawingml/2006/main">
            <a:r>
              <a:t>scaling: /Users/alanye/duquantum-pasqal/audit/scaling/REPORT.md</a:t>
            </a:r>
          </a:p>
          <a:p xmlns:a="http://schemas.openxmlformats.org/drawingml/2006/main">
            <a:r>
              <a:t>Snapshot: /Users/alanye/.codex/worktrees/2da4/duquantum-pasqal/audit/challenge_wrapup/sources/scaling.md</a:t>
            </a:r>
          </a:p>
          <a:p xmlns:a="http://schemas.openxmlformats.org/drawingml/2006/main">
            <a:r>
              <a:t>SHA-256: e7b4faa807984c12cca9e13d7581aeda86aee0fc63934a06c13b357a34b04b71</a:t>
            </a:r>
          </a:p>
          <a:p xmlns:a="http://schemas.openxmlformats.org/drawingml/2006/main">
            <a:r>
              <a:t/>
            </a:r>
          </a:p>
          <a:p xmlns:a="http://schemas.openxmlformats.org/drawingml/2006/main">
            <a:r>
              <a:t>generator_source: /Users/alanye/.codex/worktrees/2da4/duquantum-pasqal/audit/track_a_methods/build/evidence/02_references.py</a:t>
            </a:r>
          </a:p>
          <a:p xmlns:a="http://schemas.openxmlformats.org/drawingml/2006/main">
            <a:r>
              <a:t>Snapshot: /Users/alanye/.codex/worktrees/2da4/duquantum-pasqal/audit/track_a_methods/build/evidence/02_references.py</a:t>
            </a:r>
          </a:p>
          <a:p xmlns:a="http://schemas.openxmlformats.org/drawingml/2006/main">
            <a:r>
              <a:t>SHA-256: b09887d4e8aed740041611457e4fef4aa107e2994e59b2fce9e13fa19edf60e4</a:t>
            </a:r>
          </a:p>
          <a:p xmlns:a="http://schemas.openxmlformats.org/drawingml/2006/main">
            <a:r>
              <a:t/>
            </a:r>
          </a:p>
          <a:p xmlns:a="http://schemas.openxmlformats.org/drawingml/2006/main">
            <a:r>
              <a:t>generator_verification: /Users/alanye/.codex/worktrees/2da4/duquantum-pasqal/audit/track_a_methods/build/verification.json</a:t>
            </a:r>
          </a:p>
          <a:p xmlns:a="http://schemas.openxmlformats.org/drawingml/2006/main">
            <a:r>
              <a:t>Snapshot: /Users/alanye/.codex/worktrees/2da4/duquantum-pasqal/audit/track_a_methods/build/verification.json</a:t>
            </a:r>
          </a:p>
          <a:p xmlns:a="http://schemas.openxmlformats.org/drawingml/2006/main">
            <a:r>
              <a:t>SHA-256: d93307e59278142f023652ebc5f666bf9041973ff6624f421ff5ffac26862496</a:t>
            </a:r>
          </a:p>
          <a:p xmlns:a="http://schemas.openxmlformats.org/drawingml/2006/main">
            <a:r>
              <a:t/>
            </a:r>
          </a:p>
          <a:p xmlns:a="http://schemas.openxmlformats.org/drawingml/2006/main">
            <a:r>
              <a:t>Evidence follows the four-page Track A report. Main snapshot: October 25, 2026, 9:01 am ET. Historical sources refreshed at 9:54–9:56 am ET, including completed helper expansion and placement audit. Repeated layouts and overlapping studies are not independent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3:00–3:40  (40 seconds)</a:t>
            </a:r>
          </a:p>
          <a:p xmlns:a="http://schemas.openxmlformats.org/drawingml/2006/main">
            <a:r>
              <a:t/>
            </a:r>
          </a:p>
          <a:p xmlns:a="http://schemas.openxmlformats.org/drawingml/2006/main">
            <a:r>
              <a:t>Each bit becomes an atom. Positive interactions decrease with the sixth power of distance, and all pair distances must fit one legal planar layout. A shared laser also cannot reproduce unequal individual fields. BLaDE is our baseline. This chart measures relative pair-coefficient error after scaling, not quantum-state fidelity. Lower average error need not preserve the interactions that distinguish good assignments.</a:t>
            </a:r>
          </a:p>
          <a:p xmlns:a="http://schemas.openxmlformats.org/drawingml/2006/main">
            <a:r>
              <a:t/>
            </a:r>
          </a:p>
          <a:p xmlns:a="http://schemas.openxmlformats.org/drawingml/2006/main">
            <a:r>
              <a:t>Sources</a:t>
            </a:r>
          </a:p>
          <a:p xmlns:a="http://schemas.openxmlformats.org/drawingml/2006/main">
            <a:r>
              <a:t>scaling: /Users/alanye/duquantum-pasqal/audit/scaling/REPORT.md</a:t>
            </a:r>
          </a:p>
          <a:p xmlns:a="http://schemas.openxmlformats.org/drawingml/2006/main">
            <a:r>
              <a:t>Snapshot: /Users/alanye/.codex/worktrees/2da4/duquantum-pasqal/audit/challenge_wrapup/sources/scaling.md</a:t>
            </a:r>
          </a:p>
          <a:p xmlns:a="http://schemas.openxmlformats.org/drawingml/2006/main">
            <a:r>
              <a:t>SHA-256: e7b4faa807984c12cca9e13d7581aeda86aee0fc63934a06c13b357a34b04b71</a:t>
            </a:r>
          </a:p>
          <a:p xmlns:a="http://schemas.openxmlformats.org/drawingml/2006/main">
            <a:r>
              <a:t/>
            </a:r>
          </a:p>
          <a:p xmlns:a="http://schemas.openxmlformats.org/drawingml/2006/main">
            <a:r>
              <a:t>fidelity: /Users/alanye/.codex/worktrees/75c0/duquantum-pasqal/audit/fidelity/REPORT.md</a:t>
            </a:r>
          </a:p>
          <a:p xmlns:a="http://schemas.openxmlformats.org/drawingml/2006/main">
            <a:r>
              <a:t>Snapshot: /Users/alanye/.codex/worktrees/2da4/duquantum-pasqal/audit/challenge_wrapup/sources/fidelity.md</a:t>
            </a:r>
          </a:p>
          <a:p xmlns:a="http://schemas.openxmlformats.org/drawingml/2006/main">
            <a:r>
              <a:t>SHA-256: b55af3366757ba7243be3e87c12f573bf9a064673b49b611e0e203ea0c03fb5d</a:t>
            </a:r>
          </a:p>
          <a:p xmlns:a="http://schemas.openxmlformats.org/drawingml/2006/main">
            <a:r>
              <a:t/>
            </a:r>
          </a:p>
          <a:p xmlns:a="http://schemas.openxmlformats.org/drawingml/2006/main">
            <a:r>
              <a:t>historical_tuning: /Users/alanye/.codex/worktrees/2da4/duquantum-pasqal/audit/track_a_talk/review/historical_tuning.md</a:t>
            </a:r>
          </a:p>
          <a:p xmlns:a="http://schemas.openxmlformats.org/drawingml/2006/main">
            <a:r>
              <a:t>Snapshot: /Users/alanye/.codex/worktrees/2da4/duquantum-pasqal/audit/track_a_talk/review/historical_tuning.md</a:t>
            </a:r>
          </a:p>
          <a:p xmlns:a="http://schemas.openxmlformats.org/drawingml/2006/main">
            <a:r>
              <a:t>SHA-256: 10204e22c5c9f7048d28fb52367740dbfb1b2b25630a87cec9d35821d53f7866</a:t>
            </a:r>
          </a:p>
          <a:p xmlns:a="http://schemas.openxmlformats.org/drawingml/2006/main">
            <a:r>
              <a:t/>
            </a:r>
          </a:p>
          <a:p xmlns:a="http://schemas.openxmlformats.org/drawingml/2006/main">
            <a:r>
              <a:t>Evidence follows the four-page Track A report. Main snapshot: October 25, 2026, 9:01 am ET. Historical sources refreshed at 9:54–9:56 am ET, including completed helper expansion and placement audit. Repeated layouts and overlapping studies are not independent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3:40–4:20  (40 seconds)</a:t>
            </a:r>
          </a:p>
          <a:p xmlns:a="http://schemas.openxmlformats.org/drawingml/2006/main">
            <a:r>
              <a:t/>
            </a:r>
          </a:p>
          <a:p xmlns:a="http://schemas.openxmlformats.org/drawingml/2006/main">
            <a:r>
              <a:t>We solve three energies classically on each saved layout: the intended QUBO, then geometric pairs with correct individual fields, then the actual endpoint fields as well. All sixty small textbook layouts have feasible intended minima, but none retains one after pair distortion alone. Both medium encodings show ten of ten becoming zero of ten. These are layout counts across ten or five problems, not shot probabilities. Small and twenty-bit checks enumerate ties; forty-five-bit checks use feasible-set bounds. A completed BLaDE-only study extends this result: none of eighty pair-only energies or seventy-two available endpoints retains a feasible minimum, across five underlying medium problems. This establishes a static failure in these layouts. Quantum dynamics can still sample feasible excited states.</a:t>
            </a:r>
          </a:p>
          <a:p xmlns:a="http://schemas.openxmlformats.org/drawingml/2006/main">
            <a:r>
              <a:t/>
            </a:r>
          </a:p>
          <a:p xmlns:a="http://schemas.openxmlformats.org/drawingml/2006/main">
            <a:r>
              <a:t>Sources</a:t>
            </a:r>
          </a:p>
          <a:p xmlns:a="http://schemas.openxmlformats.org/drawingml/2006/main">
            <a:r>
              <a:t>classical: /Users/alanye/.codex/worktrees/75c0/duquantum-pasqal/audit/fidelity/classical_compare/REPORT.md</a:t>
            </a:r>
          </a:p>
          <a:p xmlns:a="http://schemas.openxmlformats.org/drawingml/2006/main">
            <a:r>
              <a:t>Snapshot: /Users/alanye/.codex/worktrees/2da4/duquantum-pasqal/audit/challenge_wrapup/sources/classical.md</a:t>
            </a:r>
          </a:p>
          <a:p xmlns:a="http://schemas.openxmlformats.org/drawingml/2006/main">
            <a:r>
              <a:t>SHA-256: a3606c8719a3ce7aff3f87fc9a20b1953239935f2c38414cd606ecfcea93533e</a:t>
            </a:r>
          </a:p>
          <a:p xmlns:a="http://schemas.openxmlformats.org/drawingml/2006/main">
            <a:r>
              <a:t/>
            </a:r>
          </a:p>
          <a:p xmlns:a="http://schemas.openxmlformats.org/drawingml/2006/main">
            <a:r>
              <a:t>historical_tuning: /Users/alanye/.codex/worktrees/2da4/duquantum-pasqal/audit/track_a_talk/review/historical_tuning.md</a:t>
            </a:r>
          </a:p>
          <a:p xmlns:a="http://schemas.openxmlformats.org/drawingml/2006/main">
            <a:r>
              <a:t>Snapshot: /Users/alanye/.codex/worktrees/2da4/duquantum-pasqal/audit/track_a_talk/review/historical_tuning.md</a:t>
            </a:r>
          </a:p>
          <a:p xmlns:a="http://schemas.openxmlformats.org/drawingml/2006/main">
            <a:r>
              <a:t>SHA-256: 10204e22c5c9f7048d28fb52367740dbfb1b2b25630a87cec9d35821d53f7866</a:t>
            </a:r>
          </a:p>
          <a:p xmlns:a="http://schemas.openxmlformats.org/drawingml/2006/main">
            <a:r>
              <a:t/>
            </a:r>
          </a:p>
          <a:p xmlns:a="http://schemas.openxmlformats.org/drawingml/2006/main">
            <a:r>
              <a:t>Evidence follows the four-page Track A report. Main snapshot: October 25, 2026, 9:01 am ET. Historical sources refreshed at 9:54–9:56 am ET, including completed helper expansion and placement audit. Repeated layouts and overlapping studies are not independent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4:20–5:10  (50 seconds)</a:t>
            </a:r>
          </a:p>
          <a:p xmlns:a="http://schemas.openxmlformats.org/drawingml/2006/main">
            <a:r>
              <a:t/>
            </a:r>
          </a:p>
          <a:p xmlns:a="http://schemas.openxmlformats.org/drawingml/2006/main">
            <a:r>
              <a:t>We now compare the three encoding methods on the same three small problems. Penalties use no known optimal answers. Each encoding has one BLaDE layout per problem. Within every pair, the four-microsecond pulse, individual fields and scale are fixed; only pair interactions change. Mean feasibility falls from seven point eight to one point one percent for capacity slack, twenty-one point six to ten point six for full one-hot balance, and thirty-six to twenty-four for reduced balance. Original-optimum probability also falls in every individual case. This identifies a pair-distortion penalty in these tests. Balance still has a separate modeling problem: both balance encodings have an infeasible intended minimum on one of the three cases. The earlier medium comparison supports the same geometry diagnosis, but full one-hot medium emulation remains untested.</a:t>
            </a:r>
          </a:p>
          <a:p xmlns:a="http://schemas.openxmlformats.org/drawingml/2006/main">
            <a:r>
              <a:t/>
            </a:r>
          </a:p>
          <a:p xmlns:a="http://schemas.openxmlformats.org/drawingml/2006/main">
            <a:r>
              <a:t>Sources</a:t>
            </a:r>
          </a:p>
          <a:p xmlns:a="http://schemas.openxmlformats.org/drawingml/2006/main">
            <a:r>
              <a:t>encoding_controls: /Users/alanye/.codex/worktrees/2da4/duquantum-pasqal/audit/encoding_matched_controls/REPORT.md</a:t>
            </a:r>
          </a:p>
          <a:p xmlns:a="http://schemas.openxmlformats.org/drawingml/2006/main">
            <a:r>
              <a:t>Snapshot: /Users/alanye/.codex/worktrees/2da4/duquantum-pasqal/audit/encoding_matched_controls/REPORT.md</a:t>
            </a:r>
          </a:p>
          <a:p xmlns:a="http://schemas.openxmlformats.org/drawingml/2006/main">
            <a:r>
              <a:t>SHA-256: 2aac14c08f62ff2d9650228662ee81cb761c40ef2ecb84ef59889eba1c7fe6f5</a:t>
            </a:r>
          </a:p>
          <a:p xmlns:a="http://schemas.openxmlformats.org/drawingml/2006/main">
            <a:r>
              <a:t/>
            </a:r>
          </a:p>
          <a:p xmlns:a="http://schemas.openxmlformats.org/drawingml/2006/main">
            <a:r>
              <a:t>encoding_controls_raw: /Users/alanye/.codex/worktrees/2da4/duquantum-pasqal/audit/encoding_matched_controls/results.json</a:t>
            </a:r>
          </a:p>
          <a:p xmlns:a="http://schemas.openxmlformats.org/drawingml/2006/main">
            <a:r>
              <a:t>Snapshot: /Users/alanye/.codex/worktrees/2da4/duquantum-pasqal/audit/encoding_matched_controls/results.json</a:t>
            </a:r>
          </a:p>
          <a:p xmlns:a="http://schemas.openxmlformats.org/drawingml/2006/main">
            <a:r>
              <a:t>SHA-256: faddcf062ed69b2b53064586917fa8d908dbc04fb8e9133dafe24ecae7ad2a35</a:t>
            </a:r>
          </a:p>
          <a:p xmlns:a="http://schemas.openxmlformats.org/drawingml/2006/main">
            <a:r>
              <a:t/>
            </a:r>
          </a:p>
          <a:p xmlns:a="http://schemas.openxmlformats.org/drawingml/2006/main">
            <a:r>
              <a:t>matched_current: /Users/alanye/.codex/worktrees/667b/duquantum-pasqal/audit/quantum_compare/REPORT.md</a:t>
            </a:r>
          </a:p>
          <a:p xmlns:a="http://schemas.openxmlformats.org/drawingml/2006/main">
            <a:r>
              <a:t>Snapshot: /Users/alanye/.codex/worktrees/2da4/duquantum-pasqal/audit/track_a_talk/build/matched_REPORT.md</a:t>
            </a:r>
          </a:p>
          <a:p xmlns:a="http://schemas.openxmlformats.org/drawingml/2006/main">
            <a:r>
              <a:t>SHA-256: 7e29f4f516479116c6ff57a549731dee2f2cfaf92d68021d893d16f9deca82ad</a:t>
            </a:r>
          </a:p>
          <a:p xmlns:a="http://schemas.openxmlformats.org/drawingml/2006/main">
            <a:r>
              <a:t/>
            </a:r>
          </a:p>
          <a:p xmlns:a="http://schemas.openxmlformats.org/drawingml/2006/main">
            <a:r>
              <a:t>Evidence follows the four-page Track A report. Main snapshot: October 25, 2026, 9:01 am ET. Historical sources refreshed at 9:54–9:56 am ET, including completed helper expansion and placement audit. Repeated layouts and overlapping studies are not independent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5:10–5:45  (35 seconds)</a:t>
            </a:r>
          </a:p>
          <a:p xmlns:a="http://schemas.openxmlformats.org/drawingml/2006/main">
            <a:r>
              <a:t/>
            </a:r>
          </a:p>
          <a:p xmlns:a="http://schemas.openxmlformats.org/drawingml/2006/main">
            <a:r>
              <a:t>This comparison uses the same ten small, five medium and five large capacity-active problems, with six thousand samples per problem for each method. BLaDE uses the reduced encoding and a fixed four-microsecond global pulse. Balanced random assignment gives almost equal customer counts to vehicles, but does not guarantee capacity. It has higher feasibility at every size. On medium problems, BLaDE produces three point six eight percent feasible samples, compared with forty-eight point four eight percent balanced. Neither medium nor large BLaDE runs finds an original clustering optimum. Equal sample counts do not mean equal computation time.</a:t>
            </a:r>
          </a:p>
          <a:p xmlns:a="http://schemas.openxmlformats.org/drawingml/2006/main">
            <a:r>
              <a:t/>
            </a:r>
          </a:p>
          <a:p xmlns:a="http://schemas.openxmlformats.org/drawingml/2006/main">
            <a:r>
              <a:t>Sources</a:t>
            </a:r>
          </a:p>
          <a:p xmlns:a="http://schemas.openxmlformats.org/drawingml/2006/main">
            <a:r>
              <a:t>quantum_compare: /Users/alanye/.codex/worktrees/667b/duquantum-pasqal/audit/quantum_compare/REPORT.md</a:t>
            </a:r>
          </a:p>
          <a:p xmlns:a="http://schemas.openxmlformats.org/drawingml/2006/main">
            <a:r>
              <a:t>Snapshot: /Users/alanye/.codex/worktrees/2da4/duquantum-pasqal/audit/challenge_wrapup/sources/quantum_compare.md</a:t>
            </a:r>
          </a:p>
          <a:p xmlns:a="http://schemas.openxmlformats.org/drawingml/2006/main">
            <a:r>
              <a:t>SHA-256: 7e29f4f516479116c6ff57a549731dee2f2cfaf92d68021d893d16f9deca82ad</a:t>
            </a:r>
          </a:p>
          <a:p xmlns:a="http://schemas.openxmlformats.org/drawingml/2006/main">
            <a:r>
              <a:t/>
            </a:r>
          </a:p>
          <a:p xmlns:a="http://schemas.openxmlformats.org/drawingml/2006/main">
            <a:r>
              <a:t>scaling: /Users/alanye/duquantum-pasqal/audit/scaling/REPORT.md</a:t>
            </a:r>
          </a:p>
          <a:p xmlns:a="http://schemas.openxmlformats.org/drawingml/2006/main">
            <a:r>
              <a:t>Snapshot: /Users/alanye/.codex/worktrees/2da4/duquantum-pasqal/audit/challenge_wrapup/sources/scaling.md</a:t>
            </a:r>
          </a:p>
          <a:p xmlns:a="http://schemas.openxmlformats.org/drawingml/2006/main">
            <a:r>
              <a:t>SHA-256: e7b4faa807984c12cca9e13d7581aeda86aee0fc63934a06c13b357a34b04b71</a:t>
            </a:r>
          </a:p>
          <a:p xmlns:a="http://schemas.openxmlformats.org/drawingml/2006/main">
            <a:r>
              <a:t/>
            </a:r>
          </a:p>
          <a:p xmlns:a="http://schemas.openxmlformats.org/drawingml/2006/main">
            <a:r>
              <a:t>historical_baselines: /Users/alanye/.codex/worktrees/2da4/duquantum-pasqal/audit/track_a_talk/review/historical_baselines.md</a:t>
            </a:r>
          </a:p>
          <a:p xmlns:a="http://schemas.openxmlformats.org/drawingml/2006/main">
            <a:r>
              <a:t>Snapshot: /Users/alanye/.codex/worktrees/2da4/duquantum-pasqal/audit/track_a_talk/review/historical_baselines.md</a:t>
            </a:r>
          </a:p>
          <a:p xmlns:a="http://schemas.openxmlformats.org/drawingml/2006/main">
            <a:r>
              <a:t>SHA-256: 0f2a60fea905949c891ab6c2ccfc5898db92c1c26fe7c2524f6c218cb3ee7c7e</a:t>
            </a:r>
          </a:p>
          <a:p xmlns:a="http://schemas.openxmlformats.org/drawingml/2006/main">
            <a:r>
              <a:t/>
            </a:r>
          </a:p>
          <a:p xmlns:a="http://schemas.openxmlformats.org/drawingml/2006/main">
            <a:r>
              <a:t>Evidence follows the four-page Track A report. Main snapshot: October 25, 2026, 9:01 am ET. Historical sources refreshed at 9:54–9:56 am ET, including completed helper expansion and placement audit. Repeated layouts and overlapping studies are not independent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5:45–6:20  (35 seconds)</a:t>
            </a:r>
          </a:p>
          <a:p xmlns:a="http://schemas.openxmlformats.org/drawingml/2006/main">
            <a:r>
              <a:t/>
            </a:r>
          </a:p>
          <a:p xmlns:a="http://schemas.openxmlformats.org/drawingml/2006/main">
            <a:r>
              <a:t>We tuned pulse duration, drive strength and shape, and the detuning sweep. Across two searches we ran 944 trials, training on three small problems, validating on two and evaluating on five. Assignment-only tuning could find the right customer groups while leaving slack bits wrong. We therefore also optimized complete answers. With targets with penalties tuned using known answers, intended-interaction success reached twelve to twenty-four percent. The same pulses fell below our reporting floor with geometric interactions. Training directly on geometry reached only zero point one seven percent at best. This is a diagnostic with ideal individual fields and some overlong pulses, not a hardware-ready policy.</a:t>
            </a:r>
          </a:p>
          <a:p xmlns:a="http://schemas.openxmlformats.org/drawingml/2006/main">
            <a:r>
              <a:t/>
            </a:r>
          </a:p>
          <a:p xmlns:a="http://schemas.openxmlformats.org/drawingml/2006/main">
            <a:r>
              <a:t>Sources</a:t>
            </a:r>
          </a:p>
          <a:p xmlns:a="http://schemas.openxmlformats.org/drawingml/2006/main">
            <a:r>
              <a:t>broader: /Users/alanye/.codex/worktrees/track-a-research/duquantum-pasqal/research/track_a/REPORT.md</a:t>
            </a:r>
          </a:p>
          <a:p xmlns:a="http://schemas.openxmlformats.org/drawingml/2006/main">
            <a:r>
              <a:t>Snapshot: /Users/alanye/.codex/worktrees/2da4/duquantum-pasqal/audit/challenge_wrapup/sources/broader.md</a:t>
            </a:r>
          </a:p>
          <a:p xmlns:a="http://schemas.openxmlformats.org/drawingml/2006/main">
            <a:r>
              <a:t>SHA-256: de59bd028d125504ea95f2814d036920323d3bc7fc0db24063ea368ad0943778</a:t>
            </a:r>
          </a:p>
          <a:p xmlns:a="http://schemas.openxmlformats.org/drawingml/2006/main">
            <a:r>
              <a:t/>
            </a:r>
          </a:p>
          <a:p xmlns:a="http://schemas.openxmlformats.org/drawingml/2006/main">
            <a:r>
              <a:t>historical_tuning: /Users/alanye/.codex/worktrees/2da4/duquantum-pasqal/audit/track_a_talk/review/historical_tuning.md</a:t>
            </a:r>
          </a:p>
          <a:p xmlns:a="http://schemas.openxmlformats.org/drawingml/2006/main">
            <a:r>
              <a:t>Snapshot: /Users/alanye/.codex/worktrees/2da4/duquantum-pasqal/audit/track_a_talk/review/historical_tuning.md</a:t>
            </a:r>
          </a:p>
          <a:p xmlns:a="http://schemas.openxmlformats.org/drawingml/2006/main">
            <a:r>
              <a:t>SHA-256: 10204e22c5c9f7048d28fb52367740dbfb1b2b25630a87cec9d35821d53f7866</a:t>
            </a:r>
          </a:p>
          <a:p xmlns:a="http://schemas.openxmlformats.org/drawingml/2006/main">
            <a:r>
              <a:t/>
            </a:r>
          </a:p>
          <a:p xmlns:a="http://schemas.openxmlformats.org/drawingml/2006/main">
            <a:r>
              <a:t>small_pulse: /Users/alanye/.codex/worktrees/667b/duquantum-pasqal/audit/quantum_compare/small_results/REPORT.md</a:t>
            </a:r>
          </a:p>
          <a:p xmlns:a="http://schemas.openxmlformats.org/drawingml/2006/main">
            <a:r>
              <a:t>Snapshot: /Users/alanye/.codex/worktrees/2da4/duquantum-pasqal/audit/challenge_wrapup/sources/small_pulse.md</a:t>
            </a:r>
          </a:p>
          <a:p xmlns:a="http://schemas.openxmlformats.org/drawingml/2006/main">
            <a:r>
              <a:t>SHA-256: f756be8745844d89da5b65f702be97ab515cb5e04ee72bcce0c8dd15ccd82a2d</a:t>
            </a:r>
          </a:p>
          <a:p xmlns:a="http://schemas.openxmlformats.org/drawingml/2006/main">
            <a:r>
              <a:t/>
            </a:r>
          </a:p>
          <a:p xmlns:a="http://schemas.openxmlformats.org/drawingml/2006/main">
            <a:r>
              <a:t>Evidence follows the four-page Track A report. Main snapshot: October 25, 2026, 9:01 am ET. Historical sources refreshed at 9:54–9:56 am ET, including completed helper expansion and placement audit. Repeated layouts and overlapping studies are not independent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6:20–6:40  (20 seconds)</a:t>
            </a:r>
          </a:p>
          <a:p xmlns:a="http://schemas.openxmlformats.org/drawingml/2006/main">
            <a:r>
              <a:t/>
            </a:r>
          </a:p>
          <a:p xmlns:a="http://schemas.openxmlformats.org/drawingml/2006/main">
            <a:r>
              <a:t>These controlled tests establish an embedding bottleneck for the tested layouts. Lower average coefficient error does not reliably preserve useful solutions. A proposed next step is training on difficult invalid candidates without known answers, while keeping classical controls. We make no quantum-advantage claim.</a:t>
            </a:r>
          </a:p>
          <a:p xmlns:a="http://schemas.openxmlformats.org/drawingml/2006/main">
            <a:r>
              <a:t/>
            </a:r>
          </a:p>
          <a:p xmlns:a="http://schemas.openxmlformats.org/drawingml/2006/main">
            <a:r>
              <a:t>Sources</a:t>
            </a:r>
          </a:p>
          <a:p xmlns:a="http://schemas.openxmlformats.org/drawingml/2006/main">
            <a:r>
              <a:t>classical: /Users/alanye/.codex/worktrees/75c0/duquantum-pasqal/audit/fidelity/classical_compare/REPORT.md</a:t>
            </a:r>
          </a:p>
          <a:p xmlns:a="http://schemas.openxmlformats.org/drawingml/2006/main">
            <a:r>
              <a:t>Snapshot: /Users/alanye/.codex/worktrees/2da4/duquantum-pasqal/audit/challenge_wrapup/sources/classical.md</a:t>
            </a:r>
          </a:p>
          <a:p xmlns:a="http://schemas.openxmlformats.org/drawingml/2006/main">
            <a:r>
              <a:t>SHA-256: a3606c8719a3ce7aff3f87fc9a20b1953239935f2c38414cd606ecfcea93533e</a:t>
            </a:r>
          </a:p>
          <a:p xmlns:a="http://schemas.openxmlformats.org/drawingml/2006/main">
            <a:r>
              <a:t/>
            </a:r>
          </a:p>
          <a:p xmlns:a="http://schemas.openxmlformats.org/drawingml/2006/main">
            <a:r>
              <a:t>candidate_final.md: /Users/alanye/.codex/worktrees/2da4/duquantum-pasqal/audit/track_a_report/build/candidate_final.md</a:t>
            </a:r>
          </a:p>
          <a:p xmlns:a="http://schemas.openxmlformats.org/drawingml/2006/main">
            <a:r>
              <a:t>Snapshot: /Users/alanye/.codex/worktrees/2da4/duquantum-pasqal/audit/track_a_report/build/candidate_final.md</a:t>
            </a:r>
          </a:p>
          <a:p xmlns:a="http://schemas.openxmlformats.org/drawingml/2006/main">
            <a:r>
              <a:t>SHA-256: 3c78a8827d833aab33f23719f1999cf06413ccc76dcd3d52233d64fddec77ceb</a:t>
            </a:r>
          </a:p>
          <a:p xmlns:a="http://schemas.openxmlformats.org/drawingml/2006/main">
            <a:r>
              <a:t/>
            </a:r>
          </a:p>
          <a:p xmlns:a="http://schemas.openxmlformats.org/drawingml/2006/main">
            <a:r>
              <a:t>broader: /Users/alanye/.codex/worktrees/track-a-research/duquantum-pasqal/research/track_a/REPORT.md</a:t>
            </a:r>
          </a:p>
          <a:p xmlns:a="http://schemas.openxmlformats.org/drawingml/2006/main">
            <a:r>
              <a:t>Snapshot: /Users/alanye/.codex/worktrees/2da4/duquantum-pasqal/audit/challenge_wrapup/sources/broader.md</a:t>
            </a:r>
          </a:p>
          <a:p xmlns:a="http://schemas.openxmlformats.org/drawingml/2006/main">
            <a:r>
              <a:t>SHA-256: de59bd028d125504ea95f2814d036920323d3bc7fc0db24063ea368ad0943778</a:t>
            </a:r>
          </a:p>
          <a:p xmlns:a="http://schemas.openxmlformats.org/drawingml/2006/main">
            <a:r>
              <a:t/>
            </a:r>
          </a:p>
          <a:p xmlns:a="http://schemas.openxmlformats.org/drawingml/2006/main">
            <a:r>
              <a:t>Evidence follows the four-page Track A report. Main snapshot: October 25, 2026, 9:01 am ET. Historical sources refreshed at 9:54–9:56 am ET, including completed helper expansion and placement audit. Repeated layouts and overlapping studies are not independent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9748a7fb2548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d79c24ac9f4a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cbdd0b1ca143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0c0a9efe824f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3d504ca948456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62d0c777534e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767BC3-2ABE-4DEC-BC32-3465B084FA1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97EACB3-2B96-4233-84F7-65E20C596DD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580934-745B-4ED1-8560-708AEC4AF11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FC1732-5B80-42DF-B031-DEF2305895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9E30B6D-BC33-494A-8B05-D168BBE52C0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F949EB-8A6D-49E4-BAA3-3B3541EA6C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E54B26-CDB4-487E-BB5B-BA4F635087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CD3BBB-432F-486B-8D68-1AA4B8566F2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54ED10-6D19-4DB3-80A8-2207C8F7DC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B32042-DBC5-44C1-86D4-AF617AC2A8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8db5430e794e5d" /><Relationship Type="http://schemas.openxmlformats.org/officeDocument/2006/relationships/slideLayout" Target="/ppt/slideLayouts/slideLayout1.xml" Id="R78b7a449c89445ef" /><Relationship Type="http://schemas.openxmlformats.org/officeDocument/2006/relationships/slideLayout" Target="/ppt/slideLayouts/slideLayout2.xml" Id="R1320c00d767b4d31" /><Relationship Type="http://schemas.openxmlformats.org/officeDocument/2006/relationships/slideLayout" Target="/ppt/slideLayouts/slideLayout3.xml" Id="Rc0a1e687b25248f4" /><Relationship Type="http://schemas.openxmlformats.org/officeDocument/2006/relationships/slideLayout" Target="/ppt/slideLayouts/slideLayout4.xml" Id="Rf04a04db1e174f51" /><Relationship Type="http://schemas.openxmlformats.org/officeDocument/2006/relationships/slideLayout" Target="/ppt/slideLayouts/slideLayout5.xml" Id="Rcbff2ec22c2b4730" /><Relationship Type="http://schemas.openxmlformats.org/officeDocument/2006/relationships/slideLayout" Target="/ppt/slideLayouts/slideLayout6.xml" Id="Rc83a1058a33042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b7a449c89445ef"/>
    <p:sldLayoutId xmlns:r="http://schemas.openxmlformats.org/officeDocument/2006/relationships" id="2147483650" r:id="R1320c00d767b4d31"/>
    <p:sldLayoutId xmlns:r="http://schemas.openxmlformats.org/officeDocument/2006/relationships" id="2147483651" r:id="Rc0a1e687b25248f4"/>
    <p:sldLayoutId xmlns:r="http://schemas.openxmlformats.org/officeDocument/2006/relationships" id="2147483652" r:id="Rf04a04db1e174f51"/>
    <p:sldLayoutId xmlns:r="http://schemas.openxmlformats.org/officeDocument/2006/relationships" id="2147483653" r:id="Rcbff2ec22c2b4730"/>
    <p:sldLayoutId xmlns:r="http://schemas.openxmlformats.org/officeDocument/2006/relationships" id="2147483654" r:id="Rc83a1058a33042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986351585c498e" /><Relationship Type="http://schemas.openxmlformats.org/officeDocument/2006/relationships/notesSlide" Target="/ppt/notesSlides/notesSlide1.xml" Id="Rb8c044ccb68040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938e531bb343b4" /><Relationship Type="http://schemas.openxmlformats.org/officeDocument/2006/relationships/image" Target="/ppt/media/image.png" Id="Ra2d06f44af3e458e" /><Relationship Type="http://schemas.openxmlformats.org/officeDocument/2006/relationships/image" Target="/ppt/media/image2.png" Id="R68679914463847bc" /><Relationship Type="http://schemas.openxmlformats.org/officeDocument/2006/relationships/image" Target="/ppt/media/image3.png" Id="R5840a2a3b6cc4281" /><Relationship Type="http://schemas.openxmlformats.org/officeDocument/2006/relationships/notesSlide" Target="/ppt/notesSlides/notesSlide2.xml" Id="Refe88deac90543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0304c53686402b" /><Relationship Type="http://schemas.openxmlformats.org/officeDocument/2006/relationships/image" Target="/ppt/media/image4.png" Id="Rdd97af4a9b884b9f" /><Relationship Type="http://schemas.openxmlformats.org/officeDocument/2006/relationships/image" Target="/ppt/media/image5.png" Id="R5f337f5fe3704410" /><Relationship Type="http://schemas.openxmlformats.org/officeDocument/2006/relationships/notesSlide" Target="/ppt/notesSlides/notesSlide3.xml" Id="Rdbfbe3e19f364f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f95cd30db324801" /><Relationship Type="http://schemas.openxmlformats.org/officeDocument/2006/relationships/notesSlide" Target="/ppt/notesSlides/notesSlide4.xml" Id="R36214bed21a54f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b31d9c71ae48ca" /><Relationship Type="http://schemas.openxmlformats.org/officeDocument/2006/relationships/notesSlide" Target="/ppt/notesSlides/notesSlide5.xml" Id="Re032d01c41be44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6a79a9ce2d4bc4" /><Relationship Type="http://schemas.openxmlformats.org/officeDocument/2006/relationships/chart" Target="/ppt/slides/charts/chart1.xml" Id="R366b4d2a3f7f45cd" /><Relationship Type="http://schemas.openxmlformats.org/officeDocument/2006/relationships/notesSlide" Target="/ppt/notesSlides/notesSlide6.xml" Id="R036e7891130b4e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2f3c0ccdc0442cd" /><Relationship Type="http://schemas.openxmlformats.org/officeDocument/2006/relationships/notesSlide" Target="/ppt/notesSlides/notesSlide7.xml" Id="Rba553996921349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b28399e04eb4b78" /><Relationship Type="http://schemas.openxmlformats.org/officeDocument/2006/relationships/notesSlide" Target="/ppt/notesSlides/notesSlide8.xml" Id="R971462a1f1eb4a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12a309d2044835" /><Relationship Type="http://schemas.openxmlformats.org/officeDocument/2006/relationships/chart" Target="/ppt/slides/charts/chart2.xml" Id="Rf1767ce3f42446a8" /><Relationship Type="http://schemas.openxmlformats.org/officeDocument/2006/relationships/notesSlide" Target="/ppt/notesSlides/notesSlide9.xml" Id="R3038bf50fb3645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fb507df53f641dd" /><Relationship Type="http://schemas.openxmlformats.org/officeDocument/2006/relationships/notesSlide" Target="/ppt/notesSlides/notesSlide10.xml" Id="R8b9d1a7fc6b64c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96b0a6de84f4743" /><Relationship Type="http://schemas.openxmlformats.org/officeDocument/2006/relationships/notesSlide" Target="/ppt/notesSlides/notesSlide11.xml" Id="Rd9a2bcc5ee1f4a7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Reduced + balance</c:v>
          </c:tx>
          <c:spPr>
            <a:solidFill xmlns:a="http://schemas.openxmlformats.org/drawingml/2006/main">
              <a:srgbClr val="186A91"/>
            </a:solidFill>
          </c:spPr>
          <c:invertIfNegative val="0"/>
          <c:cat>
            <c:strRef>
              <c:f>'Chart Data'!$A$2:$A$4</c:f>
              <c:strCache>
                <c:ptCount val="3"/>
                <c:pt idx="0">
                  <c:v>Small</c:v>
                </c:pt>
                <c:pt idx="1">
                  <c:v>Medium</c:v>
                </c:pt>
                <c:pt idx="2">
                  <c:v>Large</c:v>
                </c:pt>
              </c:strCache>
            </c:strRef>
          </c:cat>
          <c:val>
            <c:numRef>
              <c:f>'Chart Data'!$B$2:$B$4</c:f>
              <c:numCache>
                <c:formatCode>0.000</c:formatCode>
                <c:ptCount val="3"/>
                <c:pt idx="0">
                  <c:v>0.203608188677</c:v>
                </c:pt>
                <c:pt idx="1">
                  <c:v>0.534131673309</c:v>
                </c:pt>
                <c:pt idx="2">
                  <c:v>0.369832305532</c:v>
                </c:pt>
              </c:numCache>
            </c:numRef>
          </c:val>
        </c:ser>
        <c:ser>
          <c:idx val="1"/>
          <c:order val="1"/>
          <c:tx>
            <c:v>Assignment + capacity slack</c:v>
          </c:tx>
          <c:spPr>
            <a:solidFill xmlns:a="http://schemas.openxmlformats.org/drawingml/2006/main">
              <a:srgbClr val="D27A38"/>
            </a:solidFill>
          </c:spPr>
          <c:invertIfNegative val="0"/>
          <c:cat>
            <c:strRef>
              <c:f>'Chart Data'!$C$2:$C$4</c:f>
              <c:strCache>
                <c:ptCount val="3"/>
                <c:pt idx="0">
                  <c:v>Small</c:v>
                </c:pt>
                <c:pt idx="1">
                  <c:v>Medium</c:v>
                </c:pt>
                <c:pt idx="2">
                  <c:v>Large</c:v>
                </c:pt>
              </c:strCache>
            </c:strRef>
          </c:cat>
          <c:val>
            <c:numRef>
              <c:f>'Chart Data'!$D$2:$D$4</c:f>
              <c:numCache>
                <c:formatCode>0.000</c:formatCode>
                <c:ptCount val="3"/>
                <c:pt idx="0">
                  <c:v>0.496852759626</c:v>
                </c:pt>
                <c:pt idx="1">
                  <c:v>0.993389979422</c:v>
                </c:pt>
                <c:pt idx="2">
                  <c:v>1.200768940223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b="1">
                  <a:solidFill>
                    <a:srgbClr val="142536"/>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BCBD6"/>
            </a:solidFill>
          </a:ln>
        </c:spPr>
        <c:txPr>
          <a:bodyPr xmlns:a="http://schemas.openxmlformats.org/drawingml/2006/main" anchorCtr="1"/>
          <a:lstStyle xmlns:a="http://schemas.openxmlformats.org/drawingml/2006/main"/>
          <a:p xmlns:a="http://schemas.openxmlformats.org/drawingml/2006/main">
            <a:pPr>
              <a:defRPr sz="1725">
                <a:solidFill>
                  <a:srgbClr val="142536"/>
                </a:solidFill>
                <a:latin typeface="Helvetica Neue"/>
                <a:ea typeface="Helvetica Neue"/>
                <a:cs typeface="Helvetica Neue"/>
              </a:defRPr>
            </a:pPr>
          </a:p>
        </c:txPr>
        <c:crossAx val="48672768"/>
      </c:catAx>
      <c:valAx>
        <c:axId val="48672768"/>
        <c:scaling>
          <c:orientation val="minMax"/>
          <c:max val="1.4"/>
          <c:min val="0"/>
        </c:scaling>
        <c:delete val="0"/>
        <c:axPos val="l"/>
        <c:majorGridlines>
          <c:spPr>
            <a:ln xmlns:a="http://schemas.openxmlformats.org/drawingml/2006/main" w="9525">
              <a:solidFill>
                <a:srgbClr val="E2E9EE"/>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16476"/>
                </a:solidFill>
                <a:latin typeface="Helvetica Neue"/>
                <a:ea typeface="Helvetica Neue"/>
                <a:cs typeface="Helvetica Neue"/>
              </a:defRPr>
            </a:pPr>
          </a:p>
        </c:txPr>
        <c:crossAx val="48650112"/>
        <c:crossBetween val="between"/>
      </c:valAx>
      <c:spPr>
        <a:solidFill xmlns:a="http://schemas.openxmlformats.org/drawingml/2006/main">
          <a:srgbClr val="FBFCFD"/>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42536"/>
              </a:solidFill>
              <a:latin typeface="Helvetica Neue"/>
              <a:ea typeface="Helvetica Neue"/>
              <a:cs typeface="Helvetica Neue"/>
            </a:defRPr>
          </a:pPr>
        </a:p>
      </c:txPr>
    </c:legend>
    <c:plotVisOnly val="1"/>
  </c:chart>
  <c:spPr>
    <a:solidFill xmlns:a="http://schemas.openxmlformats.org/drawingml/2006/main">
      <a:srgbClr val="FBFCFD"/>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BLaDE</c:v>
          </c:tx>
          <c:spPr>
            <a:solidFill xmlns:a="http://schemas.openxmlformats.org/drawingml/2006/main">
              <a:srgbClr val="186A91"/>
            </a:solidFill>
          </c:spPr>
          <c:invertIfNegative val="0"/>
          <c:cat>
            <c:strRef>
              <c:f>'Chart Data'!$A$2:$A$4</c:f>
              <c:strCache>
                <c:ptCount val="3"/>
                <c:pt idx="0">
                  <c:v>Small</c:v>
                </c:pt>
                <c:pt idx="1">
                  <c:v>Medium</c:v>
                </c:pt>
                <c:pt idx="2">
                  <c:v>Large</c:v>
                </c:pt>
              </c:strCache>
            </c:strRef>
          </c:cat>
          <c:val>
            <c:numRef>
              <c:f>'Chart Data'!$B$2:$B$4</c:f>
              <c:numCache>
                <c:formatCode>0.0%</c:formatCode>
                <c:ptCount val="3"/>
                <c:pt idx="0">
                  <c:v>0.3863</c:v>
                </c:pt>
                <c:pt idx="1">
                  <c:v>0.036833333</c:v>
                </c:pt>
                <c:pt idx="2">
                  <c:v>0.001633333</c:v>
                </c:pt>
              </c:numCache>
            </c:numRef>
          </c:val>
        </c:ser>
        <c:ser>
          <c:idx val="1"/>
          <c:order val="1"/>
          <c:tx>
            <c:v>Balanced random</c:v>
          </c:tx>
          <c:spPr>
            <a:solidFill xmlns:a="http://schemas.openxmlformats.org/drawingml/2006/main">
              <a:srgbClr val="D27A38"/>
            </a:solidFill>
          </c:spPr>
          <c:invertIfNegative val="0"/>
          <c:cat>
            <c:strRef>
              <c:f>'Chart Data'!$C$2:$C$4</c:f>
              <c:strCache>
                <c:ptCount val="3"/>
                <c:pt idx="0">
                  <c:v>Small</c:v>
                </c:pt>
                <c:pt idx="1">
                  <c:v>Medium</c:v>
                </c:pt>
                <c:pt idx="2">
                  <c:v>Large</c:v>
                </c:pt>
              </c:strCache>
            </c:strRef>
          </c:cat>
          <c:val>
            <c:numRef>
              <c:f>'Chart Data'!$D$2:$D$4</c:f>
              <c:numCache>
                <c:formatCode>0.0%</c:formatCode>
                <c:ptCount val="3"/>
                <c:pt idx="0">
                  <c:v>0.7011</c:v>
                </c:pt>
                <c:pt idx="1">
                  <c:v>0.484766667</c:v>
                </c:pt>
                <c:pt idx="2">
                  <c:v>0.553166667</c:v>
                </c:pt>
              </c:numCache>
            </c:numRef>
          </c:val>
        </c:ser>
        <c:ser>
          <c:idx val="2"/>
          <c:order val="2"/>
          <c:tx>
            <c:v>Uniform</c:v>
          </c:tx>
          <c:spPr>
            <a:solidFill xmlns:a="http://schemas.openxmlformats.org/drawingml/2006/main">
              <a:srgbClr val="208C80"/>
            </a:solidFill>
          </c:spPr>
          <c:invertIfNegative val="0"/>
          <c:cat>
            <c:strRef>
              <c:f>'Chart Data'!$E$2:$E$4</c:f>
              <c:strCache>
                <c:ptCount val="3"/>
                <c:pt idx="0">
                  <c:v>Small</c:v>
                </c:pt>
                <c:pt idx="1">
                  <c:v>Medium</c:v>
                </c:pt>
                <c:pt idx="2">
                  <c:v>Large</c:v>
                </c:pt>
              </c:strCache>
            </c:strRef>
          </c:cat>
          <c:val>
            <c:numRef>
              <c:f>'Chart Data'!$F$2:$F$4</c:f>
              <c:numCache>
                <c:formatCode>0.0%</c:formatCode>
                <c:ptCount val="3"/>
                <c:pt idx="0">
                  <c:v>0.3121</c:v>
                </c:pt>
                <c:pt idx="1">
                  <c:v>0.191333333</c:v>
                </c:pt>
                <c:pt idx="2">
                  <c:v>0.125566667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142536"/>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BCBD6"/>
            </a:solidFill>
          </a:ln>
        </c:spPr>
        <c:txPr>
          <a:bodyPr xmlns:a="http://schemas.openxmlformats.org/drawingml/2006/main" anchorCtr="1"/>
          <a:lstStyle xmlns:a="http://schemas.openxmlformats.org/drawingml/2006/main"/>
          <a:p xmlns:a="http://schemas.openxmlformats.org/drawingml/2006/main">
            <a:pPr>
              <a:defRPr sz="1725">
                <a:solidFill>
                  <a:srgbClr val="142536"/>
                </a:solidFill>
                <a:latin typeface="Helvetica Neue"/>
                <a:ea typeface="Helvetica Neue"/>
                <a:cs typeface="Helvetica Neue"/>
              </a:defRPr>
            </a:pPr>
          </a:p>
        </c:txPr>
        <c:crossAx val="48672768"/>
      </c:catAx>
      <c:valAx>
        <c:axId val="48672768"/>
        <c:scaling>
          <c:orientation val="minMax"/>
          <c:max val="0.85"/>
          <c:min val="0"/>
        </c:scaling>
        <c:delete val="0"/>
        <c:axPos val="l"/>
        <c:majorGridlines>
          <c:spPr>
            <a:ln xmlns:a="http://schemas.openxmlformats.org/drawingml/2006/main" w="9525">
              <a:solidFill>
                <a:srgbClr val="E2E9E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16476"/>
                </a:solidFill>
                <a:latin typeface="Helvetica Neue"/>
                <a:ea typeface="Helvetica Neue"/>
                <a:cs typeface="Helvetica Neue"/>
              </a:defRPr>
            </a:pPr>
          </a:p>
        </c:txPr>
        <c:crossAx val="48650112"/>
        <c:crossBetween val="between"/>
      </c:valAx>
      <c:spPr>
        <a:solidFill xmlns:a="http://schemas.openxmlformats.org/drawingml/2006/main">
          <a:srgbClr val="FBFCFD"/>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42536"/>
              </a:solidFill>
              <a:latin typeface="Helvetica Neue"/>
              <a:ea typeface="Helvetica Neue"/>
              <a:cs typeface="Helvetica Neue"/>
            </a:defRPr>
          </a:pPr>
        </a:p>
      </c:txPr>
    </c:legend>
    <c:plotVisOnly val="1"/>
  </c:chart>
  <c:spPr>
    <a:solidFill xmlns:a="http://schemas.openxmlformats.org/drawingml/2006/main">
      <a:srgbClr val="FBFCFD"/>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853586-D38B-403F-84A5-BC08487DB26B}"/>
              </a:ext>
            </a:extLst>
          </p:cNvPr>
          <p:cNvSpPr>
            <a:spLocks xmlns:a="http://schemas.openxmlformats.org/drawingml/2006/main" noGrp="1"/>
          </p:cNvSpPr>
          <p:nvPr/>
        </p:nvSpPr>
        <p:spPr>
          <a:xfrm xmlns:a="http://schemas.openxmlformats.org/drawingml/2006/main">
            <a:off x="571500" y="34290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750" b="1">
                <a:solidFill>
                  <a:srgbClr val="142536"/>
                </a:solidFill>
                <a:latin typeface="Helvetica Neue"/>
                <a:ea typeface="Helvetica Neue"/>
                <a:cs typeface="Helvetica Neue"/>
              </a:defRPr>
            </a:defPPr>
            <a:lvl1pPr>
              <a:defRPr sz="3750" b="1">
                <a:solidFill>
                  <a:srgbClr val="142536"/>
                </a:solidFill>
                <a:latin typeface="Helvetica Neue"/>
                <a:ea typeface="Helvetica Neue"/>
                <a:cs typeface="Helvetica Neue"/>
              </a:defRPr>
            </a:lvl1pPr>
            <a:lvl2pPr>
              <a:defRPr sz="3750" b="1">
                <a:solidFill>
                  <a:srgbClr val="142536"/>
                </a:solidFill>
                <a:latin typeface="Helvetica Neue"/>
                <a:ea typeface="Helvetica Neue"/>
                <a:cs typeface="Helvetica Neue"/>
              </a:defRPr>
            </a:lvl2pPr>
            <a:lvl3pPr>
              <a:defRPr sz="3750" b="1">
                <a:solidFill>
                  <a:srgbClr val="142536"/>
                </a:solidFill>
                <a:latin typeface="Helvetica Neue"/>
                <a:ea typeface="Helvetica Neue"/>
                <a:cs typeface="Helvetica Neue"/>
              </a:defRPr>
            </a:lvl3pPr>
            <a:lvl4pPr>
              <a:defRPr sz="3750" b="1">
                <a:solidFill>
                  <a:srgbClr val="142536"/>
                </a:solidFill>
                <a:latin typeface="Helvetica Neue"/>
                <a:ea typeface="Helvetica Neue"/>
                <a:cs typeface="Helvetica Neue"/>
              </a:defRPr>
            </a:lvl4pPr>
            <a:lvl5pPr>
              <a:defRPr sz="3750" b="1">
                <a:solidFill>
                  <a:srgbClr val="142536"/>
                </a:solidFill>
                <a:latin typeface="Helvetica Neue"/>
                <a:ea typeface="Helvetica Neue"/>
                <a:cs typeface="Helvetica Neue"/>
              </a:defRPr>
            </a:lvl5pPr>
            <a:lvl6pPr>
              <a:defRPr sz="3750" b="1">
                <a:solidFill>
                  <a:srgbClr val="142536"/>
                </a:solidFill>
                <a:latin typeface="Helvetica Neue"/>
                <a:ea typeface="Helvetica Neue"/>
                <a:cs typeface="Helvetica Neue"/>
              </a:defRPr>
            </a:lvl6pPr>
            <a:lvl7pPr>
              <a:defRPr sz="3750" b="1">
                <a:solidFill>
                  <a:srgbClr val="142536"/>
                </a:solidFill>
                <a:latin typeface="Helvetica Neue"/>
                <a:ea typeface="Helvetica Neue"/>
                <a:cs typeface="Helvetica Neue"/>
              </a:defRPr>
            </a:lvl7pPr>
            <a:lvl8pPr>
              <a:defRPr sz="3750" b="1">
                <a:solidFill>
                  <a:srgbClr val="142536"/>
                </a:solidFill>
                <a:latin typeface="Helvetica Neue"/>
                <a:ea typeface="Helvetica Neue"/>
                <a:cs typeface="Helvetica Neue"/>
              </a:defRPr>
            </a:lvl8pPr>
            <a:lvl9pPr>
              <a:defRPr sz="3750" b="1">
                <a:solidFill>
                  <a:srgbClr val="142536"/>
                </a:solidFill>
                <a:latin typeface="Helvetica Neue"/>
                <a:ea typeface="Helvetica Neue"/>
                <a:cs typeface="Helvetica Neue"/>
              </a:defRPr>
            </a:lvl9pPr>
          </a:lstStyle>
          <a:p xmlns:a="http://schemas.openxmlformats.org/drawingml/2006/main">
            <a:pPr>
              <a:defRPr sz="3750" b="1">
                <a:solidFill>
                  <a:srgbClr val="142536"/>
                </a:solidFill>
                <a:latin typeface="Helvetica Neue"/>
                <a:ea typeface="Helvetica Neue"/>
                <a:cs typeface="Helvetica Neue"/>
              </a:defRPr>
            </a:pPr>
            <a:r>
              <a:rPr sz="3750" b="1">
                <a:solidFill>
                  <a:srgbClr val="142536"/>
                </a:solidFill>
                <a:latin typeface="Helvetica Neue"/>
                <a:ea typeface="Helvetica Neue"/>
                <a:cs typeface="Helvetica Neue"/>
              </a:rPr>
              <a:t>Capacity-feasible clustering on neutral atoms</a:t>
            </a:r>
          </a:p>
        </p:txBody>
      </p:sp>
      <p:sp>
        <p:nvSpPr>
          <p:cNvPr id="2" name="">
            <a:extLst xmlns:a="http://schemas.openxmlformats.org/drawingml/2006/main">
              <a:ext uri="{FF2B5EF4-FFF2-40B4-BE49-F238E27FC236}">
                <a16:creationId xmlns:a16="http://schemas.microsoft.com/office/drawing/2014/main" id="{1D7F43D0-689D-4A03-8E02-AAC2B74D9D0C}"/>
              </a:ext>
            </a:extLst>
          </p:cNvPr>
          <p:cNvSpPr>
            <a:spLocks xmlns:a="http://schemas.openxmlformats.org/drawingml/2006/main" noGrp="1"/>
          </p:cNvSpPr>
          <p:nvPr/>
        </p:nvSpPr>
        <p:spPr>
          <a:xfrm xmlns:a="http://schemas.openxmlformats.org/drawingml/2006/main">
            <a:off x="11001375" y="63817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16476"/>
                </a:solidFill>
                <a:latin typeface="Helvetica Neue"/>
                <a:ea typeface="Helvetica Neue"/>
                <a:cs typeface="Helvetica Neue"/>
              </a:defRPr>
            </a:defPPr>
            <a:lvl1pPr>
              <a:defRPr sz="1350" b="0">
                <a:solidFill>
                  <a:srgbClr val="516476"/>
                </a:solidFill>
                <a:latin typeface="Helvetica Neue"/>
                <a:ea typeface="Helvetica Neue"/>
                <a:cs typeface="Helvetica Neue"/>
              </a:defRPr>
            </a:lvl1pPr>
            <a:lvl2pPr>
              <a:defRPr sz="1350" b="0">
                <a:solidFill>
                  <a:srgbClr val="516476"/>
                </a:solidFill>
                <a:latin typeface="Helvetica Neue"/>
                <a:ea typeface="Helvetica Neue"/>
                <a:cs typeface="Helvetica Neue"/>
              </a:defRPr>
            </a:lvl2pPr>
            <a:lvl3pPr>
              <a:defRPr sz="1350" b="0">
                <a:solidFill>
                  <a:srgbClr val="516476"/>
                </a:solidFill>
                <a:latin typeface="Helvetica Neue"/>
                <a:ea typeface="Helvetica Neue"/>
                <a:cs typeface="Helvetica Neue"/>
              </a:defRPr>
            </a:lvl3pPr>
            <a:lvl4pPr>
              <a:defRPr sz="1350" b="0">
                <a:solidFill>
                  <a:srgbClr val="516476"/>
                </a:solidFill>
                <a:latin typeface="Helvetica Neue"/>
                <a:ea typeface="Helvetica Neue"/>
                <a:cs typeface="Helvetica Neue"/>
              </a:defRPr>
            </a:lvl4pPr>
            <a:lvl5pPr>
              <a:defRPr sz="1350" b="0">
                <a:solidFill>
                  <a:srgbClr val="516476"/>
                </a:solidFill>
                <a:latin typeface="Helvetica Neue"/>
                <a:ea typeface="Helvetica Neue"/>
                <a:cs typeface="Helvetica Neue"/>
              </a:defRPr>
            </a:lvl5pPr>
            <a:lvl6pPr>
              <a:defRPr sz="1350" b="0">
                <a:solidFill>
                  <a:srgbClr val="516476"/>
                </a:solidFill>
                <a:latin typeface="Helvetica Neue"/>
                <a:ea typeface="Helvetica Neue"/>
                <a:cs typeface="Helvetica Neue"/>
              </a:defRPr>
            </a:lvl6pPr>
            <a:lvl7pPr>
              <a:defRPr sz="1350" b="0">
                <a:solidFill>
                  <a:srgbClr val="516476"/>
                </a:solidFill>
                <a:latin typeface="Helvetica Neue"/>
                <a:ea typeface="Helvetica Neue"/>
                <a:cs typeface="Helvetica Neue"/>
              </a:defRPr>
            </a:lvl7pPr>
            <a:lvl8pPr>
              <a:defRPr sz="1350" b="0">
                <a:solidFill>
                  <a:srgbClr val="516476"/>
                </a:solidFill>
                <a:latin typeface="Helvetica Neue"/>
                <a:ea typeface="Helvetica Neue"/>
                <a:cs typeface="Helvetica Neue"/>
              </a:defRPr>
            </a:lvl8pPr>
            <a:lvl9pPr>
              <a:defRPr sz="1350" b="0">
                <a:solidFill>
                  <a:srgbClr val="516476"/>
                </a:solidFill>
                <a:latin typeface="Helvetica Neue"/>
                <a:ea typeface="Helvetica Neue"/>
                <a:cs typeface="Helvetica Neue"/>
              </a:defRPr>
            </a:lvl9pPr>
          </a:lstStyle>
          <a:p xmlns:a="http://schemas.openxmlformats.org/drawingml/2006/main">
            <a:pPr>
              <a:defRPr sz="1350" b="0">
                <a:solidFill>
                  <a:srgbClr val="516476"/>
                </a:solidFill>
                <a:latin typeface="Helvetica Neue"/>
                <a:ea typeface="Helvetica Neue"/>
                <a:cs typeface="Helvetica Neue"/>
              </a:defRPr>
            </a:pPr>
            <a:r>
              <a:rPr sz="1350" b="0">
                <a:solidFill>
                  <a:srgbClr val="516476"/>
                </a:solidFill>
                <a:latin typeface="Helvetica Neue"/>
                <a:ea typeface="Helvetica Neue"/>
                <a:cs typeface="Helvetica Neue"/>
              </a:rPr>
              <a:t>1 / 11</a:t>
            </a:r>
          </a:p>
        </p:txBody>
      </p:sp>
      <p:sp>
        <p:nvSpPr>
          <p:cNvPr id="3" name="">
            <a:extLst xmlns:a="http://schemas.openxmlformats.org/drawingml/2006/main">
              <a:ext uri="{FF2B5EF4-FFF2-40B4-BE49-F238E27FC236}">
                <a16:creationId xmlns:a16="http://schemas.microsoft.com/office/drawing/2014/main" id="{E75A2A27-139C-4597-B996-8FC6A8AA11ED}"/>
              </a:ext>
            </a:extLst>
          </p:cNvPr>
          <p:cNvSpPr>
            <a:spLocks xmlns:a="http://schemas.openxmlformats.org/drawingml/2006/main" noGrp="1"/>
          </p:cNvSpPr>
          <p:nvPr/>
        </p:nvSpPr>
        <p:spPr>
          <a:xfrm xmlns:a="http://schemas.openxmlformats.org/drawingml/2006/main">
            <a:off x="571500" y="1552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186A91"/>
                </a:solidFill>
                <a:latin typeface="Helvetica Neue"/>
                <a:ea typeface="Helvetica Neue"/>
                <a:cs typeface="Helvetica Neue"/>
              </a:defRPr>
            </a:defPPr>
            <a:lvl1pPr>
              <a:defRPr sz="2025" b="1">
                <a:solidFill>
                  <a:srgbClr val="186A91"/>
                </a:solidFill>
                <a:latin typeface="Helvetica Neue"/>
                <a:ea typeface="Helvetica Neue"/>
                <a:cs typeface="Helvetica Neue"/>
              </a:defRPr>
            </a:lvl1pPr>
            <a:lvl2pPr>
              <a:defRPr sz="2025" b="1">
                <a:solidFill>
                  <a:srgbClr val="186A91"/>
                </a:solidFill>
                <a:latin typeface="Helvetica Neue"/>
                <a:ea typeface="Helvetica Neue"/>
                <a:cs typeface="Helvetica Neue"/>
              </a:defRPr>
            </a:lvl2pPr>
            <a:lvl3pPr>
              <a:defRPr sz="2025" b="1">
                <a:solidFill>
                  <a:srgbClr val="186A91"/>
                </a:solidFill>
                <a:latin typeface="Helvetica Neue"/>
                <a:ea typeface="Helvetica Neue"/>
                <a:cs typeface="Helvetica Neue"/>
              </a:defRPr>
            </a:lvl3pPr>
            <a:lvl4pPr>
              <a:defRPr sz="2025" b="1">
                <a:solidFill>
                  <a:srgbClr val="186A91"/>
                </a:solidFill>
                <a:latin typeface="Helvetica Neue"/>
                <a:ea typeface="Helvetica Neue"/>
                <a:cs typeface="Helvetica Neue"/>
              </a:defRPr>
            </a:lvl4pPr>
            <a:lvl5pPr>
              <a:defRPr sz="2025" b="1">
                <a:solidFill>
                  <a:srgbClr val="186A91"/>
                </a:solidFill>
                <a:latin typeface="Helvetica Neue"/>
                <a:ea typeface="Helvetica Neue"/>
                <a:cs typeface="Helvetica Neue"/>
              </a:defRPr>
            </a:lvl5pPr>
            <a:lvl6pPr>
              <a:defRPr sz="2025" b="1">
                <a:solidFill>
                  <a:srgbClr val="186A91"/>
                </a:solidFill>
                <a:latin typeface="Helvetica Neue"/>
                <a:ea typeface="Helvetica Neue"/>
                <a:cs typeface="Helvetica Neue"/>
              </a:defRPr>
            </a:lvl6pPr>
            <a:lvl7pPr>
              <a:defRPr sz="2025" b="1">
                <a:solidFill>
                  <a:srgbClr val="186A91"/>
                </a:solidFill>
                <a:latin typeface="Helvetica Neue"/>
                <a:ea typeface="Helvetica Neue"/>
                <a:cs typeface="Helvetica Neue"/>
              </a:defRPr>
            </a:lvl7pPr>
            <a:lvl8pPr>
              <a:defRPr sz="2025" b="1">
                <a:solidFill>
                  <a:srgbClr val="186A91"/>
                </a:solidFill>
                <a:latin typeface="Helvetica Neue"/>
                <a:ea typeface="Helvetica Neue"/>
                <a:cs typeface="Helvetica Neue"/>
              </a:defRPr>
            </a:lvl8pPr>
            <a:lvl9pPr>
              <a:defRPr sz="2025" b="1">
                <a:solidFill>
                  <a:srgbClr val="186A91"/>
                </a:solidFill>
                <a:latin typeface="Helvetica Neue"/>
                <a:ea typeface="Helvetica Neue"/>
                <a:cs typeface="Helvetica Neue"/>
              </a:defRPr>
            </a:lvl9pPr>
          </a:lstStyle>
          <a:p xmlns:a="http://schemas.openxmlformats.org/drawingml/2006/main">
            <a:pPr>
              <a:defRPr sz="2025" b="1">
                <a:solidFill>
                  <a:srgbClr val="186A91"/>
                </a:solidFill>
                <a:latin typeface="Helvetica Neue"/>
                <a:ea typeface="Helvetica Neue"/>
                <a:cs typeface="Helvetica Neue"/>
              </a:defRPr>
            </a:pPr>
            <a:r>
              <a:rPr sz="2025" b="1">
                <a:solidFill>
                  <a:srgbClr val="186A91"/>
                </a:solidFill>
                <a:latin typeface="Helvetica Neue"/>
                <a:ea typeface="Helvetica Neue"/>
                <a:cs typeface="Helvetica Neue"/>
              </a:rPr>
              <a:t>Pasqal Track A</a:t>
            </a:r>
          </a:p>
        </p:txBody>
      </p:sp>
      <p:sp>
        <p:nvSpPr>
          <p:cNvPr id="4" name="">
            <a:extLst xmlns:a="http://schemas.openxmlformats.org/drawingml/2006/main">
              <a:ext uri="{FF2B5EF4-FFF2-40B4-BE49-F238E27FC236}">
                <a16:creationId xmlns:a16="http://schemas.microsoft.com/office/drawing/2014/main" id="{05DE1C62-7B9B-49C3-8F9D-44E95F8F80FE}"/>
              </a:ext>
            </a:extLst>
          </p:cNvPr>
          <p:cNvSpPr>
            <a:spLocks xmlns:a="http://schemas.openxmlformats.org/drawingml/2006/main" noGrp="1"/>
          </p:cNvSpPr>
          <p:nvPr/>
        </p:nvSpPr>
        <p:spPr>
          <a:xfrm xmlns:a="http://schemas.openxmlformats.org/drawingml/2006/main">
            <a:off x="571500" y="2238375"/>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42536"/>
                </a:solidFill>
                <a:latin typeface="Helvetica Neue"/>
                <a:ea typeface="Helvetica Neue"/>
                <a:cs typeface="Helvetica Neue"/>
              </a:defRPr>
            </a:defPPr>
            <a:lvl1pPr>
              <a:defRPr sz="2550" b="0">
                <a:solidFill>
                  <a:srgbClr val="142536"/>
                </a:solidFill>
                <a:latin typeface="Helvetica Neue"/>
                <a:ea typeface="Helvetica Neue"/>
                <a:cs typeface="Helvetica Neue"/>
              </a:defRPr>
            </a:lvl1pPr>
            <a:lvl2pPr>
              <a:defRPr sz="2550" b="0">
                <a:solidFill>
                  <a:srgbClr val="142536"/>
                </a:solidFill>
                <a:latin typeface="Helvetica Neue"/>
                <a:ea typeface="Helvetica Neue"/>
                <a:cs typeface="Helvetica Neue"/>
              </a:defRPr>
            </a:lvl2pPr>
            <a:lvl3pPr>
              <a:defRPr sz="2550" b="0">
                <a:solidFill>
                  <a:srgbClr val="142536"/>
                </a:solidFill>
                <a:latin typeface="Helvetica Neue"/>
                <a:ea typeface="Helvetica Neue"/>
                <a:cs typeface="Helvetica Neue"/>
              </a:defRPr>
            </a:lvl3pPr>
            <a:lvl4pPr>
              <a:defRPr sz="2550" b="0">
                <a:solidFill>
                  <a:srgbClr val="142536"/>
                </a:solidFill>
                <a:latin typeface="Helvetica Neue"/>
                <a:ea typeface="Helvetica Neue"/>
                <a:cs typeface="Helvetica Neue"/>
              </a:defRPr>
            </a:lvl4pPr>
            <a:lvl5pPr>
              <a:defRPr sz="2550" b="0">
                <a:solidFill>
                  <a:srgbClr val="142536"/>
                </a:solidFill>
                <a:latin typeface="Helvetica Neue"/>
                <a:ea typeface="Helvetica Neue"/>
                <a:cs typeface="Helvetica Neue"/>
              </a:defRPr>
            </a:lvl5pPr>
            <a:lvl6pPr>
              <a:defRPr sz="2550" b="0">
                <a:solidFill>
                  <a:srgbClr val="142536"/>
                </a:solidFill>
                <a:latin typeface="Helvetica Neue"/>
                <a:ea typeface="Helvetica Neue"/>
                <a:cs typeface="Helvetica Neue"/>
              </a:defRPr>
            </a:lvl6pPr>
            <a:lvl7pPr>
              <a:defRPr sz="2550" b="0">
                <a:solidFill>
                  <a:srgbClr val="142536"/>
                </a:solidFill>
                <a:latin typeface="Helvetica Neue"/>
                <a:ea typeface="Helvetica Neue"/>
                <a:cs typeface="Helvetica Neue"/>
              </a:defRPr>
            </a:lvl7pPr>
            <a:lvl8pPr>
              <a:defRPr sz="2550" b="0">
                <a:solidFill>
                  <a:srgbClr val="142536"/>
                </a:solidFill>
                <a:latin typeface="Helvetica Neue"/>
                <a:ea typeface="Helvetica Neue"/>
                <a:cs typeface="Helvetica Neue"/>
              </a:defRPr>
            </a:lvl8pPr>
            <a:lvl9pPr>
              <a:defRPr sz="2550" b="0">
                <a:solidFill>
                  <a:srgbClr val="142536"/>
                </a:solidFill>
                <a:latin typeface="Helvetica Neue"/>
                <a:ea typeface="Helvetica Neue"/>
                <a:cs typeface="Helvetica Neue"/>
              </a:defRPr>
            </a:lvl9pPr>
          </a:lstStyle>
          <a:p xmlns:a="http://schemas.openxmlformats.org/drawingml/2006/main">
            <a:pPr>
              <a:defRPr sz="2550" b="0">
                <a:solidFill>
                  <a:srgbClr val="142536"/>
                </a:solidFill>
                <a:latin typeface="Helvetica Neue"/>
                <a:ea typeface="Helvetica Neue"/>
                <a:cs typeface="Helvetica Neue"/>
              </a:defRPr>
            </a:pPr>
            <a:r>
              <a:rPr sz="2550" b="0">
                <a:solidFill>
                  <a:srgbClr val="142536"/>
                </a:solidFill>
                <a:latin typeface="Helvetica Neue"/>
                <a:ea typeface="Helvetica Neue"/>
                <a:cs typeface="Helvetica Neue"/>
              </a:rPr>
              <a:t>Assign each customer once. Respect vehicle capacity.</a:t>
            </a:r>
          </a:p>
          <a:p xmlns:a="http://schemas.openxmlformats.org/drawingml/2006/main">
            <a:pPr>
              <a:defRPr sz="2550" b="0">
                <a:solidFill>
                  <a:srgbClr val="142536"/>
                </a:solidFill>
                <a:latin typeface="Helvetica Neue"/>
                <a:ea typeface="Helvetica Neue"/>
                <a:cs typeface="Helvetica Neue"/>
              </a:defRPr>
            </a:pPr>
            <a:r>
              <a:rPr sz="2550" b="0">
                <a:solidFill>
                  <a:srgbClr val="142536"/>
                </a:solidFill>
                <a:latin typeface="Helvetica Neue"/>
                <a:ea typeface="Helvetica Neue"/>
                <a:cs typeface="Helvetica Neue"/>
              </a:rPr>
              <a:t>Minimize pairwise distance within each group.</a:t>
            </a:r>
          </a:p>
        </p:txBody>
      </p:sp>
      <p:sp>
        <p:nvSpPr>
          <p:cNvPr id="5" name="">
            <a:extLst xmlns:a="http://schemas.openxmlformats.org/drawingml/2006/main">
              <a:ext uri="{FF2B5EF4-FFF2-40B4-BE49-F238E27FC236}">
                <a16:creationId xmlns:a16="http://schemas.microsoft.com/office/drawing/2014/main" id="{E069BB4A-EC95-475D-8420-B17AF94E9FD9}"/>
              </a:ext>
            </a:extLst>
          </p:cNvPr>
          <p:cNvSpPr>
            <a:spLocks xmlns:a="http://schemas.openxmlformats.org/drawingml/2006/main" noGrp="1"/>
          </p:cNvSpPr>
          <p:nvPr/>
        </p:nvSpPr>
        <p:spPr>
          <a:xfrm xmlns:a="http://schemas.openxmlformats.org/drawingml/2006/main">
            <a:off x="571500" y="37623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186A91"/>
                </a:solidFill>
                <a:latin typeface="Helvetica Neue"/>
                <a:ea typeface="Helvetica Neue"/>
                <a:cs typeface="Helvetica Neue"/>
              </a:defRPr>
            </a:defPPr>
            <a:lvl1pPr>
              <a:defRPr sz="1950" b="1">
                <a:solidFill>
                  <a:srgbClr val="186A91"/>
                </a:solidFill>
                <a:latin typeface="Helvetica Neue"/>
                <a:ea typeface="Helvetica Neue"/>
                <a:cs typeface="Helvetica Neue"/>
              </a:defRPr>
            </a:lvl1pPr>
            <a:lvl2pPr>
              <a:defRPr sz="1950" b="1">
                <a:solidFill>
                  <a:srgbClr val="186A91"/>
                </a:solidFill>
                <a:latin typeface="Helvetica Neue"/>
                <a:ea typeface="Helvetica Neue"/>
                <a:cs typeface="Helvetica Neue"/>
              </a:defRPr>
            </a:lvl2pPr>
            <a:lvl3pPr>
              <a:defRPr sz="1950" b="1">
                <a:solidFill>
                  <a:srgbClr val="186A91"/>
                </a:solidFill>
                <a:latin typeface="Helvetica Neue"/>
                <a:ea typeface="Helvetica Neue"/>
                <a:cs typeface="Helvetica Neue"/>
              </a:defRPr>
            </a:lvl3pPr>
            <a:lvl4pPr>
              <a:defRPr sz="1950" b="1">
                <a:solidFill>
                  <a:srgbClr val="186A91"/>
                </a:solidFill>
                <a:latin typeface="Helvetica Neue"/>
                <a:ea typeface="Helvetica Neue"/>
                <a:cs typeface="Helvetica Neue"/>
              </a:defRPr>
            </a:lvl4pPr>
            <a:lvl5pPr>
              <a:defRPr sz="1950" b="1">
                <a:solidFill>
                  <a:srgbClr val="186A91"/>
                </a:solidFill>
                <a:latin typeface="Helvetica Neue"/>
                <a:ea typeface="Helvetica Neue"/>
                <a:cs typeface="Helvetica Neue"/>
              </a:defRPr>
            </a:lvl5pPr>
            <a:lvl6pPr>
              <a:defRPr sz="1950" b="1">
                <a:solidFill>
                  <a:srgbClr val="186A91"/>
                </a:solidFill>
                <a:latin typeface="Helvetica Neue"/>
                <a:ea typeface="Helvetica Neue"/>
                <a:cs typeface="Helvetica Neue"/>
              </a:defRPr>
            </a:lvl6pPr>
            <a:lvl7pPr>
              <a:defRPr sz="1950" b="1">
                <a:solidFill>
                  <a:srgbClr val="186A91"/>
                </a:solidFill>
                <a:latin typeface="Helvetica Neue"/>
                <a:ea typeface="Helvetica Neue"/>
                <a:cs typeface="Helvetica Neue"/>
              </a:defRPr>
            </a:lvl7pPr>
            <a:lvl8pPr>
              <a:defRPr sz="1950" b="1">
                <a:solidFill>
                  <a:srgbClr val="186A91"/>
                </a:solidFill>
                <a:latin typeface="Helvetica Neue"/>
                <a:ea typeface="Helvetica Neue"/>
                <a:cs typeface="Helvetica Neue"/>
              </a:defRPr>
            </a:lvl8pPr>
            <a:lvl9pPr>
              <a:defRPr sz="1950" b="1">
                <a:solidFill>
                  <a:srgbClr val="186A91"/>
                </a:solidFill>
                <a:latin typeface="Helvetica Neue"/>
                <a:ea typeface="Helvetica Neue"/>
                <a:cs typeface="Helvetica Neue"/>
              </a:defRPr>
            </a:lvl9pPr>
          </a:lstStyle>
          <a:p xmlns:a="http://schemas.openxmlformats.org/drawingml/2006/main">
            <a:pPr>
              <a:defRPr sz="1950" b="1">
                <a:solidFill>
                  <a:srgbClr val="186A91"/>
                </a:solidFill>
                <a:latin typeface="Helvetica Neue"/>
                <a:ea typeface="Helvetica Neue"/>
                <a:cs typeface="Helvetica Neue"/>
              </a:defRPr>
            </a:pPr>
            <a:r>
              <a:rPr sz="1950" b="1">
                <a:solidFill>
                  <a:srgbClr val="186A91"/>
                </a:solidFill>
                <a:latin typeface="Helvetica Neue"/>
                <a:ea typeface="Helvetica Neue"/>
                <a:cs typeface="Helvetica Neue"/>
              </a:rPr>
              <a:t>Main finding</a:t>
            </a:r>
          </a:p>
        </p:txBody>
      </p:sp>
      <p:sp>
        <p:nvSpPr>
          <p:cNvPr id="6" name="">
            <a:extLst xmlns:a="http://schemas.openxmlformats.org/drawingml/2006/main">
              <a:ext uri="{FF2B5EF4-FFF2-40B4-BE49-F238E27FC236}">
                <a16:creationId xmlns:a16="http://schemas.microsoft.com/office/drawing/2014/main" id="{AF6EDDE5-FCF5-401D-B9DB-04B1286AEED8}"/>
              </a:ext>
            </a:extLst>
          </p:cNvPr>
          <p:cNvSpPr>
            <a:spLocks xmlns:a="http://schemas.openxmlformats.org/drawingml/2006/main" noGrp="1"/>
          </p:cNvSpPr>
          <p:nvPr/>
        </p:nvSpPr>
        <p:spPr>
          <a:xfrm xmlns:a="http://schemas.openxmlformats.org/drawingml/2006/main">
            <a:off x="571500" y="42386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142536"/>
                </a:solidFill>
                <a:latin typeface="Helvetica Neue"/>
                <a:ea typeface="Helvetica Neue"/>
                <a:cs typeface="Helvetica Neue"/>
              </a:defRPr>
            </a:defPPr>
            <a:lvl1pPr>
              <a:defRPr sz="2700" b="1">
                <a:solidFill>
                  <a:srgbClr val="142536"/>
                </a:solidFill>
                <a:latin typeface="Helvetica Neue"/>
                <a:ea typeface="Helvetica Neue"/>
                <a:cs typeface="Helvetica Neue"/>
              </a:defRPr>
            </a:lvl1pPr>
            <a:lvl2pPr>
              <a:defRPr sz="2700" b="1">
                <a:solidFill>
                  <a:srgbClr val="142536"/>
                </a:solidFill>
                <a:latin typeface="Helvetica Neue"/>
                <a:ea typeface="Helvetica Neue"/>
                <a:cs typeface="Helvetica Neue"/>
              </a:defRPr>
            </a:lvl2pPr>
            <a:lvl3pPr>
              <a:defRPr sz="2700" b="1">
                <a:solidFill>
                  <a:srgbClr val="142536"/>
                </a:solidFill>
                <a:latin typeface="Helvetica Neue"/>
                <a:ea typeface="Helvetica Neue"/>
                <a:cs typeface="Helvetica Neue"/>
              </a:defRPr>
            </a:lvl3pPr>
            <a:lvl4pPr>
              <a:defRPr sz="2700" b="1">
                <a:solidFill>
                  <a:srgbClr val="142536"/>
                </a:solidFill>
                <a:latin typeface="Helvetica Neue"/>
                <a:ea typeface="Helvetica Neue"/>
                <a:cs typeface="Helvetica Neue"/>
              </a:defRPr>
            </a:lvl4pPr>
            <a:lvl5pPr>
              <a:defRPr sz="2700" b="1">
                <a:solidFill>
                  <a:srgbClr val="142536"/>
                </a:solidFill>
                <a:latin typeface="Helvetica Neue"/>
                <a:ea typeface="Helvetica Neue"/>
                <a:cs typeface="Helvetica Neue"/>
              </a:defRPr>
            </a:lvl5pPr>
            <a:lvl6pPr>
              <a:defRPr sz="2700" b="1">
                <a:solidFill>
                  <a:srgbClr val="142536"/>
                </a:solidFill>
                <a:latin typeface="Helvetica Neue"/>
                <a:ea typeface="Helvetica Neue"/>
                <a:cs typeface="Helvetica Neue"/>
              </a:defRPr>
            </a:lvl6pPr>
            <a:lvl7pPr>
              <a:defRPr sz="2700" b="1">
                <a:solidFill>
                  <a:srgbClr val="142536"/>
                </a:solidFill>
                <a:latin typeface="Helvetica Neue"/>
                <a:ea typeface="Helvetica Neue"/>
                <a:cs typeface="Helvetica Neue"/>
              </a:defRPr>
            </a:lvl7pPr>
            <a:lvl8pPr>
              <a:defRPr sz="2700" b="1">
                <a:solidFill>
                  <a:srgbClr val="142536"/>
                </a:solidFill>
                <a:latin typeface="Helvetica Neue"/>
                <a:ea typeface="Helvetica Neue"/>
                <a:cs typeface="Helvetica Neue"/>
              </a:defRPr>
            </a:lvl8pPr>
            <a:lvl9pPr>
              <a:defRPr sz="2700" b="1">
                <a:solidFill>
                  <a:srgbClr val="142536"/>
                </a:solidFill>
                <a:latin typeface="Helvetica Neue"/>
                <a:ea typeface="Helvetica Neue"/>
                <a:cs typeface="Helvetica Neue"/>
              </a:defRPr>
            </a:lvl9pPr>
          </a:lstStyle>
          <a:p xmlns:a="http://schemas.openxmlformats.org/drawingml/2006/main">
            <a:pPr>
              <a:defRPr sz="2700" b="1">
                <a:solidFill>
                  <a:srgbClr val="142536"/>
                </a:solidFill>
                <a:latin typeface="Helvetica Neue"/>
                <a:ea typeface="Helvetica Neue"/>
                <a:cs typeface="Helvetica Neue"/>
              </a:defRPr>
            </a:pPr>
            <a:r>
              <a:rPr sz="2700" b="1">
                <a:solidFill>
                  <a:srgbClr val="142536"/>
                </a:solidFill>
                <a:latin typeface="Helvetica Neue"/>
                <a:ea typeface="Helvetica Neue"/>
                <a:cs typeface="Helvetica Neue"/>
              </a:rPr>
              <a:t>The atomic layout can change a correct model’s</a:t>
            </a:r>
          </a:p>
          <a:p xmlns:a="http://schemas.openxmlformats.org/drawingml/2006/main">
            <a:pPr>
              <a:defRPr sz="2700" b="1">
                <a:solidFill>
                  <a:srgbClr val="142536"/>
                </a:solidFill>
                <a:latin typeface="Helvetica Neue"/>
                <a:ea typeface="Helvetica Neue"/>
                <a:cs typeface="Helvetica Neue"/>
              </a:defRPr>
            </a:pPr>
            <a:r>
              <a:rPr sz="2700" b="1">
                <a:solidFill>
                  <a:srgbClr val="142536"/>
                </a:solidFill>
                <a:latin typeface="Helvetica Neue"/>
                <a:ea typeface="Helvetica Neue"/>
                <a:cs typeface="Helvetica Neue"/>
              </a:rPr>
              <a:t>lowest-energy answer into an infeasible assignment.</a:t>
            </a:r>
          </a:p>
        </p:txBody>
      </p:sp>
      <p:sp>
        <p:nvSpPr>
          <p:cNvPr id="7" name="">
            <a:extLst xmlns:a="http://schemas.openxmlformats.org/drawingml/2006/main">
              <a:ext uri="{FF2B5EF4-FFF2-40B4-BE49-F238E27FC236}">
                <a16:creationId xmlns:a16="http://schemas.microsoft.com/office/drawing/2014/main" id="{A3FF3202-940F-488D-8DB6-BDD3EFF42074}"/>
              </a:ext>
            </a:extLst>
          </p:cNvPr>
          <p:cNvSpPr>
            <a:spLocks xmlns:a="http://schemas.openxmlformats.org/drawingml/2006/main" noGrp="1"/>
          </p:cNvSpPr>
          <p:nvPr/>
        </p:nvSpPr>
        <p:spPr>
          <a:xfrm xmlns:a="http://schemas.openxmlformats.org/drawingml/2006/main">
            <a:off x="571500" y="59531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16476"/>
                </a:solidFill>
                <a:latin typeface="Helvetica Neue"/>
                <a:ea typeface="Helvetica Neue"/>
                <a:cs typeface="Helvetica Neue"/>
              </a:defRPr>
            </a:defPPr>
            <a:lvl1pPr>
              <a:defRPr sz="1725" b="0">
                <a:solidFill>
                  <a:srgbClr val="516476"/>
                </a:solidFill>
                <a:latin typeface="Helvetica Neue"/>
                <a:ea typeface="Helvetica Neue"/>
                <a:cs typeface="Helvetica Neue"/>
              </a:defRPr>
            </a:lvl1pPr>
            <a:lvl2pPr>
              <a:defRPr sz="1725" b="0">
                <a:solidFill>
                  <a:srgbClr val="516476"/>
                </a:solidFill>
                <a:latin typeface="Helvetica Neue"/>
                <a:ea typeface="Helvetica Neue"/>
                <a:cs typeface="Helvetica Neue"/>
              </a:defRPr>
            </a:lvl2pPr>
            <a:lvl3pPr>
              <a:defRPr sz="1725" b="0">
                <a:solidFill>
                  <a:srgbClr val="516476"/>
                </a:solidFill>
                <a:latin typeface="Helvetica Neue"/>
                <a:ea typeface="Helvetica Neue"/>
                <a:cs typeface="Helvetica Neue"/>
              </a:defRPr>
            </a:lvl3pPr>
            <a:lvl4pPr>
              <a:defRPr sz="1725" b="0">
                <a:solidFill>
                  <a:srgbClr val="516476"/>
                </a:solidFill>
                <a:latin typeface="Helvetica Neue"/>
                <a:ea typeface="Helvetica Neue"/>
                <a:cs typeface="Helvetica Neue"/>
              </a:defRPr>
            </a:lvl4pPr>
            <a:lvl5pPr>
              <a:defRPr sz="1725" b="0">
                <a:solidFill>
                  <a:srgbClr val="516476"/>
                </a:solidFill>
                <a:latin typeface="Helvetica Neue"/>
                <a:ea typeface="Helvetica Neue"/>
                <a:cs typeface="Helvetica Neue"/>
              </a:defRPr>
            </a:lvl5pPr>
            <a:lvl6pPr>
              <a:defRPr sz="1725" b="0">
                <a:solidFill>
                  <a:srgbClr val="516476"/>
                </a:solidFill>
                <a:latin typeface="Helvetica Neue"/>
                <a:ea typeface="Helvetica Neue"/>
                <a:cs typeface="Helvetica Neue"/>
              </a:defRPr>
            </a:lvl6pPr>
            <a:lvl7pPr>
              <a:defRPr sz="1725" b="0">
                <a:solidFill>
                  <a:srgbClr val="516476"/>
                </a:solidFill>
                <a:latin typeface="Helvetica Neue"/>
                <a:ea typeface="Helvetica Neue"/>
                <a:cs typeface="Helvetica Neue"/>
              </a:defRPr>
            </a:lvl7pPr>
            <a:lvl8pPr>
              <a:defRPr sz="1725" b="0">
                <a:solidFill>
                  <a:srgbClr val="516476"/>
                </a:solidFill>
                <a:latin typeface="Helvetica Neue"/>
                <a:ea typeface="Helvetica Neue"/>
                <a:cs typeface="Helvetica Neue"/>
              </a:defRPr>
            </a:lvl8pPr>
            <a:lvl9pPr>
              <a:defRPr sz="1725" b="0">
                <a:solidFill>
                  <a:srgbClr val="516476"/>
                </a:solidFill>
                <a:latin typeface="Helvetica Neue"/>
                <a:ea typeface="Helvetica Neue"/>
                <a:cs typeface="Helvetica Neue"/>
              </a:defRPr>
            </a:lvl9pPr>
          </a:lstStyle>
          <a:p xmlns:a="http://schemas.openxmlformats.org/drawingml/2006/main">
            <a:pPr>
              <a:defRPr sz="1725" b="0">
                <a:solidFill>
                  <a:srgbClr val="516476"/>
                </a:solidFill>
                <a:latin typeface="Helvetica Neue"/>
                <a:ea typeface="Helvetica Neue"/>
                <a:cs typeface="Helvetica Neue"/>
              </a:defRPr>
            </a:pPr>
            <a:r>
              <a:rPr sz="1725" b="0">
                <a:solidFill>
                  <a:srgbClr val="516476"/>
                </a:solidFill>
                <a:latin typeface="Helvetica Neue"/>
                <a:ea typeface="Helvetica Neue"/>
                <a:cs typeface="Helvetica Neue"/>
              </a:rPr>
              <a:t>Noiseless emulations throughout. Exact routing evaluates the selected clusters.</a:t>
            </a:r>
          </a:p>
        </p:txBody>
      </p:sp>
    </p:spTree>
    <p:extLst>
      <p:ext uri="{BB962C8B-B14F-4D97-AF65-F5344CB8AC3E}">
        <p14:creationId xmlns:p14="http://schemas.microsoft.com/office/powerpoint/2010/main" val="886623714"/>
      </p:ext>
    </p:extLst>
  </p:cSld>
</p:sld>
</file>

<file path=ppt/slides/slide2.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FFC079-40FA-4A7F-A239-D4D06BE2EC17}"/>
              </a:ext>
            </a:extLst>
          </p:cNvPr>
          <p:cNvSpPr>
            <a:spLocks xmlns:a="http://schemas.openxmlformats.org/drawingml/2006/main" noGrp="1"/>
          </p:cNvSpPr>
          <p:nvPr/>
        </p:nvSpPr>
        <p:spPr>
          <a:xfrm xmlns:a="http://schemas.openxmlformats.org/drawingml/2006/main">
            <a:off x="571500" y="34290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42536"/>
                </a:solidFill>
                <a:latin typeface="Helvetica Neue"/>
                <a:ea typeface="Helvetica Neue"/>
                <a:cs typeface="Helvetica Neue"/>
              </a:defRPr>
            </a:defPPr>
            <a:lvl1pPr>
              <a:defRPr sz="3225" b="1">
                <a:solidFill>
                  <a:srgbClr val="142536"/>
                </a:solidFill>
                <a:latin typeface="Helvetica Neue"/>
                <a:ea typeface="Helvetica Neue"/>
                <a:cs typeface="Helvetica Neue"/>
              </a:defRPr>
            </a:lvl1pPr>
            <a:lvl2pPr>
              <a:defRPr sz="3225" b="1">
                <a:solidFill>
                  <a:srgbClr val="142536"/>
                </a:solidFill>
                <a:latin typeface="Helvetica Neue"/>
                <a:ea typeface="Helvetica Neue"/>
                <a:cs typeface="Helvetica Neue"/>
              </a:defRPr>
            </a:lvl2pPr>
            <a:lvl3pPr>
              <a:defRPr sz="3225" b="1">
                <a:solidFill>
                  <a:srgbClr val="142536"/>
                </a:solidFill>
                <a:latin typeface="Helvetica Neue"/>
                <a:ea typeface="Helvetica Neue"/>
                <a:cs typeface="Helvetica Neue"/>
              </a:defRPr>
            </a:lvl3pPr>
            <a:lvl4pPr>
              <a:defRPr sz="3225" b="1">
                <a:solidFill>
                  <a:srgbClr val="142536"/>
                </a:solidFill>
                <a:latin typeface="Helvetica Neue"/>
                <a:ea typeface="Helvetica Neue"/>
                <a:cs typeface="Helvetica Neue"/>
              </a:defRPr>
            </a:lvl4pPr>
            <a:lvl5pPr>
              <a:defRPr sz="3225" b="1">
                <a:solidFill>
                  <a:srgbClr val="142536"/>
                </a:solidFill>
                <a:latin typeface="Helvetica Neue"/>
                <a:ea typeface="Helvetica Neue"/>
                <a:cs typeface="Helvetica Neue"/>
              </a:defRPr>
            </a:lvl5pPr>
            <a:lvl6pPr>
              <a:defRPr sz="3225" b="1">
                <a:solidFill>
                  <a:srgbClr val="142536"/>
                </a:solidFill>
                <a:latin typeface="Helvetica Neue"/>
                <a:ea typeface="Helvetica Neue"/>
                <a:cs typeface="Helvetica Neue"/>
              </a:defRPr>
            </a:lvl6pPr>
            <a:lvl7pPr>
              <a:defRPr sz="3225" b="1">
                <a:solidFill>
                  <a:srgbClr val="142536"/>
                </a:solidFill>
                <a:latin typeface="Helvetica Neue"/>
                <a:ea typeface="Helvetica Neue"/>
                <a:cs typeface="Helvetica Neue"/>
              </a:defRPr>
            </a:lvl7pPr>
            <a:lvl8pPr>
              <a:defRPr sz="3225" b="1">
                <a:solidFill>
                  <a:srgbClr val="142536"/>
                </a:solidFill>
                <a:latin typeface="Helvetica Neue"/>
                <a:ea typeface="Helvetica Neue"/>
                <a:cs typeface="Helvetica Neue"/>
              </a:defRPr>
            </a:lvl8pPr>
            <a:lvl9pPr>
              <a:defRPr sz="3225" b="1">
                <a:solidFill>
                  <a:srgbClr val="142536"/>
                </a:solidFill>
                <a:latin typeface="Helvetica Neue"/>
                <a:ea typeface="Helvetica Neue"/>
                <a:cs typeface="Helvetica Neue"/>
              </a:defRPr>
            </a:lvl9pPr>
          </a:lstStyle>
          <a:p xmlns:a="http://schemas.openxmlformats.org/drawingml/2006/main">
            <a:pPr>
              <a:defRPr sz="3225" b="1">
                <a:solidFill>
                  <a:srgbClr val="142536"/>
                </a:solidFill>
                <a:latin typeface="Helvetica Neue"/>
                <a:ea typeface="Helvetica Neue"/>
                <a:cs typeface="Helvetica Neue"/>
              </a:defRPr>
            </a:pPr>
            <a:r>
              <a:rPr sz="3225" b="1">
                <a:solidFill>
                  <a:srgbClr val="142536"/>
                </a:solidFill>
                <a:latin typeface="Helvetica Neue"/>
                <a:ea typeface="Helvetica Neue"/>
                <a:cs typeface="Helvetica Neue"/>
              </a:rPr>
              <a:t>Assignment: one-hot baseline and reduced codes</a:t>
            </a:r>
          </a:p>
        </p:txBody>
      </p:sp>
      <p:sp>
        <p:nvSpPr>
          <p:cNvPr id="2" name="">
            <a:extLst xmlns:a="http://schemas.openxmlformats.org/drawingml/2006/main">
              <a:ext uri="{FF2B5EF4-FFF2-40B4-BE49-F238E27FC236}">
                <a16:creationId xmlns:a16="http://schemas.microsoft.com/office/drawing/2014/main" id="{52D8AD63-FC75-4011-AF18-643616982DAC}"/>
              </a:ext>
            </a:extLst>
          </p:cNvPr>
          <p:cNvSpPr>
            <a:spLocks xmlns:a="http://schemas.openxmlformats.org/drawingml/2006/main" noGrp="1"/>
          </p:cNvSpPr>
          <p:nvPr/>
        </p:nvSpPr>
        <p:spPr>
          <a:xfrm xmlns:a="http://schemas.openxmlformats.org/drawingml/2006/main">
            <a:off x="11001375" y="63817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16476"/>
                </a:solidFill>
                <a:latin typeface="Helvetica Neue"/>
                <a:ea typeface="Helvetica Neue"/>
                <a:cs typeface="Helvetica Neue"/>
              </a:defRPr>
            </a:defPPr>
            <a:lvl1pPr>
              <a:defRPr sz="1350" b="0">
                <a:solidFill>
                  <a:srgbClr val="516476"/>
                </a:solidFill>
                <a:latin typeface="Helvetica Neue"/>
                <a:ea typeface="Helvetica Neue"/>
                <a:cs typeface="Helvetica Neue"/>
              </a:defRPr>
            </a:lvl1pPr>
            <a:lvl2pPr>
              <a:defRPr sz="1350" b="0">
                <a:solidFill>
                  <a:srgbClr val="516476"/>
                </a:solidFill>
                <a:latin typeface="Helvetica Neue"/>
                <a:ea typeface="Helvetica Neue"/>
                <a:cs typeface="Helvetica Neue"/>
              </a:defRPr>
            </a:lvl2pPr>
            <a:lvl3pPr>
              <a:defRPr sz="1350" b="0">
                <a:solidFill>
                  <a:srgbClr val="516476"/>
                </a:solidFill>
                <a:latin typeface="Helvetica Neue"/>
                <a:ea typeface="Helvetica Neue"/>
                <a:cs typeface="Helvetica Neue"/>
              </a:defRPr>
            </a:lvl3pPr>
            <a:lvl4pPr>
              <a:defRPr sz="1350" b="0">
                <a:solidFill>
                  <a:srgbClr val="516476"/>
                </a:solidFill>
                <a:latin typeface="Helvetica Neue"/>
                <a:ea typeface="Helvetica Neue"/>
                <a:cs typeface="Helvetica Neue"/>
              </a:defRPr>
            </a:lvl4pPr>
            <a:lvl5pPr>
              <a:defRPr sz="1350" b="0">
                <a:solidFill>
                  <a:srgbClr val="516476"/>
                </a:solidFill>
                <a:latin typeface="Helvetica Neue"/>
                <a:ea typeface="Helvetica Neue"/>
                <a:cs typeface="Helvetica Neue"/>
              </a:defRPr>
            </a:lvl5pPr>
            <a:lvl6pPr>
              <a:defRPr sz="1350" b="0">
                <a:solidFill>
                  <a:srgbClr val="516476"/>
                </a:solidFill>
                <a:latin typeface="Helvetica Neue"/>
                <a:ea typeface="Helvetica Neue"/>
                <a:cs typeface="Helvetica Neue"/>
              </a:defRPr>
            </a:lvl6pPr>
            <a:lvl7pPr>
              <a:defRPr sz="1350" b="0">
                <a:solidFill>
                  <a:srgbClr val="516476"/>
                </a:solidFill>
                <a:latin typeface="Helvetica Neue"/>
                <a:ea typeface="Helvetica Neue"/>
                <a:cs typeface="Helvetica Neue"/>
              </a:defRPr>
            </a:lvl7pPr>
            <a:lvl8pPr>
              <a:defRPr sz="1350" b="0">
                <a:solidFill>
                  <a:srgbClr val="516476"/>
                </a:solidFill>
                <a:latin typeface="Helvetica Neue"/>
                <a:ea typeface="Helvetica Neue"/>
                <a:cs typeface="Helvetica Neue"/>
              </a:defRPr>
            </a:lvl8pPr>
            <a:lvl9pPr>
              <a:defRPr sz="1350" b="0">
                <a:solidFill>
                  <a:srgbClr val="516476"/>
                </a:solidFill>
                <a:latin typeface="Helvetica Neue"/>
                <a:ea typeface="Helvetica Neue"/>
                <a:cs typeface="Helvetica Neue"/>
              </a:defRPr>
            </a:lvl9pPr>
          </a:lstStyle>
          <a:p xmlns:a="http://schemas.openxmlformats.org/drawingml/2006/main">
            <a:pPr>
              <a:defRPr sz="1350" b="0">
                <a:solidFill>
                  <a:srgbClr val="516476"/>
                </a:solidFill>
                <a:latin typeface="Helvetica Neue"/>
                <a:ea typeface="Helvetica Neue"/>
                <a:cs typeface="Helvetica Neue"/>
              </a:defRPr>
            </a:pPr>
            <a:r>
              <a:rPr sz="1350" b="0">
                <a:solidFill>
                  <a:srgbClr val="516476"/>
                </a:solidFill>
                <a:latin typeface="Helvetica Neue"/>
                <a:ea typeface="Helvetica Neue"/>
                <a:cs typeface="Helvetica Neue"/>
              </a:rPr>
              <a:t>2 / 11</a:t>
            </a:r>
          </a:p>
        </p:txBody>
      </p:sp>
      <p:sp>
        <p:nvSpPr>
          <p:cNvPr id="3" name="">
            <a:extLst xmlns:a="http://schemas.openxmlformats.org/drawingml/2006/main">
              <a:ext uri="{FF2B5EF4-FFF2-40B4-BE49-F238E27FC236}">
                <a16:creationId xmlns:a16="http://schemas.microsoft.com/office/drawing/2014/main" id="{05ABC83B-2706-44EF-BD32-31BA23087134}"/>
              </a:ext>
            </a:extLst>
          </p:cNvPr>
          <p:cNvSpPr>
            <a:spLocks xmlns:a="http://schemas.openxmlformats.org/drawingml/2006/main" noGrp="1"/>
          </p:cNvSpPr>
          <p:nvPr/>
        </p:nvSpPr>
        <p:spPr>
          <a:xfrm xmlns:a="http://schemas.openxmlformats.org/drawingml/2006/main">
            <a:off x="571500" y="13811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16476"/>
                </a:solidFill>
                <a:latin typeface="Helvetica Neue"/>
                <a:ea typeface="Helvetica Neue"/>
                <a:cs typeface="Helvetica Neue"/>
              </a:defRPr>
            </a:defPPr>
            <a:lvl1pPr>
              <a:defRPr sz="1950" b="0">
                <a:solidFill>
                  <a:srgbClr val="516476"/>
                </a:solidFill>
                <a:latin typeface="Helvetica Neue"/>
                <a:ea typeface="Helvetica Neue"/>
                <a:cs typeface="Helvetica Neue"/>
              </a:defRPr>
            </a:lvl1pPr>
            <a:lvl2pPr>
              <a:defRPr sz="1950" b="0">
                <a:solidFill>
                  <a:srgbClr val="516476"/>
                </a:solidFill>
                <a:latin typeface="Helvetica Neue"/>
                <a:ea typeface="Helvetica Neue"/>
                <a:cs typeface="Helvetica Neue"/>
              </a:defRPr>
            </a:lvl2pPr>
            <a:lvl3pPr>
              <a:defRPr sz="1950" b="0">
                <a:solidFill>
                  <a:srgbClr val="516476"/>
                </a:solidFill>
                <a:latin typeface="Helvetica Neue"/>
                <a:ea typeface="Helvetica Neue"/>
                <a:cs typeface="Helvetica Neue"/>
              </a:defRPr>
            </a:lvl3pPr>
            <a:lvl4pPr>
              <a:defRPr sz="1950" b="0">
                <a:solidFill>
                  <a:srgbClr val="516476"/>
                </a:solidFill>
                <a:latin typeface="Helvetica Neue"/>
                <a:ea typeface="Helvetica Neue"/>
                <a:cs typeface="Helvetica Neue"/>
              </a:defRPr>
            </a:lvl4pPr>
            <a:lvl5pPr>
              <a:defRPr sz="1950" b="0">
                <a:solidFill>
                  <a:srgbClr val="516476"/>
                </a:solidFill>
                <a:latin typeface="Helvetica Neue"/>
                <a:ea typeface="Helvetica Neue"/>
                <a:cs typeface="Helvetica Neue"/>
              </a:defRPr>
            </a:lvl5pPr>
            <a:lvl6pPr>
              <a:defRPr sz="1950" b="0">
                <a:solidFill>
                  <a:srgbClr val="516476"/>
                </a:solidFill>
                <a:latin typeface="Helvetica Neue"/>
                <a:ea typeface="Helvetica Neue"/>
                <a:cs typeface="Helvetica Neue"/>
              </a:defRPr>
            </a:lvl6pPr>
            <a:lvl7pPr>
              <a:defRPr sz="1950" b="0">
                <a:solidFill>
                  <a:srgbClr val="516476"/>
                </a:solidFill>
                <a:latin typeface="Helvetica Neue"/>
                <a:ea typeface="Helvetica Neue"/>
                <a:cs typeface="Helvetica Neue"/>
              </a:defRPr>
            </a:lvl7pPr>
            <a:lvl8pPr>
              <a:defRPr sz="1950" b="0">
                <a:solidFill>
                  <a:srgbClr val="516476"/>
                </a:solidFill>
                <a:latin typeface="Helvetica Neue"/>
                <a:ea typeface="Helvetica Neue"/>
                <a:cs typeface="Helvetica Neue"/>
              </a:defRPr>
            </a:lvl8pPr>
            <a:lvl9pPr>
              <a:defRPr sz="1950" b="0">
                <a:solidFill>
                  <a:srgbClr val="516476"/>
                </a:solidFill>
                <a:latin typeface="Helvetica Neue"/>
                <a:ea typeface="Helvetica Neue"/>
                <a:cs typeface="Helvetica Neue"/>
              </a:defRPr>
            </a:lvl9pPr>
          </a:lstStyle>
          <a:p xmlns:a="http://schemas.openxmlformats.org/drawingml/2006/main">
            <a:pPr>
              <a:defRPr sz="1950" b="0">
                <a:solidFill>
                  <a:srgbClr val="516476"/>
                </a:solidFill>
                <a:latin typeface="Helvetica Neue"/>
                <a:ea typeface="Helvetica Neue"/>
                <a:cs typeface="Helvetica Neue"/>
              </a:defRPr>
            </a:pPr>
            <a:r>
              <a:rPr sz="1950" b="0">
                <a:solidFill>
                  <a:srgbClr val="516476"/>
                </a:solidFill>
                <a:latin typeface="Helvetica Neue"/>
                <a:ea typeface="Helvetica Neue"/>
                <a:cs typeface="Helvetica Neue"/>
              </a:rPr>
              <a:t>Codes below select vehicles in order. Reduced assignment makes the last vehicle implicit.</a:t>
            </a:r>
          </a:p>
        </p:txBody>
      </p:sp>
      <p:graphicFrame>
        <p:nvGraphicFramePr>
          <p:cNvPr id="4" name="">
            <a:extLst xmlns:a="http://schemas.openxmlformats.org/drawingml/2006/main">
              <a:ext uri="{FF2B5EF4-FFF2-40B4-BE49-F238E27FC236}">
                <a16:creationId xmlns:a16="http://schemas.microsoft.com/office/drawing/2014/main" id="{889C365A-8057-44BD-B123-5A74031600C3}"/>
              </a:ext>
            </a:extLst>
          </p:cNvPr>
          <p:cNvGraphicFramePr/>
          <p:nvPr/>
        </p:nvGraphicFramePr>
        <p:xfrm>
          <a:off xmlns:a="http://schemas.openxmlformats.org/drawingml/2006/main" x="571500" y="2028825"/>
          <a:ext xmlns:a="http://schemas.openxmlformats.org/drawingml/2006/main" cx="11049000" cy="1905000"/>
        </p:xfrm>
        <a:graphic xmlns:a="http://schemas.openxmlformats.org/drawingml/2006/main">
          <a:graphicData uri="http://schemas.openxmlformats.org/drawingml/2006/table">
            <a:tbl>
              <a:tblPr firstRow="1" bandRow="0"/>
              <a:tblGrid>
                <a:gridCol w="1524000"/>
                <a:gridCol w="5286375"/>
                <a:gridCol w="4238625"/>
              </a:tblGrid>
              <a:tr h="476250">
                <a:tc>
                  <a:txBody>
                    <a:bodyPr/>
                    <a:lstStyle/>
                    <a:p>
                      <a:r>
                        <a:rPr sz="1950" b="1">
                          <a:solidFill>
                            <a:srgbClr val="FFFFFF"/>
                          </a:solidFill>
                          <a:latin typeface="Helvetica Neue"/>
                          <a:ea typeface="Helvetica Neue"/>
                          <a:cs typeface="Helvetica Neue"/>
                        </a:rPr>
                        <a:t>Vehicles</a:t>
                      </a:r>
                    </a:p>
                  </a:txBody>
                  <a:tcPr marL="142875" marR="142875" marT="76200" marB="76200" anchor="ctr">
                    <a:lnL w="9525">
                      <a:solidFill>
                        <a:srgbClr val="DCE5EA"/>
                      </a:solidFill>
                      <a:prstDash val="solid"/>
                    </a:lnL>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950" b="1">
                          <a:solidFill>
                            <a:srgbClr val="FFFFFF"/>
                          </a:solidFill>
                          <a:latin typeface="Helvetica Neue"/>
                          <a:ea typeface="Helvetica Neue"/>
                          <a:cs typeface="Helvetica Neue"/>
                        </a:rPr>
                        <a:t>One-hot baseline: valid codes</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950" b="1">
                          <a:solidFill>
                            <a:srgbClr val="FFFFFF"/>
                          </a:solidFill>
                          <a:latin typeface="Helvetica Neue"/>
                          <a:ea typeface="Helvetica Neue"/>
                          <a:cs typeface="Helvetica Neue"/>
                        </a:rPr>
                        <a:t>Reduced: valid codes</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r>
              <a:tr h="476250">
                <a:tc>
                  <a:txBody>
                    <a:bodyPr/>
                    <a:lstStyle/>
                    <a:p>
                      <a:r>
                        <a:rPr sz="1950" b="0">
                          <a:solidFill>
                            <a:srgbClr val="142536"/>
                          </a:solidFill>
                          <a:latin typeface="Helvetica Neue"/>
                          <a:ea typeface="Helvetica Neue"/>
                          <a:cs typeface="Helvetica Neue"/>
                        </a:rPr>
                        <a:t>2</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10, 01</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1, 0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r h="476250">
                <a:tc>
                  <a:txBody>
                    <a:bodyPr/>
                    <a:lstStyle/>
                    <a:p>
                      <a:r>
                        <a:rPr sz="1950" b="0">
                          <a:solidFill>
                            <a:srgbClr val="142536"/>
                          </a:solidFill>
                          <a:latin typeface="Helvetica Neue"/>
                          <a:ea typeface="Helvetica Neue"/>
                          <a:cs typeface="Helvetica Neue"/>
                        </a:rPr>
                        <a:t>3</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1F5F7"/>
                    </a:solidFill>
                  </a:tcPr>
                </a:tc>
                <a:tc>
                  <a:txBody>
                    <a:bodyPr/>
                    <a:lstStyle/>
                    <a:p>
                      <a:r>
                        <a:rPr sz="1950" b="0">
                          <a:solidFill>
                            <a:srgbClr val="142536"/>
                          </a:solidFill>
                          <a:latin typeface="Helvetica Neue"/>
                          <a:ea typeface="Helvetica Neue"/>
                          <a:cs typeface="Helvetica Neue"/>
                        </a:rPr>
                        <a:t>100, 010, 001</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950" b="0">
                          <a:solidFill>
                            <a:srgbClr val="142536"/>
                          </a:solidFill>
                          <a:latin typeface="Helvetica Neue"/>
                          <a:ea typeface="Helvetica Neue"/>
                          <a:cs typeface="Helvetica Neue"/>
                        </a:rPr>
                        <a:t>10, 01, 00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r>
              <a:tr h="476250">
                <a:tc>
                  <a:txBody>
                    <a:bodyPr/>
                    <a:lstStyle/>
                    <a:p>
                      <a:r>
                        <a:rPr sz="1950" b="0">
                          <a:solidFill>
                            <a:srgbClr val="142536"/>
                          </a:solidFill>
                          <a:latin typeface="Helvetica Neue"/>
                          <a:ea typeface="Helvetica Neue"/>
                          <a:cs typeface="Helvetica Neue"/>
                        </a:rPr>
                        <a:t>4</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1000, 0100, 0010, 0001</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100, 010, 001, 000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7048F38-678C-4AAC-A2D8-95723E052915}"/>
              </a:ext>
            </a:extLst>
          </p:cNvPr>
          <p:cNvSpPr>
            <a:spLocks xmlns:a="http://schemas.openxmlformats.org/drawingml/2006/main" noGrp="1"/>
          </p:cNvSpPr>
          <p:nvPr/>
        </p:nvSpPr>
        <p:spPr>
          <a:xfrm xmlns:a="http://schemas.openxmlformats.org/drawingml/2006/main">
            <a:off x="571500" y="41624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186A91"/>
                </a:solidFill>
                <a:latin typeface="Helvetica Neue"/>
                <a:ea typeface="Helvetica Neue"/>
                <a:cs typeface="Helvetica Neue"/>
              </a:defRPr>
            </a:defPPr>
            <a:lvl1pPr>
              <a:defRPr sz="1950" b="1">
                <a:solidFill>
                  <a:srgbClr val="186A91"/>
                </a:solidFill>
                <a:latin typeface="Helvetica Neue"/>
                <a:ea typeface="Helvetica Neue"/>
                <a:cs typeface="Helvetica Neue"/>
              </a:defRPr>
            </a:lvl1pPr>
            <a:lvl2pPr>
              <a:defRPr sz="1950" b="1">
                <a:solidFill>
                  <a:srgbClr val="186A91"/>
                </a:solidFill>
                <a:latin typeface="Helvetica Neue"/>
                <a:ea typeface="Helvetica Neue"/>
                <a:cs typeface="Helvetica Neue"/>
              </a:defRPr>
            </a:lvl2pPr>
            <a:lvl3pPr>
              <a:defRPr sz="1950" b="1">
                <a:solidFill>
                  <a:srgbClr val="186A91"/>
                </a:solidFill>
                <a:latin typeface="Helvetica Neue"/>
                <a:ea typeface="Helvetica Neue"/>
                <a:cs typeface="Helvetica Neue"/>
              </a:defRPr>
            </a:lvl3pPr>
            <a:lvl4pPr>
              <a:defRPr sz="1950" b="1">
                <a:solidFill>
                  <a:srgbClr val="186A91"/>
                </a:solidFill>
                <a:latin typeface="Helvetica Neue"/>
                <a:ea typeface="Helvetica Neue"/>
                <a:cs typeface="Helvetica Neue"/>
              </a:defRPr>
            </a:lvl4pPr>
            <a:lvl5pPr>
              <a:defRPr sz="1950" b="1">
                <a:solidFill>
                  <a:srgbClr val="186A91"/>
                </a:solidFill>
                <a:latin typeface="Helvetica Neue"/>
                <a:ea typeface="Helvetica Neue"/>
                <a:cs typeface="Helvetica Neue"/>
              </a:defRPr>
            </a:lvl5pPr>
            <a:lvl6pPr>
              <a:defRPr sz="1950" b="1">
                <a:solidFill>
                  <a:srgbClr val="186A91"/>
                </a:solidFill>
                <a:latin typeface="Helvetica Neue"/>
                <a:ea typeface="Helvetica Neue"/>
                <a:cs typeface="Helvetica Neue"/>
              </a:defRPr>
            </a:lvl6pPr>
            <a:lvl7pPr>
              <a:defRPr sz="1950" b="1">
                <a:solidFill>
                  <a:srgbClr val="186A91"/>
                </a:solidFill>
                <a:latin typeface="Helvetica Neue"/>
                <a:ea typeface="Helvetica Neue"/>
                <a:cs typeface="Helvetica Neue"/>
              </a:defRPr>
            </a:lvl7pPr>
            <a:lvl8pPr>
              <a:defRPr sz="1950" b="1">
                <a:solidFill>
                  <a:srgbClr val="186A91"/>
                </a:solidFill>
                <a:latin typeface="Helvetica Neue"/>
                <a:ea typeface="Helvetica Neue"/>
                <a:cs typeface="Helvetica Neue"/>
              </a:defRPr>
            </a:lvl8pPr>
            <a:lvl9pPr>
              <a:defRPr sz="1950" b="1">
                <a:solidFill>
                  <a:srgbClr val="186A91"/>
                </a:solidFill>
                <a:latin typeface="Helvetica Neue"/>
                <a:ea typeface="Helvetica Neue"/>
                <a:cs typeface="Helvetica Neue"/>
              </a:defRPr>
            </a:lvl9pPr>
          </a:lstStyle>
          <a:p xmlns:a="http://schemas.openxmlformats.org/drawingml/2006/main">
            <a:pPr>
              <a:defRPr sz="1950" b="1">
                <a:solidFill>
                  <a:srgbClr val="186A91"/>
                </a:solidFill>
                <a:latin typeface="Helvetica Neue"/>
                <a:ea typeface="Helvetica Neue"/>
                <a:cs typeface="Helvetica Neue"/>
              </a:defRPr>
            </a:pPr>
            <a:r>
              <a:rPr sz="1950" b="1">
                <a:solidFill>
                  <a:srgbClr val="186A91"/>
                </a:solidFill>
                <a:latin typeface="Helvetica Neue"/>
                <a:ea typeface="Helvetica Neue"/>
                <a:cs typeface="Helvetica Neue"/>
              </a:rPr>
              <a:t>One-hot: one bit per vehicle</a:t>
            </a:r>
          </a:p>
        </p:txBody>
      </p:sp>
      <p:pic>
        <p:nvPicPr>
          <p:cNvPr id="6" name="">
            <a:extLst xmlns:a="http://schemas.openxmlformats.org/drawingml/2006/main">
              <a:ext uri="{FF2B5EF4-FFF2-40B4-BE49-F238E27FC236}">
                <a16:creationId xmlns:a16="http://schemas.microsoft.com/office/drawing/2014/main" id="{13425FA0-4828-4692-B4A5-AEEBF5685DB8}"/>
              </a:ext>
            </a:extLst>
          </p:cNvPr>
          <p:cNvPicPr>
            <a:picLocks xmlns:a="http://schemas.openxmlformats.org/drawingml/2006/main" noChangeAspect="1"/>
          </p:cNvPicPr>
          <p:nvPr/>
        </p:nvPicPr>
        <p:blipFill>
          <a:blip xmlns:r="http://schemas.openxmlformats.org/officeDocument/2006/relationships" xmlns:a="http://schemas.openxmlformats.org/drawingml/2006/main" r:embed="Ra2d06f44af3e458e"/>
          <a:stretch xmlns:a="http://schemas.openxmlformats.org/drawingml/2006/main"/>
        </p:blipFill>
        <p:spPr>
          <a:xfrm xmlns:a="http://schemas.openxmlformats.org/drawingml/2006/main">
            <a:off x="571500" y="4600575"/>
            <a:ext cx="1645795" cy="590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C2A2039-33BC-44DF-88D0-B226AD439D13}"/>
              </a:ext>
            </a:extLst>
          </p:cNvPr>
          <p:cNvSpPr>
            <a:spLocks xmlns:a="http://schemas.openxmlformats.org/drawingml/2006/main" noGrp="1"/>
          </p:cNvSpPr>
          <p:nvPr/>
        </p:nvSpPr>
        <p:spPr>
          <a:xfrm xmlns:a="http://schemas.openxmlformats.org/drawingml/2006/main">
            <a:off x="6286500" y="41624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186A91"/>
                </a:solidFill>
                <a:latin typeface="Helvetica Neue"/>
                <a:ea typeface="Helvetica Neue"/>
                <a:cs typeface="Helvetica Neue"/>
              </a:defRPr>
            </a:defPPr>
            <a:lvl1pPr>
              <a:defRPr sz="1950" b="1">
                <a:solidFill>
                  <a:srgbClr val="186A91"/>
                </a:solidFill>
                <a:latin typeface="Helvetica Neue"/>
                <a:ea typeface="Helvetica Neue"/>
                <a:cs typeface="Helvetica Neue"/>
              </a:defRPr>
            </a:lvl1pPr>
            <a:lvl2pPr>
              <a:defRPr sz="1950" b="1">
                <a:solidFill>
                  <a:srgbClr val="186A91"/>
                </a:solidFill>
                <a:latin typeface="Helvetica Neue"/>
                <a:ea typeface="Helvetica Neue"/>
                <a:cs typeface="Helvetica Neue"/>
              </a:defRPr>
            </a:lvl2pPr>
            <a:lvl3pPr>
              <a:defRPr sz="1950" b="1">
                <a:solidFill>
                  <a:srgbClr val="186A91"/>
                </a:solidFill>
                <a:latin typeface="Helvetica Neue"/>
                <a:ea typeface="Helvetica Neue"/>
                <a:cs typeface="Helvetica Neue"/>
              </a:defRPr>
            </a:lvl3pPr>
            <a:lvl4pPr>
              <a:defRPr sz="1950" b="1">
                <a:solidFill>
                  <a:srgbClr val="186A91"/>
                </a:solidFill>
                <a:latin typeface="Helvetica Neue"/>
                <a:ea typeface="Helvetica Neue"/>
                <a:cs typeface="Helvetica Neue"/>
              </a:defRPr>
            </a:lvl4pPr>
            <a:lvl5pPr>
              <a:defRPr sz="1950" b="1">
                <a:solidFill>
                  <a:srgbClr val="186A91"/>
                </a:solidFill>
                <a:latin typeface="Helvetica Neue"/>
                <a:ea typeface="Helvetica Neue"/>
                <a:cs typeface="Helvetica Neue"/>
              </a:defRPr>
            </a:lvl5pPr>
            <a:lvl6pPr>
              <a:defRPr sz="1950" b="1">
                <a:solidFill>
                  <a:srgbClr val="186A91"/>
                </a:solidFill>
                <a:latin typeface="Helvetica Neue"/>
                <a:ea typeface="Helvetica Neue"/>
                <a:cs typeface="Helvetica Neue"/>
              </a:defRPr>
            </a:lvl6pPr>
            <a:lvl7pPr>
              <a:defRPr sz="1950" b="1">
                <a:solidFill>
                  <a:srgbClr val="186A91"/>
                </a:solidFill>
                <a:latin typeface="Helvetica Neue"/>
                <a:ea typeface="Helvetica Neue"/>
                <a:cs typeface="Helvetica Neue"/>
              </a:defRPr>
            </a:lvl7pPr>
            <a:lvl8pPr>
              <a:defRPr sz="1950" b="1">
                <a:solidFill>
                  <a:srgbClr val="186A91"/>
                </a:solidFill>
                <a:latin typeface="Helvetica Neue"/>
                <a:ea typeface="Helvetica Neue"/>
                <a:cs typeface="Helvetica Neue"/>
              </a:defRPr>
            </a:lvl8pPr>
            <a:lvl9pPr>
              <a:defRPr sz="1950" b="1">
                <a:solidFill>
                  <a:srgbClr val="186A91"/>
                </a:solidFill>
                <a:latin typeface="Helvetica Neue"/>
                <a:ea typeface="Helvetica Neue"/>
                <a:cs typeface="Helvetica Neue"/>
              </a:defRPr>
            </a:lvl9pPr>
          </a:lstStyle>
          <a:p xmlns:a="http://schemas.openxmlformats.org/drawingml/2006/main">
            <a:pPr>
              <a:defRPr sz="1950" b="1">
                <a:solidFill>
                  <a:srgbClr val="186A91"/>
                </a:solidFill>
                <a:latin typeface="Helvetica Neue"/>
                <a:ea typeface="Helvetica Neue"/>
                <a:cs typeface="Helvetica Neue"/>
              </a:defRPr>
            </a:pPr>
            <a:r>
              <a:rPr sz="1950" b="1">
                <a:solidFill>
                  <a:srgbClr val="186A91"/>
                </a:solidFill>
                <a:latin typeface="Helvetica Neue"/>
                <a:ea typeface="Helvetica Neue"/>
                <a:cs typeface="Helvetica Neue"/>
              </a:rPr>
              <a:t>Reduced: save one bit per customer</a:t>
            </a:r>
          </a:p>
        </p:txBody>
      </p:sp>
      <p:pic>
        <p:nvPicPr>
          <p:cNvPr id="8" name="">
            <a:extLst xmlns:a="http://schemas.openxmlformats.org/drawingml/2006/main">
              <a:ext uri="{FF2B5EF4-FFF2-40B4-BE49-F238E27FC236}">
                <a16:creationId xmlns:a16="http://schemas.microsoft.com/office/drawing/2014/main" id="{E3F157A9-A106-4C6B-92D0-7656B69BDC90}"/>
              </a:ext>
            </a:extLst>
          </p:cNvPr>
          <p:cNvPicPr>
            <a:picLocks xmlns:a="http://schemas.openxmlformats.org/drawingml/2006/main" noChangeAspect="1"/>
          </p:cNvPicPr>
          <p:nvPr/>
        </p:nvPicPr>
        <p:blipFill>
          <a:blip xmlns:r="http://schemas.openxmlformats.org/officeDocument/2006/relationships" xmlns:a="http://schemas.openxmlformats.org/drawingml/2006/main" r:embed="R68679914463847bc"/>
          <a:stretch xmlns:a="http://schemas.openxmlformats.org/drawingml/2006/main"/>
        </p:blipFill>
        <p:spPr>
          <a:xfrm xmlns:a="http://schemas.openxmlformats.org/drawingml/2006/main">
            <a:off x="6286500" y="4600575"/>
            <a:ext cx="4076700" cy="51816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BAB1885-D7AD-4E88-93D2-01A68740E8FE}"/>
              </a:ext>
            </a:extLst>
          </p:cNvPr>
          <p:cNvPicPr>
            <a:picLocks xmlns:a="http://schemas.openxmlformats.org/drawingml/2006/main" noChangeAspect="1"/>
          </p:cNvPicPr>
          <p:nvPr/>
        </p:nvPicPr>
        <p:blipFill>
          <a:blip xmlns:r="http://schemas.openxmlformats.org/officeDocument/2006/relationships" xmlns:a="http://schemas.openxmlformats.org/drawingml/2006/main" r:embed="R5840a2a3b6cc4281"/>
          <a:stretch xmlns:a="http://schemas.openxmlformats.org/drawingml/2006/main"/>
        </p:blipFill>
        <p:spPr>
          <a:xfrm xmlns:a="http://schemas.openxmlformats.org/drawingml/2006/main">
            <a:off x="571500" y="5457825"/>
            <a:ext cx="8382000" cy="24003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DF2D76F-975A-4521-93EF-913F0EEB6C34}"/>
              </a:ext>
            </a:extLst>
          </p:cNvPr>
          <p:cNvSpPr>
            <a:spLocks xmlns:a="http://schemas.openxmlformats.org/drawingml/2006/main" noGrp="1"/>
          </p:cNvSpPr>
          <p:nvPr/>
        </p:nvSpPr>
        <p:spPr>
          <a:xfrm xmlns:a="http://schemas.openxmlformats.org/drawingml/2006/main">
            <a:off x="571500" y="6200775"/>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516476"/>
                </a:solidFill>
                <a:latin typeface="Helvetica Neue"/>
                <a:ea typeface="Helvetica Neue"/>
                <a:cs typeface="Helvetica Neue"/>
              </a:defRPr>
            </a:defPPr>
            <a:lvl1pPr>
              <a:defRPr sz="1500" b="0">
                <a:solidFill>
                  <a:srgbClr val="516476"/>
                </a:solidFill>
                <a:latin typeface="Helvetica Neue"/>
                <a:ea typeface="Helvetica Neue"/>
                <a:cs typeface="Helvetica Neue"/>
              </a:defRPr>
            </a:lvl1pPr>
            <a:lvl2pPr>
              <a:defRPr sz="1500" b="0">
                <a:solidFill>
                  <a:srgbClr val="516476"/>
                </a:solidFill>
                <a:latin typeface="Helvetica Neue"/>
                <a:ea typeface="Helvetica Neue"/>
                <a:cs typeface="Helvetica Neue"/>
              </a:defRPr>
            </a:lvl2pPr>
            <a:lvl3pPr>
              <a:defRPr sz="1500" b="0">
                <a:solidFill>
                  <a:srgbClr val="516476"/>
                </a:solidFill>
                <a:latin typeface="Helvetica Neue"/>
                <a:ea typeface="Helvetica Neue"/>
                <a:cs typeface="Helvetica Neue"/>
              </a:defRPr>
            </a:lvl3pPr>
            <a:lvl4pPr>
              <a:defRPr sz="1500" b="0">
                <a:solidFill>
                  <a:srgbClr val="516476"/>
                </a:solidFill>
                <a:latin typeface="Helvetica Neue"/>
                <a:ea typeface="Helvetica Neue"/>
                <a:cs typeface="Helvetica Neue"/>
              </a:defRPr>
            </a:lvl4pPr>
            <a:lvl5pPr>
              <a:defRPr sz="1500" b="0">
                <a:solidFill>
                  <a:srgbClr val="516476"/>
                </a:solidFill>
                <a:latin typeface="Helvetica Neue"/>
                <a:ea typeface="Helvetica Neue"/>
                <a:cs typeface="Helvetica Neue"/>
              </a:defRPr>
            </a:lvl5pPr>
            <a:lvl6pPr>
              <a:defRPr sz="1500" b="0">
                <a:solidFill>
                  <a:srgbClr val="516476"/>
                </a:solidFill>
                <a:latin typeface="Helvetica Neue"/>
                <a:ea typeface="Helvetica Neue"/>
                <a:cs typeface="Helvetica Neue"/>
              </a:defRPr>
            </a:lvl6pPr>
            <a:lvl7pPr>
              <a:defRPr sz="1500" b="0">
                <a:solidFill>
                  <a:srgbClr val="516476"/>
                </a:solidFill>
                <a:latin typeface="Helvetica Neue"/>
                <a:ea typeface="Helvetica Neue"/>
                <a:cs typeface="Helvetica Neue"/>
              </a:defRPr>
            </a:lvl7pPr>
            <a:lvl8pPr>
              <a:defRPr sz="1500" b="0">
                <a:solidFill>
                  <a:srgbClr val="516476"/>
                </a:solidFill>
                <a:latin typeface="Helvetica Neue"/>
                <a:ea typeface="Helvetica Neue"/>
                <a:cs typeface="Helvetica Neue"/>
              </a:defRPr>
            </a:lvl8pPr>
            <a:lvl9pPr>
              <a:defRPr sz="1500" b="0">
                <a:solidFill>
                  <a:srgbClr val="516476"/>
                </a:solidFill>
                <a:latin typeface="Helvetica Neue"/>
                <a:ea typeface="Helvetica Neue"/>
                <a:cs typeface="Helvetica Neue"/>
              </a:defRPr>
            </a:lvl9pPr>
          </a:lstStyle>
          <a:p xmlns:a="http://schemas.openxmlformats.org/drawingml/2006/main">
            <a:pPr>
              <a:defRPr sz="1500" b="0">
                <a:solidFill>
                  <a:srgbClr val="516476"/>
                </a:solidFill>
                <a:latin typeface="Helvetica Neue"/>
                <a:ea typeface="Helvetica Neue"/>
                <a:cs typeface="Helvetica Neue"/>
              </a:defRPr>
            </a:pPr>
            <a:r>
              <a:rPr sz="1500" b="0">
                <a:solidFill>
                  <a:srgbClr val="516476"/>
                </a:solidFill>
                <a:latin typeface="Helvetica Neue"/>
                <a:ea typeface="Helvetica Neue"/>
                <a:cs typeface="Helvetica Neue"/>
              </a:rPr>
              <a:t>Linear substitution keeps a QUBO. Large enough assignment penalties enforce valid codes. Capacity is separate.</a:t>
            </a:r>
          </a:p>
        </p:txBody>
      </p:sp>
    </p:spTree>
    <p:extLst>
      <p:ext uri="{BB962C8B-B14F-4D97-AF65-F5344CB8AC3E}">
        <p14:creationId xmlns:p14="http://schemas.microsoft.com/office/powerpoint/2010/main" val="802161272"/>
      </p:ext>
    </p:extLst>
  </p:cSld>
</p:sld>
</file>

<file path=ppt/slides/slide3.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60B707F-42CA-4732-83C5-B34910F5BED7}"/>
              </a:ext>
            </a:extLst>
          </p:cNvPr>
          <p:cNvSpPr>
            <a:spLocks xmlns:a="http://schemas.openxmlformats.org/drawingml/2006/main" noGrp="1"/>
          </p:cNvSpPr>
          <p:nvPr/>
        </p:nvSpPr>
        <p:spPr>
          <a:xfrm xmlns:a="http://schemas.openxmlformats.org/drawingml/2006/main">
            <a:off x="571500" y="34290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42536"/>
                </a:solidFill>
                <a:latin typeface="Helvetica Neue"/>
                <a:ea typeface="Helvetica Neue"/>
                <a:cs typeface="Helvetica Neue"/>
              </a:defRPr>
            </a:defPPr>
            <a:lvl1pPr>
              <a:defRPr sz="3225" b="1">
                <a:solidFill>
                  <a:srgbClr val="142536"/>
                </a:solidFill>
                <a:latin typeface="Helvetica Neue"/>
                <a:ea typeface="Helvetica Neue"/>
                <a:cs typeface="Helvetica Neue"/>
              </a:defRPr>
            </a:lvl1pPr>
            <a:lvl2pPr>
              <a:defRPr sz="3225" b="1">
                <a:solidFill>
                  <a:srgbClr val="142536"/>
                </a:solidFill>
                <a:latin typeface="Helvetica Neue"/>
                <a:ea typeface="Helvetica Neue"/>
                <a:cs typeface="Helvetica Neue"/>
              </a:defRPr>
            </a:lvl2pPr>
            <a:lvl3pPr>
              <a:defRPr sz="3225" b="1">
                <a:solidFill>
                  <a:srgbClr val="142536"/>
                </a:solidFill>
                <a:latin typeface="Helvetica Neue"/>
                <a:ea typeface="Helvetica Neue"/>
                <a:cs typeface="Helvetica Neue"/>
              </a:defRPr>
            </a:lvl3pPr>
            <a:lvl4pPr>
              <a:defRPr sz="3225" b="1">
                <a:solidFill>
                  <a:srgbClr val="142536"/>
                </a:solidFill>
                <a:latin typeface="Helvetica Neue"/>
                <a:ea typeface="Helvetica Neue"/>
                <a:cs typeface="Helvetica Neue"/>
              </a:defRPr>
            </a:lvl4pPr>
            <a:lvl5pPr>
              <a:defRPr sz="3225" b="1">
                <a:solidFill>
                  <a:srgbClr val="142536"/>
                </a:solidFill>
                <a:latin typeface="Helvetica Neue"/>
                <a:ea typeface="Helvetica Neue"/>
                <a:cs typeface="Helvetica Neue"/>
              </a:defRPr>
            </a:lvl5pPr>
            <a:lvl6pPr>
              <a:defRPr sz="3225" b="1">
                <a:solidFill>
                  <a:srgbClr val="142536"/>
                </a:solidFill>
                <a:latin typeface="Helvetica Neue"/>
                <a:ea typeface="Helvetica Neue"/>
                <a:cs typeface="Helvetica Neue"/>
              </a:defRPr>
            </a:lvl6pPr>
            <a:lvl7pPr>
              <a:defRPr sz="3225" b="1">
                <a:solidFill>
                  <a:srgbClr val="142536"/>
                </a:solidFill>
                <a:latin typeface="Helvetica Neue"/>
                <a:ea typeface="Helvetica Neue"/>
                <a:cs typeface="Helvetica Neue"/>
              </a:defRPr>
            </a:lvl7pPr>
            <a:lvl8pPr>
              <a:defRPr sz="3225" b="1">
                <a:solidFill>
                  <a:srgbClr val="142536"/>
                </a:solidFill>
                <a:latin typeface="Helvetica Neue"/>
                <a:ea typeface="Helvetica Neue"/>
                <a:cs typeface="Helvetica Neue"/>
              </a:defRPr>
            </a:lvl8pPr>
            <a:lvl9pPr>
              <a:defRPr sz="3225" b="1">
                <a:solidFill>
                  <a:srgbClr val="142536"/>
                </a:solidFill>
                <a:latin typeface="Helvetica Neue"/>
                <a:ea typeface="Helvetica Neue"/>
                <a:cs typeface="Helvetica Neue"/>
              </a:defRPr>
            </a:lvl9pPr>
          </a:lstStyle>
          <a:p xmlns:a="http://schemas.openxmlformats.org/drawingml/2006/main">
            <a:pPr>
              <a:defRPr sz="3225" b="1">
                <a:solidFill>
                  <a:srgbClr val="142536"/>
                </a:solidFill>
                <a:latin typeface="Helvetica Neue"/>
                <a:ea typeface="Helvetica Neue"/>
                <a:cs typeface="Helvetica Neue"/>
              </a:defRPr>
            </a:pPr>
            <a:r>
              <a:rPr sz="3225" b="1">
                <a:solidFill>
                  <a:srgbClr val="142536"/>
                </a:solidFill>
                <a:latin typeface="Helvetica Neue"/>
                <a:ea typeface="Helvetica Neue"/>
                <a:cs typeface="Helvetica Neue"/>
              </a:rPr>
              <a:t>Capacity slack enforces a limit; balance favors equal loads</a:t>
            </a:r>
          </a:p>
        </p:txBody>
      </p:sp>
      <p:sp>
        <p:nvSpPr>
          <p:cNvPr id="2" name="">
            <a:extLst xmlns:a="http://schemas.openxmlformats.org/drawingml/2006/main">
              <a:ext uri="{FF2B5EF4-FFF2-40B4-BE49-F238E27FC236}">
                <a16:creationId xmlns:a16="http://schemas.microsoft.com/office/drawing/2014/main" id="{2EB8DFCF-8536-4430-A550-BAA72385ED71}"/>
              </a:ext>
            </a:extLst>
          </p:cNvPr>
          <p:cNvSpPr>
            <a:spLocks xmlns:a="http://schemas.openxmlformats.org/drawingml/2006/main" noGrp="1"/>
          </p:cNvSpPr>
          <p:nvPr/>
        </p:nvSpPr>
        <p:spPr>
          <a:xfrm xmlns:a="http://schemas.openxmlformats.org/drawingml/2006/main">
            <a:off x="11001375" y="63817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16476"/>
                </a:solidFill>
                <a:latin typeface="Helvetica Neue"/>
                <a:ea typeface="Helvetica Neue"/>
                <a:cs typeface="Helvetica Neue"/>
              </a:defRPr>
            </a:defPPr>
            <a:lvl1pPr>
              <a:defRPr sz="1350" b="0">
                <a:solidFill>
                  <a:srgbClr val="516476"/>
                </a:solidFill>
                <a:latin typeface="Helvetica Neue"/>
                <a:ea typeface="Helvetica Neue"/>
                <a:cs typeface="Helvetica Neue"/>
              </a:defRPr>
            </a:lvl1pPr>
            <a:lvl2pPr>
              <a:defRPr sz="1350" b="0">
                <a:solidFill>
                  <a:srgbClr val="516476"/>
                </a:solidFill>
                <a:latin typeface="Helvetica Neue"/>
                <a:ea typeface="Helvetica Neue"/>
                <a:cs typeface="Helvetica Neue"/>
              </a:defRPr>
            </a:lvl2pPr>
            <a:lvl3pPr>
              <a:defRPr sz="1350" b="0">
                <a:solidFill>
                  <a:srgbClr val="516476"/>
                </a:solidFill>
                <a:latin typeface="Helvetica Neue"/>
                <a:ea typeface="Helvetica Neue"/>
                <a:cs typeface="Helvetica Neue"/>
              </a:defRPr>
            </a:lvl3pPr>
            <a:lvl4pPr>
              <a:defRPr sz="1350" b="0">
                <a:solidFill>
                  <a:srgbClr val="516476"/>
                </a:solidFill>
                <a:latin typeface="Helvetica Neue"/>
                <a:ea typeface="Helvetica Neue"/>
                <a:cs typeface="Helvetica Neue"/>
              </a:defRPr>
            </a:lvl4pPr>
            <a:lvl5pPr>
              <a:defRPr sz="1350" b="0">
                <a:solidFill>
                  <a:srgbClr val="516476"/>
                </a:solidFill>
                <a:latin typeface="Helvetica Neue"/>
                <a:ea typeface="Helvetica Neue"/>
                <a:cs typeface="Helvetica Neue"/>
              </a:defRPr>
            </a:lvl5pPr>
            <a:lvl6pPr>
              <a:defRPr sz="1350" b="0">
                <a:solidFill>
                  <a:srgbClr val="516476"/>
                </a:solidFill>
                <a:latin typeface="Helvetica Neue"/>
                <a:ea typeface="Helvetica Neue"/>
                <a:cs typeface="Helvetica Neue"/>
              </a:defRPr>
            </a:lvl6pPr>
            <a:lvl7pPr>
              <a:defRPr sz="1350" b="0">
                <a:solidFill>
                  <a:srgbClr val="516476"/>
                </a:solidFill>
                <a:latin typeface="Helvetica Neue"/>
                <a:ea typeface="Helvetica Neue"/>
                <a:cs typeface="Helvetica Neue"/>
              </a:defRPr>
            </a:lvl7pPr>
            <a:lvl8pPr>
              <a:defRPr sz="1350" b="0">
                <a:solidFill>
                  <a:srgbClr val="516476"/>
                </a:solidFill>
                <a:latin typeface="Helvetica Neue"/>
                <a:ea typeface="Helvetica Neue"/>
                <a:cs typeface="Helvetica Neue"/>
              </a:defRPr>
            </a:lvl8pPr>
            <a:lvl9pPr>
              <a:defRPr sz="1350" b="0">
                <a:solidFill>
                  <a:srgbClr val="516476"/>
                </a:solidFill>
                <a:latin typeface="Helvetica Neue"/>
                <a:ea typeface="Helvetica Neue"/>
                <a:cs typeface="Helvetica Neue"/>
              </a:defRPr>
            </a:lvl9pPr>
          </a:lstStyle>
          <a:p xmlns:a="http://schemas.openxmlformats.org/drawingml/2006/main">
            <a:pPr>
              <a:defRPr sz="1350" b="0">
                <a:solidFill>
                  <a:srgbClr val="516476"/>
                </a:solidFill>
                <a:latin typeface="Helvetica Neue"/>
                <a:ea typeface="Helvetica Neue"/>
                <a:cs typeface="Helvetica Neue"/>
              </a:defRPr>
            </a:pPr>
            <a:r>
              <a:rPr sz="1350" b="0">
                <a:solidFill>
                  <a:srgbClr val="516476"/>
                </a:solidFill>
                <a:latin typeface="Helvetica Neue"/>
                <a:ea typeface="Helvetica Neue"/>
                <a:cs typeface="Helvetica Neue"/>
              </a:rPr>
              <a:t>3 / 11</a:t>
            </a:r>
          </a:p>
        </p:txBody>
      </p:sp>
      <p:sp>
        <p:nvSpPr>
          <p:cNvPr id="3" name="">
            <a:extLst xmlns:a="http://schemas.openxmlformats.org/drawingml/2006/main">
              <a:ext uri="{FF2B5EF4-FFF2-40B4-BE49-F238E27FC236}">
                <a16:creationId xmlns:a16="http://schemas.microsoft.com/office/drawing/2014/main" id="{17ACAC18-1FFE-4D9B-BE5A-4CFE42450C79}"/>
              </a:ext>
            </a:extLst>
          </p:cNvPr>
          <p:cNvSpPr>
            <a:spLocks xmlns:a="http://schemas.openxmlformats.org/drawingml/2006/main" noGrp="1"/>
          </p:cNvSpPr>
          <p:nvPr/>
        </p:nvSpPr>
        <p:spPr>
          <a:xfrm xmlns:a="http://schemas.openxmlformats.org/drawingml/2006/main">
            <a:off x="571500" y="13811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16476"/>
                </a:solidFill>
                <a:latin typeface="Helvetica Neue"/>
                <a:ea typeface="Helvetica Neue"/>
                <a:cs typeface="Helvetica Neue"/>
              </a:defRPr>
            </a:defPPr>
            <a:lvl1pPr>
              <a:defRPr sz="1950" b="0">
                <a:solidFill>
                  <a:srgbClr val="516476"/>
                </a:solidFill>
                <a:latin typeface="Helvetica Neue"/>
                <a:ea typeface="Helvetica Neue"/>
                <a:cs typeface="Helvetica Neue"/>
              </a:defRPr>
            </a:lvl1pPr>
            <a:lvl2pPr>
              <a:defRPr sz="1950" b="0">
                <a:solidFill>
                  <a:srgbClr val="516476"/>
                </a:solidFill>
                <a:latin typeface="Helvetica Neue"/>
                <a:ea typeface="Helvetica Neue"/>
                <a:cs typeface="Helvetica Neue"/>
              </a:defRPr>
            </a:lvl2pPr>
            <a:lvl3pPr>
              <a:defRPr sz="1950" b="0">
                <a:solidFill>
                  <a:srgbClr val="516476"/>
                </a:solidFill>
                <a:latin typeface="Helvetica Neue"/>
                <a:ea typeface="Helvetica Neue"/>
                <a:cs typeface="Helvetica Neue"/>
              </a:defRPr>
            </a:lvl3pPr>
            <a:lvl4pPr>
              <a:defRPr sz="1950" b="0">
                <a:solidFill>
                  <a:srgbClr val="516476"/>
                </a:solidFill>
                <a:latin typeface="Helvetica Neue"/>
                <a:ea typeface="Helvetica Neue"/>
                <a:cs typeface="Helvetica Neue"/>
              </a:defRPr>
            </a:lvl4pPr>
            <a:lvl5pPr>
              <a:defRPr sz="1950" b="0">
                <a:solidFill>
                  <a:srgbClr val="516476"/>
                </a:solidFill>
                <a:latin typeface="Helvetica Neue"/>
                <a:ea typeface="Helvetica Neue"/>
                <a:cs typeface="Helvetica Neue"/>
              </a:defRPr>
            </a:lvl5pPr>
            <a:lvl6pPr>
              <a:defRPr sz="1950" b="0">
                <a:solidFill>
                  <a:srgbClr val="516476"/>
                </a:solidFill>
                <a:latin typeface="Helvetica Neue"/>
                <a:ea typeface="Helvetica Neue"/>
                <a:cs typeface="Helvetica Neue"/>
              </a:defRPr>
            </a:lvl6pPr>
            <a:lvl7pPr>
              <a:defRPr sz="1950" b="0">
                <a:solidFill>
                  <a:srgbClr val="516476"/>
                </a:solidFill>
                <a:latin typeface="Helvetica Neue"/>
                <a:ea typeface="Helvetica Neue"/>
                <a:cs typeface="Helvetica Neue"/>
              </a:defRPr>
            </a:lvl7pPr>
            <a:lvl8pPr>
              <a:defRPr sz="1950" b="0">
                <a:solidFill>
                  <a:srgbClr val="516476"/>
                </a:solidFill>
                <a:latin typeface="Helvetica Neue"/>
                <a:ea typeface="Helvetica Neue"/>
                <a:cs typeface="Helvetica Neue"/>
              </a:defRPr>
            </a:lvl8pPr>
            <a:lvl9pPr>
              <a:defRPr sz="1950" b="0">
                <a:solidFill>
                  <a:srgbClr val="516476"/>
                </a:solidFill>
                <a:latin typeface="Helvetica Neue"/>
                <a:ea typeface="Helvetica Neue"/>
                <a:cs typeface="Helvetica Neue"/>
              </a:defRPr>
            </a:lvl9pPr>
          </a:lstStyle>
          <a:p xmlns:a="http://schemas.openxmlformats.org/drawingml/2006/main">
            <a:pPr>
              <a:defRPr sz="1950" b="0">
                <a:solidFill>
                  <a:srgbClr val="516476"/>
                </a:solidFill>
                <a:latin typeface="Helvetica Neue"/>
                <a:ea typeface="Helvetica Neue"/>
                <a:cs typeface="Helvetica Neue"/>
              </a:defRPr>
            </a:pPr>
            <a:r>
              <a:rPr sz="1950" b="0">
                <a:solidFill>
                  <a:srgbClr val="516476"/>
                </a:solidFill>
                <a:latin typeface="Helvetica Neue"/>
                <a:ea typeface="Helvetica Neue"/>
                <a:cs typeface="Helvetica Neue"/>
              </a:rPr>
              <a:t>Use either capacity model with one-hot or reconstructed assignment indicators.</a:t>
            </a:r>
          </a:p>
        </p:txBody>
      </p:sp>
      <p:sp>
        <p:nvSpPr>
          <p:cNvPr id="4" name="">
            <a:extLst xmlns:a="http://schemas.openxmlformats.org/drawingml/2006/main">
              <a:ext uri="{FF2B5EF4-FFF2-40B4-BE49-F238E27FC236}">
                <a16:creationId xmlns:a16="http://schemas.microsoft.com/office/drawing/2014/main" id="{1C0E3610-5C6D-4BA9-9870-70F6BB27F55D}"/>
              </a:ext>
            </a:extLst>
          </p:cNvPr>
          <p:cNvSpPr>
            <a:spLocks xmlns:a="http://schemas.openxmlformats.org/drawingml/2006/main" noGrp="1"/>
          </p:cNvSpPr>
          <p:nvPr/>
        </p:nvSpPr>
        <p:spPr>
          <a:xfrm xmlns:a="http://schemas.openxmlformats.org/drawingml/2006/main">
            <a:off x="571500" y="2028825"/>
            <a:ext cx="5381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6A91"/>
                </a:solidFill>
                <a:latin typeface="Helvetica Neue"/>
                <a:ea typeface="Helvetica Neue"/>
                <a:cs typeface="Helvetica Neue"/>
              </a:defRPr>
            </a:defPPr>
            <a:lvl1pPr>
              <a:defRPr sz="2100" b="1">
                <a:solidFill>
                  <a:srgbClr val="186A91"/>
                </a:solidFill>
                <a:latin typeface="Helvetica Neue"/>
                <a:ea typeface="Helvetica Neue"/>
                <a:cs typeface="Helvetica Neue"/>
              </a:defRPr>
            </a:lvl1pPr>
            <a:lvl2pPr>
              <a:defRPr sz="2100" b="1">
                <a:solidFill>
                  <a:srgbClr val="186A91"/>
                </a:solidFill>
                <a:latin typeface="Helvetica Neue"/>
                <a:ea typeface="Helvetica Neue"/>
                <a:cs typeface="Helvetica Neue"/>
              </a:defRPr>
            </a:lvl2pPr>
            <a:lvl3pPr>
              <a:defRPr sz="2100" b="1">
                <a:solidFill>
                  <a:srgbClr val="186A91"/>
                </a:solidFill>
                <a:latin typeface="Helvetica Neue"/>
                <a:ea typeface="Helvetica Neue"/>
                <a:cs typeface="Helvetica Neue"/>
              </a:defRPr>
            </a:lvl3pPr>
            <a:lvl4pPr>
              <a:defRPr sz="2100" b="1">
                <a:solidFill>
                  <a:srgbClr val="186A91"/>
                </a:solidFill>
                <a:latin typeface="Helvetica Neue"/>
                <a:ea typeface="Helvetica Neue"/>
                <a:cs typeface="Helvetica Neue"/>
              </a:defRPr>
            </a:lvl4pPr>
            <a:lvl5pPr>
              <a:defRPr sz="2100" b="1">
                <a:solidFill>
                  <a:srgbClr val="186A91"/>
                </a:solidFill>
                <a:latin typeface="Helvetica Neue"/>
                <a:ea typeface="Helvetica Neue"/>
                <a:cs typeface="Helvetica Neue"/>
              </a:defRPr>
            </a:lvl5pPr>
            <a:lvl6pPr>
              <a:defRPr sz="2100" b="1">
                <a:solidFill>
                  <a:srgbClr val="186A91"/>
                </a:solidFill>
                <a:latin typeface="Helvetica Neue"/>
                <a:ea typeface="Helvetica Neue"/>
                <a:cs typeface="Helvetica Neue"/>
              </a:defRPr>
            </a:lvl6pPr>
            <a:lvl7pPr>
              <a:defRPr sz="2100" b="1">
                <a:solidFill>
                  <a:srgbClr val="186A91"/>
                </a:solidFill>
                <a:latin typeface="Helvetica Neue"/>
                <a:ea typeface="Helvetica Neue"/>
                <a:cs typeface="Helvetica Neue"/>
              </a:defRPr>
            </a:lvl7pPr>
            <a:lvl8pPr>
              <a:defRPr sz="2100" b="1">
                <a:solidFill>
                  <a:srgbClr val="186A91"/>
                </a:solidFill>
                <a:latin typeface="Helvetica Neue"/>
                <a:ea typeface="Helvetica Neue"/>
                <a:cs typeface="Helvetica Neue"/>
              </a:defRPr>
            </a:lvl8pPr>
            <a:lvl9pPr>
              <a:defRPr sz="2100" b="1">
                <a:solidFill>
                  <a:srgbClr val="186A91"/>
                </a:solidFill>
                <a:latin typeface="Helvetica Neue"/>
                <a:ea typeface="Helvetica Neue"/>
                <a:cs typeface="Helvetica Neue"/>
              </a:defRPr>
            </a:lvl9pPr>
          </a:lstStyle>
          <a:p xmlns:a="http://schemas.openxmlformats.org/drawingml/2006/main">
            <a:pPr>
              <a:defRPr sz="2100" b="1">
                <a:solidFill>
                  <a:srgbClr val="186A91"/>
                </a:solidFill>
                <a:latin typeface="Helvetica Neue"/>
                <a:ea typeface="Helvetica Neue"/>
                <a:cs typeface="Helvetica Neue"/>
              </a:defRPr>
            </a:pPr>
            <a:r>
              <a:rPr sz="2100" b="1">
                <a:solidFill>
                  <a:srgbClr val="186A91"/>
                </a:solidFill>
                <a:latin typeface="Helvetica Neue"/>
                <a:ea typeface="Helvetica Neue"/>
                <a:cs typeface="Helvetica Neue"/>
              </a:rPr>
              <a:t>Capacity slack: extra bits, exact constraint</a:t>
            </a:r>
          </a:p>
        </p:txBody>
      </p:sp>
      <p:sp>
        <p:nvSpPr>
          <p:cNvPr id="5" name="">
            <a:extLst xmlns:a="http://schemas.openxmlformats.org/drawingml/2006/main">
              <a:ext uri="{FF2B5EF4-FFF2-40B4-BE49-F238E27FC236}">
                <a16:creationId xmlns:a16="http://schemas.microsoft.com/office/drawing/2014/main" id="{B6C5F4FD-6976-4B40-98F3-B48210434D53}"/>
              </a:ext>
            </a:extLst>
          </p:cNvPr>
          <p:cNvSpPr>
            <a:spLocks xmlns:a="http://schemas.openxmlformats.org/drawingml/2006/main" noGrp="1"/>
          </p:cNvSpPr>
          <p:nvPr/>
        </p:nvSpPr>
        <p:spPr>
          <a:xfrm xmlns:a="http://schemas.openxmlformats.org/drawingml/2006/main">
            <a:off x="6286500" y="2028825"/>
            <a:ext cx="528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6A91"/>
                </a:solidFill>
                <a:latin typeface="Helvetica Neue"/>
                <a:ea typeface="Helvetica Neue"/>
                <a:cs typeface="Helvetica Neue"/>
              </a:defRPr>
            </a:defPPr>
            <a:lvl1pPr>
              <a:defRPr sz="2100" b="1">
                <a:solidFill>
                  <a:srgbClr val="186A91"/>
                </a:solidFill>
                <a:latin typeface="Helvetica Neue"/>
                <a:ea typeface="Helvetica Neue"/>
                <a:cs typeface="Helvetica Neue"/>
              </a:defRPr>
            </a:lvl1pPr>
            <a:lvl2pPr>
              <a:defRPr sz="2100" b="1">
                <a:solidFill>
                  <a:srgbClr val="186A91"/>
                </a:solidFill>
                <a:latin typeface="Helvetica Neue"/>
                <a:ea typeface="Helvetica Neue"/>
                <a:cs typeface="Helvetica Neue"/>
              </a:defRPr>
            </a:lvl2pPr>
            <a:lvl3pPr>
              <a:defRPr sz="2100" b="1">
                <a:solidFill>
                  <a:srgbClr val="186A91"/>
                </a:solidFill>
                <a:latin typeface="Helvetica Neue"/>
                <a:ea typeface="Helvetica Neue"/>
                <a:cs typeface="Helvetica Neue"/>
              </a:defRPr>
            </a:lvl3pPr>
            <a:lvl4pPr>
              <a:defRPr sz="2100" b="1">
                <a:solidFill>
                  <a:srgbClr val="186A91"/>
                </a:solidFill>
                <a:latin typeface="Helvetica Neue"/>
                <a:ea typeface="Helvetica Neue"/>
                <a:cs typeface="Helvetica Neue"/>
              </a:defRPr>
            </a:lvl4pPr>
            <a:lvl5pPr>
              <a:defRPr sz="2100" b="1">
                <a:solidFill>
                  <a:srgbClr val="186A91"/>
                </a:solidFill>
                <a:latin typeface="Helvetica Neue"/>
                <a:ea typeface="Helvetica Neue"/>
                <a:cs typeface="Helvetica Neue"/>
              </a:defRPr>
            </a:lvl5pPr>
            <a:lvl6pPr>
              <a:defRPr sz="2100" b="1">
                <a:solidFill>
                  <a:srgbClr val="186A91"/>
                </a:solidFill>
                <a:latin typeface="Helvetica Neue"/>
                <a:ea typeface="Helvetica Neue"/>
                <a:cs typeface="Helvetica Neue"/>
              </a:defRPr>
            </a:lvl6pPr>
            <a:lvl7pPr>
              <a:defRPr sz="2100" b="1">
                <a:solidFill>
                  <a:srgbClr val="186A91"/>
                </a:solidFill>
                <a:latin typeface="Helvetica Neue"/>
                <a:ea typeface="Helvetica Neue"/>
                <a:cs typeface="Helvetica Neue"/>
              </a:defRPr>
            </a:lvl7pPr>
            <a:lvl8pPr>
              <a:defRPr sz="2100" b="1">
                <a:solidFill>
                  <a:srgbClr val="186A91"/>
                </a:solidFill>
                <a:latin typeface="Helvetica Neue"/>
                <a:ea typeface="Helvetica Neue"/>
                <a:cs typeface="Helvetica Neue"/>
              </a:defRPr>
            </a:lvl8pPr>
            <a:lvl9pPr>
              <a:defRPr sz="2100" b="1">
                <a:solidFill>
                  <a:srgbClr val="186A91"/>
                </a:solidFill>
                <a:latin typeface="Helvetica Neue"/>
                <a:ea typeface="Helvetica Neue"/>
                <a:cs typeface="Helvetica Neue"/>
              </a:defRPr>
            </a:lvl9pPr>
          </a:lstStyle>
          <a:p xmlns:a="http://schemas.openxmlformats.org/drawingml/2006/main">
            <a:pPr>
              <a:defRPr sz="2100" b="1">
                <a:solidFill>
                  <a:srgbClr val="186A91"/>
                </a:solidFill>
                <a:latin typeface="Helvetica Neue"/>
                <a:ea typeface="Helvetica Neue"/>
                <a:cs typeface="Helvetica Neue"/>
              </a:defRPr>
            </a:pPr>
            <a:r>
              <a:rPr sz="2100" b="1">
                <a:solidFill>
                  <a:srgbClr val="186A91"/>
                </a:solidFill>
                <a:latin typeface="Helvetica Neue"/>
                <a:ea typeface="Helvetica Neue"/>
                <a:cs typeface="Helvetica Neue"/>
              </a:rPr>
              <a:t>Balance: no extra bits, soft preference</a:t>
            </a:r>
          </a:p>
        </p:txBody>
      </p:sp>
      <p:pic>
        <p:nvPicPr>
          <p:cNvPr id="6" name="">
            <a:extLst xmlns:a="http://schemas.openxmlformats.org/drawingml/2006/main">
              <a:ext uri="{FF2B5EF4-FFF2-40B4-BE49-F238E27FC236}">
                <a16:creationId xmlns:a16="http://schemas.microsoft.com/office/drawing/2014/main" id="{298D1F8D-45DA-4FC6-B8A9-81B9E590E2EB}"/>
              </a:ext>
            </a:extLst>
          </p:cNvPr>
          <p:cNvPicPr>
            <a:picLocks xmlns:a="http://schemas.openxmlformats.org/drawingml/2006/main" noChangeAspect="1"/>
          </p:cNvPicPr>
          <p:nvPr/>
        </p:nvPicPr>
        <p:blipFill>
          <a:blip xmlns:r="http://schemas.openxmlformats.org/officeDocument/2006/relationships" xmlns:a="http://schemas.openxmlformats.org/drawingml/2006/main" r:embed="Rdd97af4a9b884b9f"/>
          <a:stretch xmlns:a="http://schemas.openxmlformats.org/drawingml/2006/main"/>
        </p:blipFill>
        <p:spPr>
          <a:xfrm xmlns:a="http://schemas.openxmlformats.org/drawingml/2006/main">
            <a:off x="571500" y="2762250"/>
            <a:ext cx="3135630" cy="51816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EF21099C-049E-4588-A344-614332FC7CE5}"/>
              </a:ext>
            </a:extLst>
          </p:cNvPr>
          <p:cNvPicPr>
            <a:picLocks xmlns:a="http://schemas.openxmlformats.org/drawingml/2006/main" noChangeAspect="1"/>
          </p:cNvPicPr>
          <p:nvPr/>
        </p:nvPicPr>
        <p:blipFill>
          <a:blip xmlns:r="http://schemas.openxmlformats.org/officeDocument/2006/relationships" xmlns:a="http://schemas.openxmlformats.org/drawingml/2006/main" r:embed="R5f337f5fe3704410"/>
          <a:stretch xmlns:a="http://schemas.openxmlformats.org/drawingml/2006/main"/>
        </p:blipFill>
        <p:spPr>
          <a:xfrm xmlns:a="http://schemas.openxmlformats.org/drawingml/2006/main">
            <a:off x="6286500" y="2762250"/>
            <a:ext cx="3173730" cy="51816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A2C5DC3-3CFD-4818-BE26-2A86CD6D5CDD}"/>
              </a:ext>
            </a:extLst>
          </p:cNvPr>
          <p:cNvSpPr>
            <a:spLocks xmlns:a="http://schemas.openxmlformats.org/drawingml/2006/main" noGrp="1"/>
          </p:cNvSpPr>
          <p:nvPr/>
        </p:nvSpPr>
        <p:spPr>
          <a:xfrm xmlns:a="http://schemas.openxmlformats.org/drawingml/2006/main">
            <a:off x="571500" y="3657600"/>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536"/>
                </a:solidFill>
                <a:latin typeface="Helvetica Neue"/>
                <a:ea typeface="Helvetica Neue"/>
                <a:cs typeface="Helvetica Neue"/>
              </a:defRPr>
            </a:defPPr>
            <a:lvl1pPr>
              <a:defRPr sz="1950" b="0">
                <a:solidFill>
                  <a:srgbClr val="142536"/>
                </a:solidFill>
                <a:latin typeface="Helvetica Neue"/>
                <a:ea typeface="Helvetica Neue"/>
                <a:cs typeface="Helvetica Neue"/>
              </a:defRPr>
            </a:lvl1pPr>
            <a:lvl2pPr>
              <a:defRPr sz="1950" b="0">
                <a:solidFill>
                  <a:srgbClr val="142536"/>
                </a:solidFill>
                <a:latin typeface="Helvetica Neue"/>
                <a:ea typeface="Helvetica Neue"/>
                <a:cs typeface="Helvetica Neue"/>
              </a:defRPr>
            </a:lvl2pPr>
            <a:lvl3pPr>
              <a:defRPr sz="1950" b="0">
                <a:solidFill>
                  <a:srgbClr val="142536"/>
                </a:solidFill>
                <a:latin typeface="Helvetica Neue"/>
                <a:ea typeface="Helvetica Neue"/>
                <a:cs typeface="Helvetica Neue"/>
              </a:defRPr>
            </a:lvl3pPr>
            <a:lvl4pPr>
              <a:defRPr sz="1950" b="0">
                <a:solidFill>
                  <a:srgbClr val="142536"/>
                </a:solidFill>
                <a:latin typeface="Helvetica Neue"/>
                <a:ea typeface="Helvetica Neue"/>
                <a:cs typeface="Helvetica Neue"/>
              </a:defRPr>
            </a:lvl4pPr>
            <a:lvl5pPr>
              <a:defRPr sz="1950" b="0">
                <a:solidFill>
                  <a:srgbClr val="142536"/>
                </a:solidFill>
                <a:latin typeface="Helvetica Neue"/>
                <a:ea typeface="Helvetica Neue"/>
                <a:cs typeface="Helvetica Neue"/>
              </a:defRPr>
            </a:lvl5pPr>
            <a:lvl6pPr>
              <a:defRPr sz="1950" b="0">
                <a:solidFill>
                  <a:srgbClr val="142536"/>
                </a:solidFill>
                <a:latin typeface="Helvetica Neue"/>
                <a:ea typeface="Helvetica Neue"/>
                <a:cs typeface="Helvetica Neue"/>
              </a:defRPr>
            </a:lvl6pPr>
            <a:lvl7pPr>
              <a:defRPr sz="1950" b="0">
                <a:solidFill>
                  <a:srgbClr val="142536"/>
                </a:solidFill>
                <a:latin typeface="Helvetica Neue"/>
                <a:ea typeface="Helvetica Neue"/>
                <a:cs typeface="Helvetica Neue"/>
              </a:defRPr>
            </a:lvl7pPr>
            <a:lvl8pPr>
              <a:defRPr sz="1950" b="0">
                <a:solidFill>
                  <a:srgbClr val="142536"/>
                </a:solidFill>
                <a:latin typeface="Helvetica Neue"/>
                <a:ea typeface="Helvetica Neue"/>
                <a:cs typeface="Helvetica Neue"/>
              </a:defRPr>
            </a:lvl8pPr>
            <a:lvl9pPr>
              <a:defRPr sz="1950" b="0">
                <a:solidFill>
                  <a:srgbClr val="142536"/>
                </a:solidFill>
                <a:latin typeface="Helvetica Neue"/>
                <a:ea typeface="Helvetica Neue"/>
                <a:cs typeface="Helvetica Neue"/>
              </a:defRPr>
            </a:lvl9pPr>
          </a:lstStyle>
          <a:p xmlns:a="http://schemas.openxmlformats.org/drawingml/2006/main">
            <a:pPr>
              <a:defRPr sz="1950" b="0">
                <a:solidFill>
                  <a:srgbClr val="142536"/>
                </a:solidFill>
                <a:latin typeface="Helvetica Neue"/>
                <a:ea typeface="Helvetica Neue"/>
                <a:cs typeface="Helvetica Neue"/>
              </a:defRPr>
            </a:pPr>
            <a:r>
              <a:rPr sz="1950" b="0">
                <a:solidFill>
                  <a:srgbClr val="142536"/>
                </a:solidFill>
                <a:latin typeface="Helvetica Neue"/>
                <a:ea typeface="Helvetica Neue"/>
                <a:cs typeface="Helvetica Neue"/>
              </a:rPr>
              <a:t>Nonnegative spare capacity absorbs unused load.</a:t>
            </a:r>
          </a:p>
          <a:p xmlns:a="http://schemas.openxmlformats.org/drawingml/2006/main">
            <a:pPr>
              <a:defRPr sz="1950" b="0">
                <a:solidFill>
                  <a:srgbClr val="142536"/>
                </a:solidFill>
                <a:latin typeface="Helvetica Neue"/>
                <a:ea typeface="Helvetica Neue"/>
                <a:cs typeface="Helvetica Neue"/>
              </a:defRPr>
            </a:pPr>
            <a:r>
              <a:rPr sz="1950" b="0">
                <a:solidFill>
                  <a:srgbClr val="142536"/>
                </a:solidFill>
                <a:latin typeface="Helvetica Neue"/>
                <a:ea typeface="Helvetica Neue"/>
                <a:cs typeface="Helvetica Neue"/>
              </a:rPr>
              <a:t>Overload cannot have zero penalty.</a:t>
            </a:r>
          </a:p>
        </p:txBody>
      </p:sp>
      <p:sp>
        <p:nvSpPr>
          <p:cNvPr id="9" name="">
            <a:extLst xmlns:a="http://schemas.openxmlformats.org/drawingml/2006/main">
              <a:ext uri="{FF2B5EF4-FFF2-40B4-BE49-F238E27FC236}">
                <a16:creationId xmlns:a16="http://schemas.microsoft.com/office/drawing/2014/main" id="{0B3EB27D-53C8-415C-B8FD-87642F0C232E}"/>
              </a:ext>
            </a:extLst>
          </p:cNvPr>
          <p:cNvSpPr>
            <a:spLocks xmlns:a="http://schemas.openxmlformats.org/drawingml/2006/main" noGrp="1"/>
          </p:cNvSpPr>
          <p:nvPr/>
        </p:nvSpPr>
        <p:spPr>
          <a:xfrm xmlns:a="http://schemas.openxmlformats.org/drawingml/2006/main">
            <a:off x="6286500" y="3657600"/>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536"/>
                </a:solidFill>
                <a:latin typeface="Helvetica Neue"/>
                <a:ea typeface="Helvetica Neue"/>
                <a:cs typeface="Helvetica Neue"/>
              </a:defRPr>
            </a:defPPr>
            <a:lvl1pPr>
              <a:defRPr sz="1950" b="0">
                <a:solidFill>
                  <a:srgbClr val="142536"/>
                </a:solidFill>
                <a:latin typeface="Helvetica Neue"/>
                <a:ea typeface="Helvetica Neue"/>
                <a:cs typeface="Helvetica Neue"/>
              </a:defRPr>
            </a:lvl1pPr>
            <a:lvl2pPr>
              <a:defRPr sz="1950" b="0">
                <a:solidFill>
                  <a:srgbClr val="142536"/>
                </a:solidFill>
                <a:latin typeface="Helvetica Neue"/>
                <a:ea typeface="Helvetica Neue"/>
                <a:cs typeface="Helvetica Neue"/>
              </a:defRPr>
            </a:lvl2pPr>
            <a:lvl3pPr>
              <a:defRPr sz="1950" b="0">
                <a:solidFill>
                  <a:srgbClr val="142536"/>
                </a:solidFill>
                <a:latin typeface="Helvetica Neue"/>
                <a:ea typeface="Helvetica Neue"/>
                <a:cs typeface="Helvetica Neue"/>
              </a:defRPr>
            </a:lvl3pPr>
            <a:lvl4pPr>
              <a:defRPr sz="1950" b="0">
                <a:solidFill>
                  <a:srgbClr val="142536"/>
                </a:solidFill>
                <a:latin typeface="Helvetica Neue"/>
                <a:ea typeface="Helvetica Neue"/>
                <a:cs typeface="Helvetica Neue"/>
              </a:defRPr>
            </a:lvl4pPr>
            <a:lvl5pPr>
              <a:defRPr sz="1950" b="0">
                <a:solidFill>
                  <a:srgbClr val="142536"/>
                </a:solidFill>
                <a:latin typeface="Helvetica Neue"/>
                <a:ea typeface="Helvetica Neue"/>
                <a:cs typeface="Helvetica Neue"/>
              </a:defRPr>
            </a:lvl5pPr>
            <a:lvl6pPr>
              <a:defRPr sz="1950" b="0">
                <a:solidFill>
                  <a:srgbClr val="142536"/>
                </a:solidFill>
                <a:latin typeface="Helvetica Neue"/>
                <a:ea typeface="Helvetica Neue"/>
                <a:cs typeface="Helvetica Neue"/>
              </a:defRPr>
            </a:lvl6pPr>
            <a:lvl7pPr>
              <a:defRPr sz="1950" b="0">
                <a:solidFill>
                  <a:srgbClr val="142536"/>
                </a:solidFill>
                <a:latin typeface="Helvetica Neue"/>
                <a:ea typeface="Helvetica Neue"/>
                <a:cs typeface="Helvetica Neue"/>
              </a:defRPr>
            </a:lvl7pPr>
            <a:lvl8pPr>
              <a:defRPr sz="1950" b="0">
                <a:solidFill>
                  <a:srgbClr val="142536"/>
                </a:solidFill>
                <a:latin typeface="Helvetica Neue"/>
                <a:ea typeface="Helvetica Neue"/>
                <a:cs typeface="Helvetica Neue"/>
              </a:defRPr>
            </a:lvl8pPr>
            <a:lvl9pPr>
              <a:defRPr sz="1950" b="0">
                <a:solidFill>
                  <a:srgbClr val="142536"/>
                </a:solidFill>
                <a:latin typeface="Helvetica Neue"/>
                <a:ea typeface="Helvetica Neue"/>
                <a:cs typeface="Helvetica Neue"/>
              </a:defRPr>
            </a:lvl9pPr>
          </a:lstStyle>
          <a:p xmlns:a="http://schemas.openxmlformats.org/drawingml/2006/main">
            <a:pPr>
              <a:defRPr sz="1950" b="0">
                <a:solidFill>
                  <a:srgbClr val="142536"/>
                </a:solidFill>
                <a:latin typeface="Helvetica Neue"/>
                <a:ea typeface="Helvetica Neue"/>
                <a:cs typeface="Helvetica Neue"/>
              </a:defRPr>
            </a:pPr>
            <a:r>
              <a:rPr sz="1950" b="0">
                <a:solidFill>
                  <a:srgbClr val="142536"/>
                </a:solidFill>
                <a:latin typeface="Helvetica Neue"/>
                <a:ea typeface="Helvetica Neue"/>
                <a:cs typeface="Helvetica Neue"/>
              </a:rPr>
              <a:t>Penalizes unequal loads, including legal ones.</a:t>
            </a:r>
          </a:p>
          <a:p xmlns:a="http://schemas.openxmlformats.org/drawingml/2006/main">
            <a:pPr>
              <a:defRPr sz="1950" b="0">
                <a:solidFill>
                  <a:srgbClr val="142536"/>
                </a:solidFill>
                <a:latin typeface="Helvetica Neue"/>
                <a:ea typeface="Helvetica Neue"/>
                <a:cs typeface="Helvetica Neue"/>
              </a:defRPr>
            </a:pPr>
            <a:r>
              <a:rPr sz="1950" b="0">
                <a:solidFill>
                  <a:srgbClr val="142536"/>
                </a:solidFill>
                <a:latin typeface="Helvetica Neue"/>
                <a:ea typeface="Helvetica Neue"/>
                <a:cs typeface="Helvetica Neue"/>
              </a:rPr>
              <a:t>A better clustering cost can outweigh it.</a:t>
            </a:r>
          </a:p>
        </p:txBody>
      </p:sp>
      <p:graphicFrame>
        <p:nvGraphicFramePr>
          <p:cNvPr id="10" name="">
            <a:extLst xmlns:a="http://schemas.openxmlformats.org/drawingml/2006/main">
              <a:ext uri="{FF2B5EF4-FFF2-40B4-BE49-F238E27FC236}">
                <a16:creationId xmlns:a16="http://schemas.microsoft.com/office/drawing/2014/main" id="{FF7D9FE8-9E03-46A5-B47A-7C9D6F2ACEB9}"/>
              </a:ext>
            </a:extLst>
          </p:cNvPr>
          <p:cNvGraphicFramePr/>
          <p:nvPr/>
        </p:nvGraphicFramePr>
        <p:xfrm>
          <a:off xmlns:a="http://schemas.openxmlformats.org/drawingml/2006/main" x="571500" y="4695825"/>
          <a:ext xmlns:a="http://schemas.openxmlformats.org/drawingml/2006/main" cx="11049000" cy="1485900"/>
        </p:xfrm>
        <a:graphic xmlns:a="http://schemas.openxmlformats.org/drawingml/2006/main">
          <a:graphicData uri="http://schemas.openxmlformats.org/drawingml/2006/table">
            <a:tbl>
              <a:tblPr firstRow="1" bandRow="0"/>
              <a:tblGrid>
                <a:gridCol w="5143500"/>
                <a:gridCol w="2667000"/>
                <a:gridCol w="3238500"/>
              </a:tblGrid>
              <a:tr h="371475">
                <a:tc>
                  <a:txBody>
                    <a:bodyPr/>
                    <a:lstStyle/>
                    <a:p>
                      <a:r>
                        <a:rPr sz="1725" b="1">
                          <a:solidFill>
                            <a:srgbClr val="FFFFFF"/>
                          </a:solidFill>
                          <a:latin typeface="Helvetica Neue"/>
                          <a:ea typeface="Helvetica Neue"/>
                          <a:cs typeface="Helvetica Neue"/>
                        </a:rPr>
                        <a:t>Example: capacity 7 per vehicle</a:t>
                      </a:r>
                    </a:p>
                  </a:txBody>
                  <a:tcPr marL="142875" marR="142875" marT="76200" marB="76200" anchor="ctr">
                    <a:lnL w="9525">
                      <a:solidFill>
                        <a:srgbClr val="DCE5EA"/>
                      </a:solidFill>
                      <a:prstDash val="solid"/>
                    </a:lnL>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725" b="1">
                          <a:solidFill>
                            <a:srgbClr val="FFFFFF"/>
                          </a:solidFill>
                          <a:latin typeface="Helvetica Neue"/>
                          <a:ea typeface="Helvetica Neue"/>
                          <a:cs typeface="Helvetica Neue"/>
                        </a:rPr>
                        <a:t>Slack penalty</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725" b="1">
                          <a:solidFill>
                            <a:srgbClr val="FFFFFF"/>
                          </a:solidFill>
                          <a:latin typeface="Helvetica Neue"/>
                          <a:ea typeface="Helvetica Neue"/>
                          <a:cs typeface="Helvetica Neue"/>
                        </a:rPr>
                        <a:t>Balance penalty</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r>
              <a:tr h="371475">
                <a:tc>
                  <a:txBody>
                    <a:bodyPr/>
                    <a:lstStyle/>
                    <a:p>
                      <a:r>
                        <a:rPr sz="1725" b="0">
                          <a:solidFill>
                            <a:srgbClr val="142536"/>
                          </a:solidFill>
                          <a:latin typeface="Helvetica Neue"/>
                          <a:ea typeface="Helvetica Neue"/>
                          <a:cs typeface="Helvetica Neue"/>
                        </a:rPr>
                        <a:t>Loads (5, 5): feasible</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725" b="0">
                          <a:solidFill>
                            <a:srgbClr val="142536"/>
                          </a:solidFill>
                          <a:latin typeface="Helvetica Neue"/>
                          <a:ea typeface="Helvetica Neue"/>
                          <a:cs typeface="Helvetica Neue"/>
                        </a:rPr>
                        <a:t>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725" b="0">
                          <a:solidFill>
                            <a:srgbClr val="142536"/>
                          </a:solidFill>
                          <a:latin typeface="Helvetica Neue"/>
                          <a:ea typeface="Helvetica Neue"/>
                          <a:cs typeface="Helvetica Neue"/>
                        </a:rPr>
                        <a:t>8 × weight</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r h="371475">
                <a:tc>
                  <a:txBody>
                    <a:bodyPr/>
                    <a:lstStyle/>
                    <a:p>
                      <a:r>
                        <a:rPr sz="1725" b="0">
                          <a:solidFill>
                            <a:srgbClr val="142536"/>
                          </a:solidFill>
                          <a:latin typeface="Helvetica Neue"/>
                          <a:ea typeface="Helvetica Neue"/>
                          <a:cs typeface="Helvetica Neue"/>
                        </a:rPr>
                        <a:t>Loads (6, 4): feasible</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1F5F7"/>
                    </a:solidFill>
                  </a:tcPr>
                </a:tc>
                <a:tc>
                  <a:txBody>
                    <a:bodyPr/>
                    <a:lstStyle/>
                    <a:p>
                      <a:r>
                        <a:rPr sz="1725" b="0">
                          <a:solidFill>
                            <a:srgbClr val="142536"/>
                          </a:solidFill>
                          <a:latin typeface="Helvetica Neue"/>
                          <a:ea typeface="Helvetica Neue"/>
                          <a:cs typeface="Helvetica Neue"/>
                        </a:rPr>
                        <a:t>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725" b="0">
                          <a:solidFill>
                            <a:srgbClr val="142536"/>
                          </a:solidFill>
                          <a:latin typeface="Helvetica Neue"/>
                          <a:ea typeface="Helvetica Neue"/>
                          <a:cs typeface="Helvetica Neue"/>
                        </a:rPr>
                        <a:t>10 × weight</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r>
              <a:tr h="371475">
                <a:tc>
                  <a:txBody>
                    <a:bodyPr/>
                    <a:lstStyle/>
                    <a:p>
                      <a:r>
                        <a:rPr sz="1725" b="0">
                          <a:solidFill>
                            <a:srgbClr val="142536"/>
                          </a:solidFill>
                          <a:latin typeface="Helvetica Neue"/>
                          <a:ea typeface="Helvetica Neue"/>
                          <a:cs typeface="Helvetica Neue"/>
                        </a:rPr>
                        <a:t>Loads (8, 2): overloaded</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725" b="0">
                          <a:solidFill>
                            <a:srgbClr val="142536"/>
                          </a:solidFill>
                          <a:latin typeface="Helvetica Neue"/>
                          <a:ea typeface="Helvetica Neue"/>
                          <a:cs typeface="Helvetica Neue"/>
                        </a:rPr>
                        <a:t>Positive</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725" b="0">
                          <a:solidFill>
                            <a:srgbClr val="142536"/>
                          </a:solidFill>
                          <a:latin typeface="Helvetica Neue"/>
                          <a:ea typeface="Helvetica Neue"/>
                          <a:cs typeface="Helvetica Neue"/>
                        </a:rPr>
                        <a:t>26 × weight</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5E4619FB-84F5-4EAA-B46F-CF00D716A091}"/>
              </a:ext>
            </a:extLst>
          </p:cNvPr>
          <p:cNvSpPr>
            <a:spLocks xmlns:a="http://schemas.openxmlformats.org/drawingml/2006/main" noGrp="1"/>
          </p:cNvSpPr>
          <p:nvPr/>
        </p:nvSpPr>
        <p:spPr>
          <a:xfrm xmlns:a="http://schemas.openxmlformats.org/drawingml/2006/main">
            <a:off x="571500" y="63627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516476"/>
                </a:solidFill>
                <a:latin typeface="Helvetica Neue"/>
                <a:ea typeface="Helvetica Neue"/>
                <a:cs typeface="Helvetica Neue"/>
              </a:defRPr>
            </a:defPPr>
            <a:lvl1pPr>
              <a:defRPr sz="1425" b="0">
                <a:solidFill>
                  <a:srgbClr val="516476"/>
                </a:solidFill>
                <a:latin typeface="Helvetica Neue"/>
                <a:ea typeface="Helvetica Neue"/>
                <a:cs typeface="Helvetica Neue"/>
              </a:defRPr>
            </a:lvl1pPr>
            <a:lvl2pPr>
              <a:defRPr sz="1425" b="0">
                <a:solidFill>
                  <a:srgbClr val="516476"/>
                </a:solidFill>
                <a:latin typeface="Helvetica Neue"/>
                <a:ea typeface="Helvetica Neue"/>
                <a:cs typeface="Helvetica Neue"/>
              </a:defRPr>
            </a:lvl2pPr>
            <a:lvl3pPr>
              <a:defRPr sz="1425" b="0">
                <a:solidFill>
                  <a:srgbClr val="516476"/>
                </a:solidFill>
                <a:latin typeface="Helvetica Neue"/>
                <a:ea typeface="Helvetica Neue"/>
                <a:cs typeface="Helvetica Neue"/>
              </a:defRPr>
            </a:lvl3pPr>
            <a:lvl4pPr>
              <a:defRPr sz="1425" b="0">
                <a:solidFill>
                  <a:srgbClr val="516476"/>
                </a:solidFill>
                <a:latin typeface="Helvetica Neue"/>
                <a:ea typeface="Helvetica Neue"/>
                <a:cs typeface="Helvetica Neue"/>
              </a:defRPr>
            </a:lvl4pPr>
            <a:lvl5pPr>
              <a:defRPr sz="1425" b="0">
                <a:solidFill>
                  <a:srgbClr val="516476"/>
                </a:solidFill>
                <a:latin typeface="Helvetica Neue"/>
                <a:ea typeface="Helvetica Neue"/>
                <a:cs typeface="Helvetica Neue"/>
              </a:defRPr>
            </a:lvl5pPr>
            <a:lvl6pPr>
              <a:defRPr sz="1425" b="0">
                <a:solidFill>
                  <a:srgbClr val="516476"/>
                </a:solidFill>
                <a:latin typeface="Helvetica Neue"/>
                <a:ea typeface="Helvetica Neue"/>
                <a:cs typeface="Helvetica Neue"/>
              </a:defRPr>
            </a:lvl6pPr>
            <a:lvl7pPr>
              <a:defRPr sz="1425" b="0">
                <a:solidFill>
                  <a:srgbClr val="516476"/>
                </a:solidFill>
                <a:latin typeface="Helvetica Neue"/>
                <a:ea typeface="Helvetica Neue"/>
                <a:cs typeface="Helvetica Neue"/>
              </a:defRPr>
            </a:lvl7pPr>
            <a:lvl8pPr>
              <a:defRPr sz="1425" b="0">
                <a:solidFill>
                  <a:srgbClr val="516476"/>
                </a:solidFill>
                <a:latin typeface="Helvetica Neue"/>
                <a:ea typeface="Helvetica Neue"/>
                <a:cs typeface="Helvetica Neue"/>
              </a:defRPr>
            </a:lvl8pPr>
            <a:lvl9pPr>
              <a:defRPr sz="1425" b="0">
                <a:solidFill>
                  <a:srgbClr val="516476"/>
                </a:solidFill>
                <a:latin typeface="Helvetica Neue"/>
                <a:ea typeface="Helvetica Neue"/>
                <a:cs typeface="Helvetica Neue"/>
              </a:defRPr>
            </a:lvl9pPr>
          </a:lstStyle>
          <a:p xmlns:a="http://schemas.openxmlformats.org/drawingml/2006/main">
            <a:pPr>
              <a:defRPr sz="1425" b="0">
                <a:solidFill>
                  <a:srgbClr val="516476"/>
                </a:solidFill>
                <a:latin typeface="Helvetica Neue"/>
                <a:ea typeface="Helvetica Neue"/>
                <a:cs typeface="Helvetica Neue"/>
              </a:defRPr>
            </a:pPr>
            <a:r>
              <a:rPr sz="1425" b="0">
                <a:solidFill>
                  <a:srgbClr val="516476"/>
                </a:solidFill>
                <a:latin typeface="Helvetica Neue"/>
                <a:ea typeface="Helvetica Neue"/>
                <a:cs typeface="Helvetica Neue"/>
              </a:rPr>
              <a:t>Exact constraint claim: intended ground state, valid assignments, sufficient penalties and enough slack range.</a:t>
            </a:r>
          </a:p>
        </p:txBody>
      </p:sp>
    </p:spTree>
    <p:extLst>
      <p:ext uri="{BB962C8B-B14F-4D97-AF65-F5344CB8AC3E}">
        <p14:creationId xmlns:p14="http://schemas.microsoft.com/office/powerpoint/2010/main" val="1030512716"/>
      </p:ext>
    </p:extLst>
  </p:cSld>
</p:sld>
</file>

<file path=ppt/slides/slide4.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B7507F-1B78-4C17-8B4F-8A74E192A10C}"/>
              </a:ext>
            </a:extLst>
          </p:cNvPr>
          <p:cNvSpPr>
            <a:spLocks xmlns:a="http://schemas.openxmlformats.org/drawingml/2006/main" noGrp="1"/>
          </p:cNvSpPr>
          <p:nvPr/>
        </p:nvSpPr>
        <p:spPr>
          <a:xfrm xmlns:a="http://schemas.openxmlformats.org/drawingml/2006/main">
            <a:off x="571500" y="34290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42536"/>
                </a:solidFill>
                <a:latin typeface="Helvetica Neue"/>
                <a:ea typeface="Helvetica Neue"/>
                <a:cs typeface="Helvetica Neue"/>
              </a:defRPr>
            </a:defPPr>
            <a:lvl1pPr>
              <a:defRPr sz="3225" b="1">
                <a:solidFill>
                  <a:srgbClr val="142536"/>
                </a:solidFill>
                <a:latin typeface="Helvetica Neue"/>
                <a:ea typeface="Helvetica Neue"/>
                <a:cs typeface="Helvetica Neue"/>
              </a:defRPr>
            </a:lvl1pPr>
            <a:lvl2pPr>
              <a:defRPr sz="3225" b="1">
                <a:solidFill>
                  <a:srgbClr val="142536"/>
                </a:solidFill>
                <a:latin typeface="Helvetica Neue"/>
                <a:ea typeface="Helvetica Neue"/>
                <a:cs typeface="Helvetica Neue"/>
              </a:defRPr>
            </a:lvl2pPr>
            <a:lvl3pPr>
              <a:defRPr sz="3225" b="1">
                <a:solidFill>
                  <a:srgbClr val="142536"/>
                </a:solidFill>
                <a:latin typeface="Helvetica Neue"/>
                <a:ea typeface="Helvetica Neue"/>
                <a:cs typeface="Helvetica Neue"/>
              </a:defRPr>
            </a:lvl3pPr>
            <a:lvl4pPr>
              <a:defRPr sz="3225" b="1">
                <a:solidFill>
                  <a:srgbClr val="142536"/>
                </a:solidFill>
                <a:latin typeface="Helvetica Neue"/>
                <a:ea typeface="Helvetica Neue"/>
                <a:cs typeface="Helvetica Neue"/>
              </a:defRPr>
            </a:lvl4pPr>
            <a:lvl5pPr>
              <a:defRPr sz="3225" b="1">
                <a:solidFill>
                  <a:srgbClr val="142536"/>
                </a:solidFill>
                <a:latin typeface="Helvetica Neue"/>
                <a:ea typeface="Helvetica Neue"/>
                <a:cs typeface="Helvetica Neue"/>
              </a:defRPr>
            </a:lvl5pPr>
            <a:lvl6pPr>
              <a:defRPr sz="3225" b="1">
                <a:solidFill>
                  <a:srgbClr val="142536"/>
                </a:solidFill>
                <a:latin typeface="Helvetica Neue"/>
                <a:ea typeface="Helvetica Neue"/>
                <a:cs typeface="Helvetica Neue"/>
              </a:defRPr>
            </a:lvl6pPr>
            <a:lvl7pPr>
              <a:defRPr sz="3225" b="1">
                <a:solidFill>
                  <a:srgbClr val="142536"/>
                </a:solidFill>
                <a:latin typeface="Helvetica Neue"/>
                <a:ea typeface="Helvetica Neue"/>
                <a:cs typeface="Helvetica Neue"/>
              </a:defRPr>
            </a:lvl7pPr>
            <a:lvl8pPr>
              <a:defRPr sz="3225" b="1">
                <a:solidFill>
                  <a:srgbClr val="142536"/>
                </a:solidFill>
                <a:latin typeface="Helvetica Neue"/>
                <a:ea typeface="Helvetica Neue"/>
                <a:cs typeface="Helvetica Neue"/>
              </a:defRPr>
            </a:lvl8pPr>
            <a:lvl9pPr>
              <a:defRPr sz="3225" b="1">
                <a:solidFill>
                  <a:srgbClr val="142536"/>
                </a:solidFill>
                <a:latin typeface="Helvetica Neue"/>
                <a:ea typeface="Helvetica Neue"/>
                <a:cs typeface="Helvetica Neue"/>
              </a:defRPr>
            </a:lvl9pPr>
          </a:lstStyle>
          <a:p xmlns:a="http://schemas.openxmlformats.org/drawingml/2006/main">
            <a:pPr>
              <a:defRPr sz="3225" b="1">
                <a:solidFill>
                  <a:srgbClr val="142536"/>
                </a:solidFill>
                <a:latin typeface="Helvetica Neue"/>
                <a:ea typeface="Helvetica Neue"/>
                <a:cs typeface="Helvetica Neue"/>
              </a:defRPr>
            </a:pPr>
            <a:r>
              <a:rPr sz="3225" b="1">
                <a:solidFill>
                  <a:srgbClr val="142536"/>
                </a:solidFill>
                <a:latin typeface="Helvetica Neue"/>
                <a:ea typeface="Helvetica Neue"/>
                <a:cs typeface="Helvetica Neue"/>
              </a:rPr>
              <a:t>Fewer atoms change the capacity model</a:t>
            </a:r>
          </a:p>
        </p:txBody>
      </p:sp>
      <p:sp>
        <p:nvSpPr>
          <p:cNvPr id="2" name="">
            <a:extLst xmlns:a="http://schemas.openxmlformats.org/drawingml/2006/main">
              <a:ext uri="{FF2B5EF4-FFF2-40B4-BE49-F238E27FC236}">
                <a16:creationId xmlns:a16="http://schemas.microsoft.com/office/drawing/2014/main" id="{3406EABF-7B78-4F99-AD17-B9AD9DB9C0BE}"/>
              </a:ext>
            </a:extLst>
          </p:cNvPr>
          <p:cNvSpPr>
            <a:spLocks xmlns:a="http://schemas.openxmlformats.org/drawingml/2006/main" noGrp="1"/>
          </p:cNvSpPr>
          <p:nvPr/>
        </p:nvSpPr>
        <p:spPr>
          <a:xfrm xmlns:a="http://schemas.openxmlformats.org/drawingml/2006/main">
            <a:off x="11001375" y="63817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16476"/>
                </a:solidFill>
                <a:latin typeface="Helvetica Neue"/>
                <a:ea typeface="Helvetica Neue"/>
                <a:cs typeface="Helvetica Neue"/>
              </a:defRPr>
            </a:defPPr>
            <a:lvl1pPr>
              <a:defRPr sz="1350" b="0">
                <a:solidFill>
                  <a:srgbClr val="516476"/>
                </a:solidFill>
                <a:latin typeface="Helvetica Neue"/>
                <a:ea typeface="Helvetica Neue"/>
                <a:cs typeface="Helvetica Neue"/>
              </a:defRPr>
            </a:lvl1pPr>
            <a:lvl2pPr>
              <a:defRPr sz="1350" b="0">
                <a:solidFill>
                  <a:srgbClr val="516476"/>
                </a:solidFill>
                <a:latin typeface="Helvetica Neue"/>
                <a:ea typeface="Helvetica Neue"/>
                <a:cs typeface="Helvetica Neue"/>
              </a:defRPr>
            </a:lvl2pPr>
            <a:lvl3pPr>
              <a:defRPr sz="1350" b="0">
                <a:solidFill>
                  <a:srgbClr val="516476"/>
                </a:solidFill>
                <a:latin typeface="Helvetica Neue"/>
                <a:ea typeface="Helvetica Neue"/>
                <a:cs typeface="Helvetica Neue"/>
              </a:defRPr>
            </a:lvl3pPr>
            <a:lvl4pPr>
              <a:defRPr sz="1350" b="0">
                <a:solidFill>
                  <a:srgbClr val="516476"/>
                </a:solidFill>
                <a:latin typeface="Helvetica Neue"/>
                <a:ea typeface="Helvetica Neue"/>
                <a:cs typeface="Helvetica Neue"/>
              </a:defRPr>
            </a:lvl4pPr>
            <a:lvl5pPr>
              <a:defRPr sz="1350" b="0">
                <a:solidFill>
                  <a:srgbClr val="516476"/>
                </a:solidFill>
                <a:latin typeface="Helvetica Neue"/>
                <a:ea typeface="Helvetica Neue"/>
                <a:cs typeface="Helvetica Neue"/>
              </a:defRPr>
            </a:lvl5pPr>
            <a:lvl6pPr>
              <a:defRPr sz="1350" b="0">
                <a:solidFill>
                  <a:srgbClr val="516476"/>
                </a:solidFill>
                <a:latin typeface="Helvetica Neue"/>
                <a:ea typeface="Helvetica Neue"/>
                <a:cs typeface="Helvetica Neue"/>
              </a:defRPr>
            </a:lvl6pPr>
            <a:lvl7pPr>
              <a:defRPr sz="1350" b="0">
                <a:solidFill>
                  <a:srgbClr val="516476"/>
                </a:solidFill>
                <a:latin typeface="Helvetica Neue"/>
                <a:ea typeface="Helvetica Neue"/>
                <a:cs typeface="Helvetica Neue"/>
              </a:defRPr>
            </a:lvl7pPr>
            <a:lvl8pPr>
              <a:defRPr sz="1350" b="0">
                <a:solidFill>
                  <a:srgbClr val="516476"/>
                </a:solidFill>
                <a:latin typeface="Helvetica Neue"/>
                <a:ea typeface="Helvetica Neue"/>
                <a:cs typeface="Helvetica Neue"/>
              </a:defRPr>
            </a:lvl8pPr>
            <a:lvl9pPr>
              <a:defRPr sz="1350" b="0">
                <a:solidFill>
                  <a:srgbClr val="516476"/>
                </a:solidFill>
                <a:latin typeface="Helvetica Neue"/>
                <a:ea typeface="Helvetica Neue"/>
                <a:cs typeface="Helvetica Neue"/>
              </a:defRPr>
            </a:lvl9pPr>
          </a:lstStyle>
          <a:p xmlns:a="http://schemas.openxmlformats.org/drawingml/2006/main">
            <a:pPr>
              <a:defRPr sz="1350" b="0">
                <a:solidFill>
                  <a:srgbClr val="516476"/>
                </a:solidFill>
                <a:latin typeface="Helvetica Neue"/>
                <a:ea typeface="Helvetica Neue"/>
                <a:cs typeface="Helvetica Neue"/>
              </a:defRPr>
            </a:pPr>
            <a:r>
              <a:rPr sz="1350" b="0">
                <a:solidFill>
                  <a:srgbClr val="516476"/>
                </a:solidFill>
                <a:latin typeface="Helvetica Neue"/>
                <a:ea typeface="Helvetica Neue"/>
                <a:cs typeface="Helvetica Neue"/>
              </a:rPr>
              <a:t>4 / 11</a:t>
            </a:r>
          </a:p>
        </p:txBody>
      </p:sp>
      <p:sp>
        <p:nvSpPr>
          <p:cNvPr id="3" name="">
            <a:extLst xmlns:a="http://schemas.openxmlformats.org/drawingml/2006/main">
              <a:ext uri="{FF2B5EF4-FFF2-40B4-BE49-F238E27FC236}">
                <a16:creationId xmlns:a16="http://schemas.microsoft.com/office/drawing/2014/main" id="{2138C6AC-3038-4B00-8EAA-3B34944BA659}"/>
              </a:ext>
            </a:extLst>
          </p:cNvPr>
          <p:cNvSpPr>
            <a:spLocks xmlns:a="http://schemas.openxmlformats.org/drawingml/2006/main" noGrp="1"/>
          </p:cNvSpPr>
          <p:nvPr/>
        </p:nvSpPr>
        <p:spPr>
          <a:xfrm xmlns:a="http://schemas.openxmlformats.org/drawingml/2006/main">
            <a:off x="571500" y="14097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516476"/>
                </a:solidFill>
                <a:latin typeface="Helvetica Neue"/>
                <a:ea typeface="Helvetica Neue"/>
                <a:cs typeface="Helvetica Neue"/>
              </a:defRPr>
            </a:defPPr>
            <a:lvl1pPr>
              <a:defRPr sz="2100" b="0">
                <a:solidFill>
                  <a:srgbClr val="516476"/>
                </a:solidFill>
                <a:latin typeface="Helvetica Neue"/>
                <a:ea typeface="Helvetica Neue"/>
                <a:cs typeface="Helvetica Neue"/>
              </a:defRPr>
            </a:lvl1pPr>
            <a:lvl2pPr>
              <a:defRPr sz="2100" b="0">
                <a:solidFill>
                  <a:srgbClr val="516476"/>
                </a:solidFill>
                <a:latin typeface="Helvetica Neue"/>
                <a:ea typeface="Helvetica Neue"/>
                <a:cs typeface="Helvetica Neue"/>
              </a:defRPr>
            </a:lvl2pPr>
            <a:lvl3pPr>
              <a:defRPr sz="2100" b="0">
                <a:solidFill>
                  <a:srgbClr val="516476"/>
                </a:solidFill>
                <a:latin typeface="Helvetica Neue"/>
                <a:ea typeface="Helvetica Neue"/>
                <a:cs typeface="Helvetica Neue"/>
              </a:defRPr>
            </a:lvl3pPr>
            <a:lvl4pPr>
              <a:defRPr sz="2100" b="0">
                <a:solidFill>
                  <a:srgbClr val="516476"/>
                </a:solidFill>
                <a:latin typeface="Helvetica Neue"/>
                <a:ea typeface="Helvetica Neue"/>
                <a:cs typeface="Helvetica Neue"/>
              </a:defRPr>
            </a:lvl4pPr>
            <a:lvl5pPr>
              <a:defRPr sz="2100" b="0">
                <a:solidFill>
                  <a:srgbClr val="516476"/>
                </a:solidFill>
                <a:latin typeface="Helvetica Neue"/>
                <a:ea typeface="Helvetica Neue"/>
                <a:cs typeface="Helvetica Neue"/>
              </a:defRPr>
            </a:lvl5pPr>
            <a:lvl6pPr>
              <a:defRPr sz="2100" b="0">
                <a:solidFill>
                  <a:srgbClr val="516476"/>
                </a:solidFill>
                <a:latin typeface="Helvetica Neue"/>
                <a:ea typeface="Helvetica Neue"/>
                <a:cs typeface="Helvetica Neue"/>
              </a:defRPr>
            </a:lvl6pPr>
            <a:lvl7pPr>
              <a:defRPr sz="2100" b="0">
                <a:solidFill>
                  <a:srgbClr val="516476"/>
                </a:solidFill>
                <a:latin typeface="Helvetica Neue"/>
                <a:ea typeface="Helvetica Neue"/>
                <a:cs typeface="Helvetica Neue"/>
              </a:defRPr>
            </a:lvl7pPr>
            <a:lvl8pPr>
              <a:defRPr sz="2100" b="0">
                <a:solidFill>
                  <a:srgbClr val="516476"/>
                </a:solidFill>
                <a:latin typeface="Helvetica Neue"/>
                <a:ea typeface="Helvetica Neue"/>
                <a:cs typeface="Helvetica Neue"/>
              </a:defRPr>
            </a:lvl8pPr>
            <a:lvl9pPr>
              <a:defRPr sz="2100" b="0">
                <a:solidFill>
                  <a:srgbClr val="516476"/>
                </a:solidFill>
                <a:latin typeface="Helvetica Neue"/>
                <a:ea typeface="Helvetica Neue"/>
                <a:cs typeface="Helvetica Neue"/>
              </a:defRPr>
            </a:lvl9pPr>
          </a:lstStyle>
          <a:p xmlns:a="http://schemas.openxmlformats.org/drawingml/2006/main">
            <a:pPr>
              <a:defRPr sz="2100" b="0">
                <a:solidFill>
                  <a:srgbClr val="516476"/>
                </a:solidFill>
                <a:latin typeface="Helvetica Neue"/>
                <a:ea typeface="Helvetica Neue"/>
                <a:cs typeface="Helvetica Neue"/>
              </a:defRPr>
            </a:pPr>
            <a:r>
              <a:rPr sz="2100" b="0">
                <a:solidFill>
                  <a:srgbClr val="516476"/>
                </a:solidFill>
                <a:latin typeface="Helvetica Neue"/>
                <a:ea typeface="Helvetica Neue"/>
                <a:cs typeface="Helvetica Neue"/>
              </a:rPr>
              <a:t>Textbook penalties enforce constraints. The compact model replaces capacity with load balance.</a:t>
            </a:r>
          </a:p>
        </p:txBody>
      </p:sp>
      <p:graphicFrame>
        <p:nvGraphicFramePr>
          <p:cNvPr id="4" name="">
            <a:extLst xmlns:a="http://schemas.openxmlformats.org/drawingml/2006/main">
              <a:ext uri="{FF2B5EF4-FFF2-40B4-BE49-F238E27FC236}">
                <a16:creationId xmlns:a16="http://schemas.microsoft.com/office/drawing/2014/main" id="{8C7829D1-F308-4D15-BB8F-4F1C343EE3FA}"/>
              </a:ext>
            </a:extLst>
          </p:cNvPr>
          <p:cNvGraphicFramePr/>
          <p:nvPr/>
        </p:nvGraphicFramePr>
        <p:xfrm>
          <a:off xmlns:a="http://schemas.openxmlformats.org/drawingml/2006/main" x="571500" y="2352675"/>
          <a:ext xmlns:a="http://schemas.openxmlformats.org/drawingml/2006/main" cx="11049000" cy="2476500"/>
        </p:xfrm>
        <a:graphic xmlns:a="http://schemas.openxmlformats.org/drawingml/2006/main">
          <a:graphicData uri="http://schemas.openxmlformats.org/drawingml/2006/table">
            <a:tbl>
              <a:tblPr firstRow="1" bandRow="0"/>
              <a:tblGrid>
                <a:gridCol w="5619750"/>
                <a:gridCol w="1809750"/>
                <a:gridCol w="1809750"/>
                <a:gridCol w="1809750"/>
              </a:tblGrid>
              <a:tr h="619125">
                <a:tc>
                  <a:txBody>
                    <a:bodyPr/>
                    <a:lstStyle/>
                    <a:p>
                      <a:r>
                        <a:rPr sz="1950" b="1">
                          <a:solidFill>
                            <a:srgbClr val="FFFFFF"/>
                          </a:solidFill>
                          <a:latin typeface="Helvetica Neue"/>
                          <a:ea typeface="Helvetica Neue"/>
                          <a:cs typeface="Helvetica Neue"/>
                        </a:rPr>
                        <a:t>Encoding</a:t>
                      </a:r>
                    </a:p>
                  </a:txBody>
                  <a:tcPr marL="142875" marR="142875" marT="76200" marB="76200" anchor="ctr">
                    <a:lnL w="9525">
                      <a:solidFill>
                        <a:srgbClr val="DCE5EA"/>
                      </a:solidFill>
                      <a:prstDash val="solid"/>
                    </a:lnL>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950" b="1">
                          <a:solidFill>
                            <a:srgbClr val="FFFFFF"/>
                          </a:solidFill>
                          <a:latin typeface="Helvetica Neue"/>
                          <a:ea typeface="Helvetica Neue"/>
                          <a:cs typeface="Helvetica Neue"/>
                        </a:rPr>
                        <a:t>Small</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950" b="1">
                          <a:solidFill>
                            <a:srgbClr val="FFFFFF"/>
                          </a:solidFill>
                          <a:latin typeface="Helvetica Neue"/>
                          <a:ea typeface="Helvetica Neue"/>
                          <a:cs typeface="Helvetica Neue"/>
                        </a:rPr>
                        <a:t>Medium</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950" b="1">
                          <a:solidFill>
                            <a:srgbClr val="FFFFFF"/>
                          </a:solidFill>
                          <a:latin typeface="Helvetica Neue"/>
                          <a:ea typeface="Helvetica Neue"/>
                          <a:cs typeface="Helvetica Neue"/>
                        </a:rPr>
                        <a:t>Large</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r>
              <a:tr h="619125">
                <a:tc>
                  <a:txBody>
                    <a:bodyPr/>
                    <a:lstStyle/>
                    <a:p>
                      <a:r>
                        <a:rPr sz="1950" b="0">
                          <a:solidFill>
                            <a:srgbClr val="142536"/>
                          </a:solidFill>
                          <a:latin typeface="Helvetica Neue"/>
                          <a:ea typeface="Helvetica Neue"/>
                          <a:cs typeface="Helvetica Neue"/>
                        </a:rPr>
                        <a:t>Baseline: assignment + capacity slack</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14</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45</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80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r h="619125">
                <a:tc>
                  <a:txBody>
                    <a:bodyPr/>
                    <a:lstStyle/>
                    <a:p>
                      <a:r>
                        <a:rPr sz="1950" b="0">
                          <a:solidFill>
                            <a:srgbClr val="142536"/>
                          </a:solidFill>
                          <a:latin typeface="Helvetica Neue"/>
                          <a:ea typeface="Helvetica Neue"/>
                          <a:cs typeface="Helvetica Neue"/>
                        </a:rPr>
                        <a:t>Full assignment + balance</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1F5F7"/>
                    </a:solidFill>
                  </a:tcPr>
                </a:tc>
                <a:tc>
                  <a:txBody>
                    <a:bodyPr/>
                    <a:lstStyle/>
                    <a:p>
                      <a:r>
                        <a:rPr sz="1950" b="0">
                          <a:solidFill>
                            <a:srgbClr val="142536"/>
                          </a:solidFill>
                          <a:latin typeface="Helvetica Neue"/>
                          <a:ea typeface="Helvetica Neue"/>
                          <a:cs typeface="Helvetica Neue"/>
                        </a:rPr>
                        <a:t>8</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950" b="0">
                          <a:solidFill>
                            <a:srgbClr val="142536"/>
                          </a:solidFill>
                          <a:latin typeface="Helvetica Neue"/>
                          <a:ea typeface="Helvetica Neue"/>
                          <a:cs typeface="Helvetica Neue"/>
                        </a:rPr>
                        <a:t>30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950" b="0">
                          <a:solidFill>
                            <a:srgbClr val="142536"/>
                          </a:solidFill>
                          <a:latin typeface="Helvetica Neue"/>
                          <a:ea typeface="Helvetica Neue"/>
                          <a:cs typeface="Helvetica Neue"/>
                        </a:rPr>
                        <a:t>60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r>
              <a:tr h="619125">
                <a:tc>
                  <a:txBody>
                    <a:bodyPr/>
                    <a:lstStyle/>
                    <a:p>
                      <a:r>
                        <a:rPr sz="1950" b="0">
                          <a:solidFill>
                            <a:srgbClr val="142536"/>
                          </a:solidFill>
                          <a:latin typeface="Helvetica Neue"/>
                          <a:ea typeface="Helvetica Neue"/>
                          <a:cs typeface="Helvetica Neue"/>
                        </a:rPr>
                        <a:t>Reduced assignment + balance</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4</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20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45</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24C2450-9F07-422A-9976-EBA4175EE880}"/>
              </a:ext>
            </a:extLst>
          </p:cNvPr>
          <p:cNvSpPr>
            <a:spLocks xmlns:a="http://schemas.openxmlformats.org/drawingml/2006/main" noGrp="1"/>
          </p:cNvSpPr>
          <p:nvPr/>
        </p:nvSpPr>
        <p:spPr>
          <a:xfrm xmlns:a="http://schemas.openxmlformats.org/drawingml/2006/main">
            <a:off x="571500" y="50482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16476"/>
                </a:solidFill>
                <a:latin typeface="Helvetica Neue"/>
                <a:ea typeface="Helvetica Neue"/>
                <a:cs typeface="Helvetica Neue"/>
              </a:defRPr>
            </a:defPPr>
            <a:lvl1pPr>
              <a:defRPr sz="1800" b="0">
                <a:solidFill>
                  <a:srgbClr val="516476"/>
                </a:solidFill>
                <a:latin typeface="Helvetica Neue"/>
                <a:ea typeface="Helvetica Neue"/>
                <a:cs typeface="Helvetica Neue"/>
              </a:defRPr>
            </a:lvl1pPr>
            <a:lvl2pPr>
              <a:defRPr sz="1800" b="0">
                <a:solidFill>
                  <a:srgbClr val="516476"/>
                </a:solidFill>
                <a:latin typeface="Helvetica Neue"/>
                <a:ea typeface="Helvetica Neue"/>
                <a:cs typeface="Helvetica Neue"/>
              </a:defRPr>
            </a:lvl2pPr>
            <a:lvl3pPr>
              <a:defRPr sz="1800" b="0">
                <a:solidFill>
                  <a:srgbClr val="516476"/>
                </a:solidFill>
                <a:latin typeface="Helvetica Neue"/>
                <a:ea typeface="Helvetica Neue"/>
                <a:cs typeface="Helvetica Neue"/>
              </a:defRPr>
            </a:lvl3pPr>
            <a:lvl4pPr>
              <a:defRPr sz="1800" b="0">
                <a:solidFill>
                  <a:srgbClr val="516476"/>
                </a:solidFill>
                <a:latin typeface="Helvetica Neue"/>
                <a:ea typeface="Helvetica Neue"/>
                <a:cs typeface="Helvetica Neue"/>
              </a:defRPr>
            </a:lvl4pPr>
            <a:lvl5pPr>
              <a:defRPr sz="1800" b="0">
                <a:solidFill>
                  <a:srgbClr val="516476"/>
                </a:solidFill>
                <a:latin typeface="Helvetica Neue"/>
                <a:ea typeface="Helvetica Neue"/>
                <a:cs typeface="Helvetica Neue"/>
              </a:defRPr>
            </a:lvl5pPr>
            <a:lvl6pPr>
              <a:defRPr sz="1800" b="0">
                <a:solidFill>
                  <a:srgbClr val="516476"/>
                </a:solidFill>
                <a:latin typeface="Helvetica Neue"/>
                <a:ea typeface="Helvetica Neue"/>
                <a:cs typeface="Helvetica Neue"/>
              </a:defRPr>
            </a:lvl6pPr>
            <a:lvl7pPr>
              <a:defRPr sz="1800" b="0">
                <a:solidFill>
                  <a:srgbClr val="516476"/>
                </a:solidFill>
                <a:latin typeface="Helvetica Neue"/>
                <a:ea typeface="Helvetica Neue"/>
                <a:cs typeface="Helvetica Neue"/>
              </a:defRPr>
            </a:lvl7pPr>
            <a:lvl8pPr>
              <a:defRPr sz="1800" b="0">
                <a:solidFill>
                  <a:srgbClr val="516476"/>
                </a:solidFill>
                <a:latin typeface="Helvetica Neue"/>
                <a:ea typeface="Helvetica Neue"/>
                <a:cs typeface="Helvetica Neue"/>
              </a:defRPr>
            </a:lvl8pPr>
            <a:lvl9pPr>
              <a:defRPr sz="1800" b="0">
                <a:solidFill>
                  <a:srgbClr val="516476"/>
                </a:solidFill>
                <a:latin typeface="Helvetica Neue"/>
                <a:ea typeface="Helvetica Neue"/>
                <a:cs typeface="Helvetica Neue"/>
              </a:defRPr>
            </a:lvl9pPr>
          </a:lstStyle>
          <a:p xmlns:a="http://schemas.openxmlformats.org/drawingml/2006/main">
            <a:pPr>
              <a:defRPr sz="1800" b="0">
                <a:solidFill>
                  <a:srgbClr val="516476"/>
                </a:solidFill>
                <a:latin typeface="Helvetica Neue"/>
                <a:ea typeface="Helvetica Neue"/>
                <a:cs typeface="Helvetica Neue"/>
              </a:defRPr>
            </a:pPr>
            <a:r>
              <a:rPr sz="1800" b="0">
                <a:solidFill>
                  <a:srgbClr val="516476"/>
                </a:solidFill>
                <a:latin typeface="Helvetica Neue"/>
                <a:ea typeface="Helvetica Neue"/>
                <a:cs typeface="Helvetica Neue"/>
              </a:rPr>
              <a:t>S / M / L: 4 / 10 / 15 customers, 2 / 3 / 4 vehicles, capacity 7 / 20 / 30. Ceiling: 80 atoms.</a:t>
            </a:r>
          </a:p>
        </p:txBody>
      </p:sp>
      <p:sp>
        <p:nvSpPr>
          <p:cNvPr id="6" name="">
            <a:extLst xmlns:a="http://schemas.openxmlformats.org/drawingml/2006/main">
              <a:ext uri="{FF2B5EF4-FFF2-40B4-BE49-F238E27FC236}">
                <a16:creationId xmlns:a16="http://schemas.microsoft.com/office/drawing/2014/main" id="{AB47B29C-B231-44DD-ABBF-50F194DD557E}"/>
              </a:ext>
            </a:extLst>
          </p:cNvPr>
          <p:cNvSpPr>
            <a:spLocks xmlns:a="http://schemas.openxmlformats.org/drawingml/2006/main" noGrp="1"/>
          </p:cNvSpPr>
          <p:nvPr/>
        </p:nvSpPr>
        <p:spPr>
          <a:xfrm xmlns:a="http://schemas.openxmlformats.org/drawingml/2006/main">
            <a:off x="571500" y="56578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C4B3D"/>
                </a:solidFill>
                <a:latin typeface="Helvetica Neue"/>
                <a:ea typeface="Helvetica Neue"/>
                <a:cs typeface="Helvetica Neue"/>
              </a:defRPr>
            </a:defPPr>
            <a:lvl1pPr>
              <a:defRPr sz="2325" b="1">
                <a:solidFill>
                  <a:srgbClr val="AC4B3D"/>
                </a:solidFill>
                <a:latin typeface="Helvetica Neue"/>
                <a:ea typeface="Helvetica Neue"/>
                <a:cs typeface="Helvetica Neue"/>
              </a:defRPr>
            </a:lvl1pPr>
            <a:lvl2pPr>
              <a:defRPr sz="2325" b="1">
                <a:solidFill>
                  <a:srgbClr val="AC4B3D"/>
                </a:solidFill>
                <a:latin typeface="Helvetica Neue"/>
                <a:ea typeface="Helvetica Neue"/>
                <a:cs typeface="Helvetica Neue"/>
              </a:defRPr>
            </a:lvl2pPr>
            <a:lvl3pPr>
              <a:defRPr sz="2325" b="1">
                <a:solidFill>
                  <a:srgbClr val="AC4B3D"/>
                </a:solidFill>
                <a:latin typeface="Helvetica Neue"/>
                <a:ea typeface="Helvetica Neue"/>
                <a:cs typeface="Helvetica Neue"/>
              </a:defRPr>
            </a:lvl3pPr>
            <a:lvl4pPr>
              <a:defRPr sz="2325" b="1">
                <a:solidFill>
                  <a:srgbClr val="AC4B3D"/>
                </a:solidFill>
                <a:latin typeface="Helvetica Neue"/>
                <a:ea typeface="Helvetica Neue"/>
                <a:cs typeface="Helvetica Neue"/>
              </a:defRPr>
            </a:lvl4pPr>
            <a:lvl5pPr>
              <a:defRPr sz="2325" b="1">
                <a:solidFill>
                  <a:srgbClr val="AC4B3D"/>
                </a:solidFill>
                <a:latin typeface="Helvetica Neue"/>
                <a:ea typeface="Helvetica Neue"/>
                <a:cs typeface="Helvetica Neue"/>
              </a:defRPr>
            </a:lvl5pPr>
            <a:lvl6pPr>
              <a:defRPr sz="2325" b="1">
                <a:solidFill>
                  <a:srgbClr val="AC4B3D"/>
                </a:solidFill>
                <a:latin typeface="Helvetica Neue"/>
                <a:ea typeface="Helvetica Neue"/>
                <a:cs typeface="Helvetica Neue"/>
              </a:defRPr>
            </a:lvl6pPr>
            <a:lvl7pPr>
              <a:defRPr sz="2325" b="1">
                <a:solidFill>
                  <a:srgbClr val="AC4B3D"/>
                </a:solidFill>
                <a:latin typeface="Helvetica Neue"/>
                <a:ea typeface="Helvetica Neue"/>
                <a:cs typeface="Helvetica Neue"/>
              </a:defRPr>
            </a:lvl7pPr>
            <a:lvl8pPr>
              <a:defRPr sz="2325" b="1">
                <a:solidFill>
                  <a:srgbClr val="AC4B3D"/>
                </a:solidFill>
                <a:latin typeface="Helvetica Neue"/>
                <a:ea typeface="Helvetica Neue"/>
                <a:cs typeface="Helvetica Neue"/>
              </a:defRPr>
            </a:lvl8pPr>
            <a:lvl9pPr>
              <a:defRPr sz="2325" b="1">
                <a:solidFill>
                  <a:srgbClr val="AC4B3D"/>
                </a:solidFill>
                <a:latin typeface="Helvetica Neue"/>
                <a:ea typeface="Helvetica Neue"/>
                <a:cs typeface="Helvetica Neue"/>
              </a:defRPr>
            </a:lvl9pPr>
          </a:lstStyle>
          <a:p xmlns:a="http://schemas.openxmlformats.org/drawingml/2006/main">
            <a:pPr>
              <a:defRPr sz="2325" b="1">
                <a:solidFill>
                  <a:srgbClr val="AC4B3D"/>
                </a:solidFill>
                <a:latin typeface="Helvetica Neue"/>
                <a:ea typeface="Helvetica Neue"/>
                <a:cs typeface="Helvetica Neue"/>
              </a:defRPr>
            </a:pPr>
            <a:r>
              <a:rPr sz="2325" b="1">
                <a:solidFill>
                  <a:srgbClr val="AC4B3D"/>
                </a:solidFill>
                <a:latin typeface="Helvetica Neue"/>
                <a:ea typeface="Helvetica Neue"/>
                <a:cs typeface="Helvetica Neue"/>
              </a:rPr>
              <a:t>Capacity remains a soft constraint in the reduced model.</a:t>
            </a:r>
          </a:p>
        </p:txBody>
      </p:sp>
    </p:spTree>
    <p:extLst>
      <p:ext uri="{BB962C8B-B14F-4D97-AF65-F5344CB8AC3E}">
        <p14:creationId xmlns:p14="http://schemas.microsoft.com/office/powerpoint/2010/main" val="2014587604"/>
      </p:ext>
    </p:extLst>
  </p:cSld>
</p:sld>
</file>

<file path=ppt/slides/slide5.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396F8A-81D8-41E8-9E7D-088C33A06CC1}"/>
              </a:ext>
            </a:extLst>
          </p:cNvPr>
          <p:cNvSpPr>
            <a:spLocks xmlns:a="http://schemas.openxmlformats.org/drawingml/2006/main" noGrp="1"/>
          </p:cNvSpPr>
          <p:nvPr/>
        </p:nvSpPr>
        <p:spPr>
          <a:xfrm xmlns:a="http://schemas.openxmlformats.org/drawingml/2006/main">
            <a:off x="571500" y="34290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42536"/>
                </a:solidFill>
                <a:latin typeface="Helvetica Neue"/>
                <a:ea typeface="Helvetica Neue"/>
                <a:cs typeface="Helvetica Neue"/>
              </a:defRPr>
            </a:defPPr>
            <a:lvl1pPr>
              <a:defRPr sz="3225" b="1">
                <a:solidFill>
                  <a:srgbClr val="142536"/>
                </a:solidFill>
                <a:latin typeface="Helvetica Neue"/>
                <a:ea typeface="Helvetica Neue"/>
                <a:cs typeface="Helvetica Neue"/>
              </a:defRPr>
            </a:lvl1pPr>
            <a:lvl2pPr>
              <a:defRPr sz="3225" b="1">
                <a:solidFill>
                  <a:srgbClr val="142536"/>
                </a:solidFill>
                <a:latin typeface="Helvetica Neue"/>
                <a:ea typeface="Helvetica Neue"/>
                <a:cs typeface="Helvetica Neue"/>
              </a:defRPr>
            </a:lvl2pPr>
            <a:lvl3pPr>
              <a:defRPr sz="3225" b="1">
                <a:solidFill>
                  <a:srgbClr val="142536"/>
                </a:solidFill>
                <a:latin typeface="Helvetica Neue"/>
                <a:ea typeface="Helvetica Neue"/>
                <a:cs typeface="Helvetica Neue"/>
              </a:defRPr>
            </a:lvl3pPr>
            <a:lvl4pPr>
              <a:defRPr sz="3225" b="1">
                <a:solidFill>
                  <a:srgbClr val="142536"/>
                </a:solidFill>
                <a:latin typeface="Helvetica Neue"/>
                <a:ea typeface="Helvetica Neue"/>
                <a:cs typeface="Helvetica Neue"/>
              </a:defRPr>
            </a:lvl4pPr>
            <a:lvl5pPr>
              <a:defRPr sz="3225" b="1">
                <a:solidFill>
                  <a:srgbClr val="142536"/>
                </a:solidFill>
                <a:latin typeface="Helvetica Neue"/>
                <a:ea typeface="Helvetica Neue"/>
                <a:cs typeface="Helvetica Neue"/>
              </a:defRPr>
            </a:lvl5pPr>
            <a:lvl6pPr>
              <a:defRPr sz="3225" b="1">
                <a:solidFill>
                  <a:srgbClr val="142536"/>
                </a:solidFill>
                <a:latin typeface="Helvetica Neue"/>
                <a:ea typeface="Helvetica Neue"/>
                <a:cs typeface="Helvetica Neue"/>
              </a:defRPr>
            </a:lvl6pPr>
            <a:lvl7pPr>
              <a:defRPr sz="3225" b="1">
                <a:solidFill>
                  <a:srgbClr val="142536"/>
                </a:solidFill>
                <a:latin typeface="Helvetica Neue"/>
                <a:ea typeface="Helvetica Neue"/>
                <a:cs typeface="Helvetica Neue"/>
              </a:defRPr>
            </a:lvl7pPr>
            <a:lvl8pPr>
              <a:defRPr sz="3225" b="1">
                <a:solidFill>
                  <a:srgbClr val="142536"/>
                </a:solidFill>
                <a:latin typeface="Helvetica Neue"/>
                <a:ea typeface="Helvetica Neue"/>
                <a:cs typeface="Helvetica Neue"/>
              </a:defRPr>
            </a:lvl8pPr>
            <a:lvl9pPr>
              <a:defRPr sz="3225" b="1">
                <a:solidFill>
                  <a:srgbClr val="142536"/>
                </a:solidFill>
                <a:latin typeface="Helvetica Neue"/>
                <a:ea typeface="Helvetica Neue"/>
                <a:cs typeface="Helvetica Neue"/>
              </a:defRPr>
            </a:lvl9pPr>
          </a:lstStyle>
          <a:p xmlns:a="http://schemas.openxmlformats.org/drawingml/2006/main">
            <a:pPr>
              <a:defRPr sz="3225" b="1">
                <a:solidFill>
                  <a:srgbClr val="142536"/>
                </a:solidFill>
                <a:latin typeface="Helvetica Neue"/>
                <a:ea typeface="Helvetica Neue"/>
                <a:cs typeface="Helvetica Neue"/>
              </a:defRPr>
            </a:pPr>
            <a:r>
              <a:rPr sz="3225" b="1">
                <a:solidFill>
                  <a:srgbClr val="142536"/>
                </a:solidFill>
                <a:latin typeface="Helvetica Neue"/>
                <a:ea typeface="Helvetica Neue"/>
                <a:cs typeface="Helvetica Neue"/>
              </a:rPr>
              <a:t>Instance generation and verification</a:t>
            </a:r>
          </a:p>
        </p:txBody>
      </p:sp>
      <p:sp>
        <p:nvSpPr>
          <p:cNvPr id="2" name="">
            <a:extLst xmlns:a="http://schemas.openxmlformats.org/drawingml/2006/main">
              <a:ext uri="{FF2B5EF4-FFF2-40B4-BE49-F238E27FC236}">
                <a16:creationId xmlns:a16="http://schemas.microsoft.com/office/drawing/2014/main" id="{994267D9-F633-487C-A7B7-FCD1D9DA39F9}"/>
              </a:ext>
            </a:extLst>
          </p:cNvPr>
          <p:cNvSpPr>
            <a:spLocks xmlns:a="http://schemas.openxmlformats.org/drawingml/2006/main" noGrp="1"/>
          </p:cNvSpPr>
          <p:nvPr/>
        </p:nvSpPr>
        <p:spPr>
          <a:xfrm xmlns:a="http://schemas.openxmlformats.org/drawingml/2006/main">
            <a:off x="11001375" y="63817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16476"/>
                </a:solidFill>
                <a:latin typeface="Helvetica Neue"/>
                <a:ea typeface="Helvetica Neue"/>
                <a:cs typeface="Helvetica Neue"/>
              </a:defRPr>
            </a:defPPr>
            <a:lvl1pPr>
              <a:defRPr sz="1350" b="0">
                <a:solidFill>
                  <a:srgbClr val="516476"/>
                </a:solidFill>
                <a:latin typeface="Helvetica Neue"/>
                <a:ea typeface="Helvetica Neue"/>
                <a:cs typeface="Helvetica Neue"/>
              </a:defRPr>
            </a:lvl1pPr>
            <a:lvl2pPr>
              <a:defRPr sz="1350" b="0">
                <a:solidFill>
                  <a:srgbClr val="516476"/>
                </a:solidFill>
                <a:latin typeface="Helvetica Neue"/>
                <a:ea typeface="Helvetica Neue"/>
                <a:cs typeface="Helvetica Neue"/>
              </a:defRPr>
            </a:lvl2pPr>
            <a:lvl3pPr>
              <a:defRPr sz="1350" b="0">
                <a:solidFill>
                  <a:srgbClr val="516476"/>
                </a:solidFill>
                <a:latin typeface="Helvetica Neue"/>
                <a:ea typeface="Helvetica Neue"/>
                <a:cs typeface="Helvetica Neue"/>
              </a:defRPr>
            </a:lvl3pPr>
            <a:lvl4pPr>
              <a:defRPr sz="1350" b="0">
                <a:solidFill>
                  <a:srgbClr val="516476"/>
                </a:solidFill>
                <a:latin typeface="Helvetica Neue"/>
                <a:ea typeface="Helvetica Neue"/>
                <a:cs typeface="Helvetica Neue"/>
              </a:defRPr>
            </a:lvl4pPr>
            <a:lvl5pPr>
              <a:defRPr sz="1350" b="0">
                <a:solidFill>
                  <a:srgbClr val="516476"/>
                </a:solidFill>
                <a:latin typeface="Helvetica Neue"/>
                <a:ea typeface="Helvetica Neue"/>
                <a:cs typeface="Helvetica Neue"/>
              </a:defRPr>
            </a:lvl5pPr>
            <a:lvl6pPr>
              <a:defRPr sz="1350" b="0">
                <a:solidFill>
                  <a:srgbClr val="516476"/>
                </a:solidFill>
                <a:latin typeface="Helvetica Neue"/>
                <a:ea typeface="Helvetica Neue"/>
                <a:cs typeface="Helvetica Neue"/>
              </a:defRPr>
            </a:lvl6pPr>
            <a:lvl7pPr>
              <a:defRPr sz="1350" b="0">
                <a:solidFill>
                  <a:srgbClr val="516476"/>
                </a:solidFill>
                <a:latin typeface="Helvetica Neue"/>
                <a:ea typeface="Helvetica Neue"/>
                <a:cs typeface="Helvetica Neue"/>
              </a:defRPr>
            </a:lvl7pPr>
            <a:lvl8pPr>
              <a:defRPr sz="1350" b="0">
                <a:solidFill>
                  <a:srgbClr val="516476"/>
                </a:solidFill>
                <a:latin typeface="Helvetica Neue"/>
                <a:ea typeface="Helvetica Neue"/>
                <a:cs typeface="Helvetica Neue"/>
              </a:defRPr>
            </a:lvl8pPr>
            <a:lvl9pPr>
              <a:defRPr sz="1350" b="0">
                <a:solidFill>
                  <a:srgbClr val="516476"/>
                </a:solidFill>
                <a:latin typeface="Helvetica Neue"/>
                <a:ea typeface="Helvetica Neue"/>
                <a:cs typeface="Helvetica Neue"/>
              </a:defRPr>
            </a:lvl9pPr>
          </a:lstStyle>
          <a:p xmlns:a="http://schemas.openxmlformats.org/drawingml/2006/main">
            <a:pPr>
              <a:defRPr sz="1350" b="0">
                <a:solidFill>
                  <a:srgbClr val="516476"/>
                </a:solidFill>
                <a:latin typeface="Helvetica Neue"/>
                <a:ea typeface="Helvetica Neue"/>
                <a:cs typeface="Helvetica Neue"/>
              </a:defRPr>
            </a:pPr>
            <a:r>
              <a:rPr sz="1350" b="0">
                <a:solidFill>
                  <a:srgbClr val="516476"/>
                </a:solidFill>
                <a:latin typeface="Helvetica Neue"/>
                <a:ea typeface="Helvetica Neue"/>
                <a:cs typeface="Helvetica Neue"/>
              </a:rPr>
              <a:t>5 / 11</a:t>
            </a:r>
          </a:p>
        </p:txBody>
      </p:sp>
      <p:sp>
        <p:nvSpPr>
          <p:cNvPr id="3" name="">
            <a:extLst xmlns:a="http://schemas.openxmlformats.org/drawingml/2006/main">
              <a:ext uri="{FF2B5EF4-FFF2-40B4-BE49-F238E27FC236}">
                <a16:creationId xmlns:a16="http://schemas.microsoft.com/office/drawing/2014/main" id="{E99F42F9-A864-4E50-BEFD-D1565E22C1B1}"/>
              </a:ext>
            </a:extLst>
          </p:cNvPr>
          <p:cNvSpPr>
            <a:spLocks xmlns:a="http://schemas.openxmlformats.org/drawingml/2006/main" noGrp="1"/>
          </p:cNvSpPr>
          <p:nvPr/>
        </p:nvSpPr>
        <p:spPr>
          <a:xfrm xmlns:a="http://schemas.openxmlformats.org/drawingml/2006/main">
            <a:off x="571500" y="13811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516476"/>
                </a:solidFill>
                <a:latin typeface="Helvetica Neue"/>
                <a:ea typeface="Helvetica Neue"/>
                <a:cs typeface="Helvetica Neue"/>
              </a:defRPr>
            </a:defPPr>
            <a:lvl1pPr>
              <a:defRPr sz="2025" b="0">
                <a:solidFill>
                  <a:srgbClr val="516476"/>
                </a:solidFill>
                <a:latin typeface="Helvetica Neue"/>
                <a:ea typeface="Helvetica Neue"/>
                <a:cs typeface="Helvetica Neue"/>
              </a:defRPr>
            </a:lvl1pPr>
            <a:lvl2pPr>
              <a:defRPr sz="2025" b="0">
                <a:solidFill>
                  <a:srgbClr val="516476"/>
                </a:solidFill>
                <a:latin typeface="Helvetica Neue"/>
                <a:ea typeface="Helvetica Neue"/>
                <a:cs typeface="Helvetica Neue"/>
              </a:defRPr>
            </a:lvl2pPr>
            <a:lvl3pPr>
              <a:defRPr sz="2025" b="0">
                <a:solidFill>
                  <a:srgbClr val="516476"/>
                </a:solidFill>
                <a:latin typeface="Helvetica Neue"/>
                <a:ea typeface="Helvetica Neue"/>
                <a:cs typeface="Helvetica Neue"/>
              </a:defRPr>
            </a:lvl3pPr>
            <a:lvl4pPr>
              <a:defRPr sz="2025" b="0">
                <a:solidFill>
                  <a:srgbClr val="516476"/>
                </a:solidFill>
                <a:latin typeface="Helvetica Neue"/>
                <a:ea typeface="Helvetica Neue"/>
                <a:cs typeface="Helvetica Neue"/>
              </a:defRPr>
            </a:lvl4pPr>
            <a:lvl5pPr>
              <a:defRPr sz="2025" b="0">
                <a:solidFill>
                  <a:srgbClr val="516476"/>
                </a:solidFill>
                <a:latin typeface="Helvetica Neue"/>
                <a:ea typeface="Helvetica Neue"/>
                <a:cs typeface="Helvetica Neue"/>
              </a:defRPr>
            </a:lvl5pPr>
            <a:lvl6pPr>
              <a:defRPr sz="2025" b="0">
                <a:solidFill>
                  <a:srgbClr val="516476"/>
                </a:solidFill>
                <a:latin typeface="Helvetica Neue"/>
                <a:ea typeface="Helvetica Neue"/>
                <a:cs typeface="Helvetica Neue"/>
              </a:defRPr>
            </a:lvl6pPr>
            <a:lvl7pPr>
              <a:defRPr sz="2025" b="0">
                <a:solidFill>
                  <a:srgbClr val="516476"/>
                </a:solidFill>
                <a:latin typeface="Helvetica Neue"/>
                <a:ea typeface="Helvetica Neue"/>
                <a:cs typeface="Helvetica Neue"/>
              </a:defRPr>
            </a:lvl7pPr>
            <a:lvl8pPr>
              <a:defRPr sz="2025" b="0">
                <a:solidFill>
                  <a:srgbClr val="516476"/>
                </a:solidFill>
                <a:latin typeface="Helvetica Neue"/>
                <a:ea typeface="Helvetica Neue"/>
                <a:cs typeface="Helvetica Neue"/>
              </a:defRPr>
            </a:lvl8pPr>
            <a:lvl9pPr>
              <a:defRPr sz="2025" b="0">
                <a:solidFill>
                  <a:srgbClr val="516476"/>
                </a:solidFill>
                <a:latin typeface="Helvetica Neue"/>
                <a:ea typeface="Helvetica Neue"/>
                <a:cs typeface="Helvetica Neue"/>
              </a:defRPr>
            </a:lvl9pPr>
          </a:lstStyle>
          <a:p xmlns:a="http://schemas.openxmlformats.org/drawingml/2006/main">
            <a:pPr>
              <a:defRPr sz="2025" b="0">
                <a:solidFill>
                  <a:srgbClr val="516476"/>
                </a:solidFill>
                <a:latin typeface="Helvetica Neue"/>
                <a:ea typeface="Helvetica Neue"/>
                <a:cs typeface="Helvetica Neue"/>
              </a:defRPr>
            </a:pPr>
            <a:r>
              <a:rPr sz="2025" b="0">
                <a:solidFill>
                  <a:srgbClr val="516476"/>
                </a:solidFill>
                <a:latin typeface="Helvetica Neue"/>
                <a:ea typeface="Helvetica Neue"/>
                <a:cs typeface="Helvetica Neue"/>
              </a:rPr>
              <a:t>20 problems selected before emulation. Capacity changes the best clustering in every case.</a:t>
            </a:r>
          </a:p>
        </p:txBody>
      </p:sp>
      <p:graphicFrame>
        <p:nvGraphicFramePr>
          <p:cNvPr id="4" name="">
            <a:extLst xmlns:a="http://schemas.openxmlformats.org/drawingml/2006/main">
              <a:ext uri="{FF2B5EF4-FFF2-40B4-BE49-F238E27FC236}">
                <a16:creationId xmlns:a16="http://schemas.microsoft.com/office/drawing/2014/main" id="{F92F59E5-990E-4282-9F64-141D7E7371C0}"/>
              </a:ext>
            </a:extLst>
          </p:cNvPr>
          <p:cNvGraphicFramePr/>
          <p:nvPr/>
        </p:nvGraphicFramePr>
        <p:xfrm>
          <a:off xmlns:a="http://schemas.openxmlformats.org/drawingml/2006/main" x="571500" y="2143125"/>
          <a:ext xmlns:a="http://schemas.openxmlformats.org/drawingml/2006/main" cx="11049000" cy="2095500"/>
        </p:xfrm>
        <a:graphic xmlns:a="http://schemas.openxmlformats.org/drawingml/2006/main">
          <a:graphicData uri="http://schemas.openxmlformats.org/drawingml/2006/table">
            <a:tbl>
              <a:tblPr firstRow="1" bandRow="0"/>
              <a:tblGrid>
                <a:gridCol w="1905000"/>
                <a:gridCol w="1809750"/>
                <a:gridCol w="1905000"/>
                <a:gridCol w="1809750"/>
                <a:gridCol w="1809750"/>
                <a:gridCol w="1809750"/>
              </a:tblGrid>
              <a:tr h="523875">
                <a:tc>
                  <a:txBody>
                    <a:bodyPr/>
                    <a:lstStyle/>
                    <a:p>
                      <a:r>
                        <a:rPr sz="1950" b="1">
                          <a:solidFill>
                            <a:srgbClr val="FFFFFF"/>
                          </a:solidFill>
                          <a:latin typeface="Helvetica Neue"/>
                          <a:ea typeface="Helvetica Neue"/>
                          <a:cs typeface="Helvetica Neue"/>
                        </a:rPr>
                        <a:t>Tier</a:t>
                      </a:r>
                    </a:p>
                  </a:txBody>
                  <a:tcPr marL="142875" marR="142875" marT="76200" marB="76200" anchor="ctr">
                    <a:lnL w="9525">
                      <a:solidFill>
                        <a:srgbClr val="DCE5EA"/>
                      </a:solidFill>
                      <a:prstDash val="solid"/>
                    </a:lnL>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950" b="1">
                          <a:solidFill>
                            <a:srgbClr val="FFFFFF"/>
                          </a:solidFill>
                          <a:latin typeface="Helvetica Neue"/>
                          <a:ea typeface="Helvetica Neue"/>
                          <a:cs typeface="Helvetica Neue"/>
                        </a:rPr>
                        <a:t>Problems</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950" b="1">
                          <a:solidFill>
                            <a:srgbClr val="FFFFFF"/>
                          </a:solidFill>
                          <a:latin typeface="Helvetica Neue"/>
                          <a:ea typeface="Helvetica Neue"/>
                          <a:cs typeface="Helvetica Neue"/>
                        </a:rPr>
                        <a:t>Customers</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950" b="1">
                          <a:solidFill>
                            <a:srgbClr val="FFFFFF"/>
                          </a:solidFill>
                          <a:latin typeface="Helvetica Neue"/>
                          <a:ea typeface="Helvetica Neue"/>
                          <a:cs typeface="Helvetica Neue"/>
                        </a:rPr>
                        <a:t>Vehicles</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950" b="1">
                          <a:solidFill>
                            <a:srgbClr val="FFFFFF"/>
                          </a:solidFill>
                          <a:latin typeface="Helvetica Neue"/>
                          <a:ea typeface="Helvetica Neue"/>
                          <a:cs typeface="Helvetica Neue"/>
                        </a:rPr>
                        <a:t>Capacity</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950" b="1">
                          <a:solidFill>
                            <a:srgbClr val="FFFFFF"/>
                          </a:solidFill>
                          <a:latin typeface="Helvetica Neue"/>
                          <a:ea typeface="Helvetica Neue"/>
                          <a:cs typeface="Helvetica Neue"/>
                        </a:rPr>
                        <a:t>Demands</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r>
              <a:tr h="523875">
                <a:tc>
                  <a:txBody>
                    <a:bodyPr/>
                    <a:lstStyle/>
                    <a:p>
                      <a:r>
                        <a:rPr sz="1950" b="0">
                          <a:solidFill>
                            <a:srgbClr val="142536"/>
                          </a:solidFill>
                          <a:latin typeface="Helvetica Neue"/>
                          <a:ea typeface="Helvetica Neue"/>
                          <a:cs typeface="Helvetica Neue"/>
                        </a:rPr>
                        <a:t>Small</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10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4</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2</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7</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1–4</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r h="523875">
                <a:tc>
                  <a:txBody>
                    <a:bodyPr/>
                    <a:lstStyle/>
                    <a:p>
                      <a:r>
                        <a:rPr sz="1950" b="0">
                          <a:solidFill>
                            <a:srgbClr val="142536"/>
                          </a:solidFill>
                          <a:latin typeface="Helvetica Neue"/>
                          <a:ea typeface="Helvetica Neue"/>
                          <a:cs typeface="Helvetica Neue"/>
                        </a:rPr>
                        <a:t>Medium</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1F5F7"/>
                    </a:solidFill>
                  </a:tcPr>
                </a:tc>
                <a:tc>
                  <a:txBody>
                    <a:bodyPr/>
                    <a:lstStyle/>
                    <a:p>
                      <a:r>
                        <a:rPr sz="1950" b="0">
                          <a:solidFill>
                            <a:srgbClr val="142536"/>
                          </a:solidFill>
                          <a:latin typeface="Helvetica Neue"/>
                          <a:ea typeface="Helvetica Neue"/>
                          <a:cs typeface="Helvetica Neue"/>
                        </a:rPr>
                        <a:t>5</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950" b="0">
                          <a:solidFill>
                            <a:srgbClr val="142536"/>
                          </a:solidFill>
                          <a:latin typeface="Helvetica Neue"/>
                          <a:ea typeface="Helvetica Neue"/>
                          <a:cs typeface="Helvetica Neue"/>
                        </a:rPr>
                        <a:t>10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950" b="0">
                          <a:solidFill>
                            <a:srgbClr val="142536"/>
                          </a:solidFill>
                          <a:latin typeface="Helvetica Neue"/>
                          <a:ea typeface="Helvetica Neue"/>
                          <a:cs typeface="Helvetica Neue"/>
                        </a:rPr>
                        <a:t>3</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950" b="0">
                          <a:solidFill>
                            <a:srgbClr val="142536"/>
                          </a:solidFill>
                          <a:latin typeface="Helvetica Neue"/>
                          <a:ea typeface="Helvetica Neue"/>
                          <a:cs typeface="Helvetica Neue"/>
                        </a:rPr>
                        <a:t>20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950" b="0">
                          <a:solidFill>
                            <a:srgbClr val="142536"/>
                          </a:solidFill>
                          <a:latin typeface="Helvetica Neue"/>
                          <a:ea typeface="Helvetica Neue"/>
                          <a:cs typeface="Helvetica Neue"/>
                        </a:rPr>
                        <a:t>1–8</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r>
              <a:tr h="523875">
                <a:tc>
                  <a:txBody>
                    <a:bodyPr/>
                    <a:lstStyle/>
                    <a:p>
                      <a:r>
                        <a:rPr sz="1950" b="0">
                          <a:solidFill>
                            <a:srgbClr val="142536"/>
                          </a:solidFill>
                          <a:latin typeface="Helvetica Neue"/>
                          <a:ea typeface="Helvetica Neue"/>
                          <a:cs typeface="Helvetica Neue"/>
                        </a:rPr>
                        <a:t>Large</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5</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15</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4</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30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950" b="0">
                          <a:solidFill>
                            <a:srgbClr val="142536"/>
                          </a:solidFill>
                          <a:latin typeface="Helvetica Neue"/>
                          <a:ea typeface="Helvetica Neue"/>
                          <a:cs typeface="Helvetica Neue"/>
                        </a:rPr>
                        <a:t>1–10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60D4D34-777A-46A0-A6B4-0A78C366918E}"/>
              </a:ext>
            </a:extLst>
          </p:cNvPr>
          <p:cNvSpPr>
            <a:spLocks xmlns:a="http://schemas.openxmlformats.org/drawingml/2006/main" noGrp="1"/>
          </p:cNvSpPr>
          <p:nvPr/>
        </p:nvSpPr>
        <p:spPr>
          <a:xfrm xmlns:a="http://schemas.openxmlformats.org/drawingml/2006/main">
            <a:off x="571500" y="45529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6A91"/>
                </a:solidFill>
                <a:latin typeface="Helvetica Neue"/>
                <a:ea typeface="Helvetica Neue"/>
                <a:cs typeface="Helvetica Neue"/>
              </a:defRPr>
            </a:defPPr>
            <a:lvl1pPr>
              <a:defRPr sz="2100" b="1">
                <a:solidFill>
                  <a:srgbClr val="186A91"/>
                </a:solidFill>
                <a:latin typeface="Helvetica Neue"/>
                <a:ea typeface="Helvetica Neue"/>
                <a:cs typeface="Helvetica Neue"/>
              </a:defRPr>
            </a:lvl1pPr>
            <a:lvl2pPr>
              <a:defRPr sz="2100" b="1">
                <a:solidFill>
                  <a:srgbClr val="186A91"/>
                </a:solidFill>
                <a:latin typeface="Helvetica Neue"/>
                <a:ea typeface="Helvetica Neue"/>
                <a:cs typeface="Helvetica Neue"/>
              </a:defRPr>
            </a:lvl2pPr>
            <a:lvl3pPr>
              <a:defRPr sz="2100" b="1">
                <a:solidFill>
                  <a:srgbClr val="186A91"/>
                </a:solidFill>
                <a:latin typeface="Helvetica Neue"/>
                <a:ea typeface="Helvetica Neue"/>
                <a:cs typeface="Helvetica Neue"/>
              </a:defRPr>
            </a:lvl3pPr>
            <a:lvl4pPr>
              <a:defRPr sz="2100" b="1">
                <a:solidFill>
                  <a:srgbClr val="186A91"/>
                </a:solidFill>
                <a:latin typeface="Helvetica Neue"/>
                <a:ea typeface="Helvetica Neue"/>
                <a:cs typeface="Helvetica Neue"/>
              </a:defRPr>
            </a:lvl4pPr>
            <a:lvl5pPr>
              <a:defRPr sz="2100" b="1">
                <a:solidFill>
                  <a:srgbClr val="186A91"/>
                </a:solidFill>
                <a:latin typeface="Helvetica Neue"/>
                <a:ea typeface="Helvetica Neue"/>
                <a:cs typeface="Helvetica Neue"/>
              </a:defRPr>
            </a:lvl5pPr>
            <a:lvl6pPr>
              <a:defRPr sz="2100" b="1">
                <a:solidFill>
                  <a:srgbClr val="186A91"/>
                </a:solidFill>
                <a:latin typeface="Helvetica Neue"/>
                <a:ea typeface="Helvetica Neue"/>
                <a:cs typeface="Helvetica Neue"/>
              </a:defRPr>
            </a:lvl6pPr>
            <a:lvl7pPr>
              <a:defRPr sz="2100" b="1">
                <a:solidFill>
                  <a:srgbClr val="186A91"/>
                </a:solidFill>
                <a:latin typeface="Helvetica Neue"/>
                <a:ea typeface="Helvetica Neue"/>
                <a:cs typeface="Helvetica Neue"/>
              </a:defRPr>
            </a:lvl7pPr>
            <a:lvl8pPr>
              <a:defRPr sz="2100" b="1">
                <a:solidFill>
                  <a:srgbClr val="186A91"/>
                </a:solidFill>
                <a:latin typeface="Helvetica Neue"/>
                <a:ea typeface="Helvetica Neue"/>
                <a:cs typeface="Helvetica Neue"/>
              </a:defRPr>
            </a:lvl8pPr>
            <a:lvl9pPr>
              <a:defRPr sz="2100" b="1">
                <a:solidFill>
                  <a:srgbClr val="186A91"/>
                </a:solidFill>
                <a:latin typeface="Helvetica Neue"/>
                <a:ea typeface="Helvetica Neue"/>
                <a:cs typeface="Helvetica Neue"/>
              </a:defRPr>
            </a:lvl9pPr>
          </a:lstStyle>
          <a:p xmlns:a="http://schemas.openxmlformats.org/drawingml/2006/main">
            <a:pPr>
              <a:defRPr sz="2100" b="1">
                <a:solidFill>
                  <a:srgbClr val="186A91"/>
                </a:solidFill>
                <a:latin typeface="Helvetica Neue"/>
                <a:ea typeface="Helvetica Neue"/>
                <a:cs typeface="Helvetica Neue"/>
              </a:defRPr>
            </a:pPr>
            <a:r>
              <a:rPr sz="2100" b="1">
                <a:solidFill>
                  <a:srgbClr val="186A91"/>
                </a:solidFill>
                <a:latin typeface="Helvetica Neue"/>
                <a:ea typeface="Helvetica Neue"/>
                <a:cs typeface="Helvetica Neue"/>
              </a:rPr>
              <a:t>Generate and screen</a:t>
            </a:r>
          </a:p>
        </p:txBody>
      </p:sp>
      <p:sp>
        <p:nvSpPr>
          <p:cNvPr id="6" name="">
            <a:extLst xmlns:a="http://schemas.openxmlformats.org/drawingml/2006/main">
              <a:ext uri="{FF2B5EF4-FFF2-40B4-BE49-F238E27FC236}">
                <a16:creationId xmlns:a16="http://schemas.microsoft.com/office/drawing/2014/main" id="{19C8770D-D5B4-49AE-8C4B-32568AE81934}"/>
              </a:ext>
            </a:extLst>
          </p:cNvPr>
          <p:cNvSpPr>
            <a:spLocks xmlns:a="http://schemas.openxmlformats.org/drawingml/2006/main" noGrp="1"/>
          </p:cNvSpPr>
          <p:nvPr/>
        </p:nvSpPr>
        <p:spPr>
          <a:xfrm xmlns:a="http://schemas.openxmlformats.org/drawingml/2006/main">
            <a:off x="571500" y="5067300"/>
            <a:ext cx="5191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536"/>
                </a:solidFill>
                <a:latin typeface="Helvetica Neue"/>
                <a:ea typeface="Helvetica Neue"/>
                <a:cs typeface="Helvetica Neue"/>
              </a:defRPr>
            </a:defPPr>
            <a:lvl1pPr>
              <a:defRPr sz="1950" b="0">
                <a:solidFill>
                  <a:srgbClr val="142536"/>
                </a:solidFill>
                <a:latin typeface="Helvetica Neue"/>
                <a:ea typeface="Helvetica Neue"/>
                <a:cs typeface="Helvetica Neue"/>
              </a:defRPr>
            </a:lvl1pPr>
            <a:lvl2pPr>
              <a:defRPr sz="1950" b="0">
                <a:solidFill>
                  <a:srgbClr val="142536"/>
                </a:solidFill>
                <a:latin typeface="Helvetica Neue"/>
                <a:ea typeface="Helvetica Neue"/>
                <a:cs typeface="Helvetica Neue"/>
              </a:defRPr>
            </a:lvl2pPr>
            <a:lvl3pPr>
              <a:defRPr sz="1950" b="0">
                <a:solidFill>
                  <a:srgbClr val="142536"/>
                </a:solidFill>
                <a:latin typeface="Helvetica Neue"/>
                <a:ea typeface="Helvetica Neue"/>
                <a:cs typeface="Helvetica Neue"/>
              </a:defRPr>
            </a:lvl3pPr>
            <a:lvl4pPr>
              <a:defRPr sz="1950" b="0">
                <a:solidFill>
                  <a:srgbClr val="142536"/>
                </a:solidFill>
                <a:latin typeface="Helvetica Neue"/>
                <a:ea typeface="Helvetica Neue"/>
                <a:cs typeface="Helvetica Neue"/>
              </a:defRPr>
            </a:lvl4pPr>
            <a:lvl5pPr>
              <a:defRPr sz="1950" b="0">
                <a:solidFill>
                  <a:srgbClr val="142536"/>
                </a:solidFill>
                <a:latin typeface="Helvetica Neue"/>
                <a:ea typeface="Helvetica Neue"/>
                <a:cs typeface="Helvetica Neue"/>
              </a:defRPr>
            </a:lvl5pPr>
            <a:lvl6pPr>
              <a:defRPr sz="1950" b="0">
                <a:solidFill>
                  <a:srgbClr val="142536"/>
                </a:solidFill>
                <a:latin typeface="Helvetica Neue"/>
                <a:ea typeface="Helvetica Neue"/>
                <a:cs typeface="Helvetica Neue"/>
              </a:defRPr>
            </a:lvl6pPr>
            <a:lvl7pPr>
              <a:defRPr sz="1950" b="0">
                <a:solidFill>
                  <a:srgbClr val="142536"/>
                </a:solidFill>
                <a:latin typeface="Helvetica Neue"/>
                <a:ea typeface="Helvetica Neue"/>
                <a:cs typeface="Helvetica Neue"/>
              </a:defRPr>
            </a:lvl7pPr>
            <a:lvl8pPr>
              <a:defRPr sz="1950" b="0">
                <a:solidFill>
                  <a:srgbClr val="142536"/>
                </a:solidFill>
                <a:latin typeface="Helvetica Neue"/>
                <a:ea typeface="Helvetica Neue"/>
                <a:cs typeface="Helvetica Neue"/>
              </a:defRPr>
            </a:lvl8pPr>
            <a:lvl9pPr>
              <a:defRPr sz="1950" b="0">
                <a:solidFill>
                  <a:srgbClr val="142536"/>
                </a:solidFill>
                <a:latin typeface="Helvetica Neue"/>
                <a:ea typeface="Helvetica Neue"/>
                <a:cs typeface="Helvetica Neue"/>
              </a:defRPr>
            </a:lvl9pPr>
          </a:lstStyle>
          <a:p xmlns:a="http://schemas.openxmlformats.org/drawingml/2006/main">
            <a:pPr>
              <a:defRPr sz="1950" b="0">
                <a:solidFill>
                  <a:srgbClr val="142536"/>
                </a:solidFill>
                <a:latin typeface="Helvetica Neue"/>
                <a:ea typeface="Helvetica Neue"/>
                <a:cs typeface="Helvetica Neue"/>
              </a:defRPr>
            </a:pPr>
            <a:r>
              <a:rPr sz="1950" b="0">
                <a:solidFill>
                  <a:srgbClr val="142536"/>
                </a:solidFill>
                <a:latin typeface="Helvetica Neue"/>
                <a:ea typeface="Helvetica Neue"/>
                <a:cs typeface="Helvetica Neue"/>
              </a:rPr>
              <a:t>Seeded positions in a 100 by 100 square.</a:t>
            </a:r>
          </a:p>
          <a:p xmlns:a="http://schemas.openxmlformats.org/drawingml/2006/main">
            <a:pPr>
              <a:defRPr sz="1950" b="0">
                <a:solidFill>
                  <a:srgbClr val="142536"/>
                </a:solidFill>
                <a:latin typeface="Helvetica Neue"/>
                <a:ea typeface="Helvetica Neue"/>
                <a:cs typeface="Helvetica Neue"/>
              </a:defRPr>
            </a:pPr>
            <a:r>
              <a:rPr sz="1950" b="0">
                <a:solidFill>
                  <a:srgbClr val="142536"/>
                </a:solidFill>
                <a:latin typeface="Helvetica Neue"/>
                <a:ea typeface="Helvetica Neue"/>
                <a:cs typeface="Helvetica Neue"/>
              </a:rPr>
              <a:t>Reject infeasible or capacity-inactive draws.</a:t>
            </a:r>
          </a:p>
        </p:txBody>
      </p:sp>
      <p:sp>
        <p:nvSpPr>
          <p:cNvPr id="7" name="">
            <a:extLst xmlns:a="http://schemas.openxmlformats.org/drawingml/2006/main">
              <a:ext uri="{FF2B5EF4-FFF2-40B4-BE49-F238E27FC236}">
                <a16:creationId xmlns:a16="http://schemas.microsoft.com/office/drawing/2014/main" id="{27574E10-CECB-479C-836B-8011FD025756}"/>
              </a:ext>
            </a:extLst>
          </p:cNvPr>
          <p:cNvSpPr>
            <a:spLocks xmlns:a="http://schemas.openxmlformats.org/drawingml/2006/main" noGrp="1"/>
          </p:cNvSpPr>
          <p:nvPr/>
        </p:nvSpPr>
        <p:spPr>
          <a:xfrm xmlns:a="http://schemas.openxmlformats.org/drawingml/2006/main">
            <a:off x="6334125" y="45529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6A91"/>
                </a:solidFill>
                <a:latin typeface="Helvetica Neue"/>
                <a:ea typeface="Helvetica Neue"/>
                <a:cs typeface="Helvetica Neue"/>
              </a:defRPr>
            </a:defPPr>
            <a:lvl1pPr>
              <a:defRPr sz="2100" b="1">
                <a:solidFill>
                  <a:srgbClr val="186A91"/>
                </a:solidFill>
                <a:latin typeface="Helvetica Neue"/>
                <a:ea typeface="Helvetica Neue"/>
                <a:cs typeface="Helvetica Neue"/>
              </a:defRPr>
            </a:lvl1pPr>
            <a:lvl2pPr>
              <a:defRPr sz="2100" b="1">
                <a:solidFill>
                  <a:srgbClr val="186A91"/>
                </a:solidFill>
                <a:latin typeface="Helvetica Neue"/>
                <a:ea typeface="Helvetica Neue"/>
                <a:cs typeface="Helvetica Neue"/>
              </a:defRPr>
            </a:lvl2pPr>
            <a:lvl3pPr>
              <a:defRPr sz="2100" b="1">
                <a:solidFill>
                  <a:srgbClr val="186A91"/>
                </a:solidFill>
                <a:latin typeface="Helvetica Neue"/>
                <a:ea typeface="Helvetica Neue"/>
                <a:cs typeface="Helvetica Neue"/>
              </a:defRPr>
            </a:lvl3pPr>
            <a:lvl4pPr>
              <a:defRPr sz="2100" b="1">
                <a:solidFill>
                  <a:srgbClr val="186A91"/>
                </a:solidFill>
                <a:latin typeface="Helvetica Neue"/>
                <a:ea typeface="Helvetica Neue"/>
                <a:cs typeface="Helvetica Neue"/>
              </a:defRPr>
            </a:lvl4pPr>
            <a:lvl5pPr>
              <a:defRPr sz="2100" b="1">
                <a:solidFill>
                  <a:srgbClr val="186A91"/>
                </a:solidFill>
                <a:latin typeface="Helvetica Neue"/>
                <a:ea typeface="Helvetica Neue"/>
                <a:cs typeface="Helvetica Neue"/>
              </a:defRPr>
            </a:lvl5pPr>
            <a:lvl6pPr>
              <a:defRPr sz="2100" b="1">
                <a:solidFill>
                  <a:srgbClr val="186A91"/>
                </a:solidFill>
                <a:latin typeface="Helvetica Neue"/>
                <a:ea typeface="Helvetica Neue"/>
                <a:cs typeface="Helvetica Neue"/>
              </a:defRPr>
            </a:lvl6pPr>
            <a:lvl7pPr>
              <a:defRPr sz="2100" b="1">
                <a:solidFill>
                  <a:srgbClr val="186A91"/>
                </a:solidFill>
                <a:latin typeface="Helvetica Neue"/>
                <a:ea typeface="Helvetica Neue"/>
                <a:cs typeface="Helvetica Neue"/>
              </a:defRPr>
            </a:lvl7pPr>
            <a:lvl8pPr>
              <a:defRPr sz="2100" b="1">
                <a:solidFill>
                  <a:srgbClr val="186A91"/>
                </a:solidFill>
                <a:latin typeface="Helvetica Neue"/>
                <a:ea typeface="Helvetica Neue"/>
                <a:cs typeface="Helvetica Neue"/>
              </a:defRPr>
            </a:lvl8pPr>
            <a:lvl9pPr>
              <a:defRPr sz="2100" b="1">
                <a:solidFill>
                  <a:srgbClr val="186A91"/>
                </a:solidFill>
                <a:latin typeface="Helvetica Neue"/>
                <a:ea typeface="Helvetica Neue"/>
                <a:cs typeface="Helvetica Neue"/>
              </a:defRPr>
            </a:lvl9pPr>
          </a:lstStyle>
          <a:p xmlns:a="http://schemas.openxmlformats.org/drawingml/2006/main">
            <a:pPr>
              <a:defRPr sz="2100" b="1">
                <a:solidFill>
                  <a:srgbClr val="186A91"/>
                </a:solidFill>
                <a:latin typeface="Helvetica Neue"/>
                <a:ea typeface="Helvetica Neue"/>
                <a:cs typeface="Helvetica Neue"/>
              </a:defRPr>
            </a:pPr>
            <a:r>
              <a:rPr sz="2100" b="1">
                <a:solidFill>
                  <a:srgbClr val="186A91"/>
                </a:solidFill>
                <a:latin typeface="Helvetica Neue"/>
                <a:ea typeface="Helvetica Neue"/>
                <a:cs typeface="Helvetica Neue"/>
              </a:rPr>
              <a:t>Verify each accepted instance</a:t>
            </a:r>
          </a:p>
        </p:txBody>
      </p:sp>
      <p:sp>
        <p:nvSpPr>
          <p:cNvPr id="8" name="">
            <a:extLst xmlns:a="http://schemas.openxmlformats.org/drawingml/2006/main">
              <a:ext uri="{FF2B5EF4-FFF2-40B4-BE49-F238E27FC236}">
                <a16:creationId xmlns:a16="http://schemas.microsoft.com/office/drawing/2014/main" id="{26BD7D2F-3BE6-4B30-B014-475952422F83}"/>
              </a:ext>
            </a:extLst>
          </p:cNvPr>
          <p:cNvSpPr>
            <a:spLocks xmlns:a="http://schemas.openxmlformats.org/drawingml/2006/main" noGrp="1"/>
          </p:cNvSpPr>
          <p:nvPr/>
        </p:nvSpPr>
        <p:spPr>
          <a:xfrm xmlns:a="http://schemas.openxmlformats.org/drawingml/2006/main">
            <a:off x="6334125" y="5067300"/>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536"/>
                </a:solidFill>
                <a:latin typeface="Helvetica Neue"/>
                <a:ea typeface="Helvetica Neue"/>
                <a:cs typeface="Helvetica Neue"/>
              </a:defRPr>
            </a:defPPr>
            <a:lvl1pPr>
              <a:defRPr sz="1950" b="0">
                <a:solidFill>
                  <a:srgbClr val="142536"/>
                </a:solidFill>
                <a:latin typeface="Helvetica Neue"/>
                <a:ea typeface="Helvetica Neue"/>
                <a:cs typeface="Helvetica Neue"/>
              </a:defRPr>
            </a:lvl1pPr>
            <a:lvl2pPr>
              <a:defRPr sz="1950" b="0">
                <a:solidFill>
                  <a:srgbClr val="142536"/>
                </a:solidFill>
                <a:latin typeface="Helvetica Neue"/>
                <a:ea typeface="Helvetica Neue"/>
                <a:cs typeface="Helvetica Neue"/>
              </a:defRPr>
            </a:lvl2pPr>
            <a:lvl3pPr>
              <a:defRPr sz="1950" b="0">
                <a:solidFill>
                  <a:srgbClr val="142536"/>
                </a:solidFill>
                <a:latin typeface="Helvetica Neue"/>
                <a:ea typeface="Helvetica Neue"/>
                <a:cs typeface="Helvetica Neue"/>
              </a:defRPr>
            </a:lvl3pPr>
            <a:lvl4pPr>
              <a:defRPr sz="1950" b="0">
                <a:solidFill>
                  <a:srgbClr val="142536"/>
                </a:solidFill>
                <a:latin typeface="Helvetica Neue"/>
                <a:ea typeface="Helvetica Neue"/>
                <a:cs typeface="Helvetica Neue"/>
              </a:defRPr>
            </a:lvl4pPr>
            <a:lvl5pPr>
              <a:defRPr sz="1950" b="0">
                <a:solidFill>
                  <a:srgbClr val="142536"/>
                </a:solidFill>
                <a:latin typeface="Helvetica Neue"/>
                <a:ea typeface="Helvetica Neue"/>
                <a:cs typeface="Helvetica Neue"/>
              </a:defRPr>
            </a:lvl5pPr>
            <a:lvl6pPr>
              <a:defRPr sz="1950" b="0">
                <a:solidFill>
                  <a:srgbClr val="142536"/>
                </a:solidFill>
                <a:latin typeface="Helvetica Neue"/>
                <a:ea typeface="Helvetica Neue"/>
                <a:cs typeface="Helvetica Neue"/>
              </a:defRPr>
            </a:lvl6pPr>
            <a:lvl7pPr>
              <a:defRPr sz="1950" b="0">
                <a:solidFill>
                  <a:srgbClr val="142536"/>
                </a:solidFill>
                <a:latin typeface="Helvetica Neue"/>
                <a:ea typeface="Helvetica Neue"/>
                <a:cs typeface="Helvetica Neue"/>
              </a:defRPr>
            </a:lvl7pPr>
            <a:lvl8pPr>
              <a:defRPr sz="1950" b="0">
                <a:solidFill>
                  <a:srgbClr val="142536"/>
                </a:solidFill>
                <a:latin typeface="Helvetica Neue"/>
                <a:ea typeface="Helvetica Neue"/>
                <a:cs typeface="Helvetica Neue"/>
              </a:defRPr>
            </a:lvl8pPr>
            <a:lvl9pPr>
              <a:defRPr sz="1950" b="0">
                <a:solidFill>
                  <a:srgbClr val="142536"/>
                </a:solidFill>
                <a:latin typeface="Helvetica Neue"/>
                <a:ea typeface="Helvetica Neue"/>
                <a:cs typeface="Helvetica Neue"/>
              </a:defRPr>
            </a:lvl9pPr>
          </a:lstStyle>
          <a:p xmlns:a="http://schemas.openxmlformats.org/drawingml/2006/main">
            <a:pPr>
              <a:defRPr sz="1950" b="0">
                <a:solidFill>
                  <a:srgbClr val="142536"/>
                </a:solidFill>
                <a:latin typeface="Helvetica Neue"/>
                <a:ea typeface="Helvetica Neue"/>
                <a:cs typeface="Helvetica Neue"/>
              </a:defRPr>
            </a:pPr>
            <a:r>
              <a:rPr sz="1950" b="0">
                <a:solidFill>
                  <a:srgbClr val="142536"/>
                </a:solidFill>
                <a:latin typeface="Helvetica Neue"/>
                <a:ea typeface="Helvetica Neue"/>
                <a:cs typeface="Helvetica Neue"/>
              </a:rPr>
              <a:t>20 of 20 regenerate exactly.</a:t>
            </a:r>
          </a:p>
          <a:p xmlns:a="http://schemas.openxmlformats.org/drawingml/2006/main">
            <a:pPr>
              <a:defRPr sz="1950" b="0">
                <a:solidFill>
                  <a:srgbClr val="142536"/>
                </a:solidFill>
                <a:latin typeface="Helvetica Neue"/>
                <a:ea typeface="Helvetica Neue"/>
                <a:cs typeface="Helvetica Neue"/>
              </a:defRPr>
            </a:pPr>
            <a:r>
              <a:rPr sz="1950" b="0">
                <a:solidFill>
                  <a:srgbClr val="142536"/>
                </a:solidFill>
                <a:latin typeface="Helvetica Neue"/>
                <a:ea typeface="Helvetica Neue"/>
                <a:cs typeface="Helvetica Neue"/>
              </a:rPr>
              <a:t>20 of 20 independent certificates are valid.</a:t>
            </a:r>
          </a:p>
        </p:txBody>
      </p:sp>
      <p:sp>
        <p:nvSpPr>
          <p:cNvPr id="9" name="">
            <a:extLst xmlns:a="http://schemas.openxmlformats.org/drawingml/2006/main">
              <a:ext uri="{FF2B5EF4-FFF2-40B4-BE49-F238E27FC236}">
                <a16:creationId xmlns:a16="http://schemas.microsoft.com/office/drawing/2014/main" id="{4C639678-10DB-4420-B5CF-20248472C48C}"/>
              </a:ext>
            </a:extLst>
          </p:cNvPr>
          <p:cNvSpPr>
            <a:spLocks xmlns:a="http://schemas.openxmlformats.org/drawingml/2006/main" noGrp="1"/>
          </p:cNvSpPr>
          <p:nvPr/>
        </p:nvSpPr>
        <p:spPr>
          <a:xfrm xmlns:a="http://schemas.openxmlformats.org/drawingml/2006/main">
            <a:off x="571500" y="60769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516476"/>
                </a:solidFill>
                <a:latin typeface="Helvetica Neue"/>
                <a:ea typeface="Helvetica Neue"/>
                <a:cs typeface="Helvetica Neue"/>
              </a:defRPr>
            </a:defPPr>
            <a:lvl1pPr>
              <a:defRPr sz="1575" b="0">
                <a:solidFill>
                  <a:srgbClr val="516476"/>
                </a:solidFill>
                <a:latin typeface="Helvetica Neue"/>
                <a:ea typeface="Helvetica Neue"/>
                <a:cs typeface="Helvetica Neue"/>
              </a:defRPr>
            </a:lvl1pPr>
            <a:lvl2pPr>
              <a:defRPr sz="1575" b="0">
                <a:solidFill>
                  <a:srgbClr val="516476"/>
                </a:solidFill>
                <a:latin typeface="Helvetica Neue"/>
                <a:ea typeface="Helvetica Neue"/>
                <a:cs typeface="Helvetica Neue"/>
              </a:defRPr>
            </a:lvl2pPr>
            <a:lvl3pPr>
              <a:defRPr sz="1575" b="0">
                <a:solidFill>
                  <a:srgbClr val="516476"/>
                </a:solidFill>
                <a:latin typeface="Helvetica Neue"/>
                <a:ea typeface="Helvetica Neue"/>
                <a:cs typeface="Helvetica Neue"/>
              </a:defRPr>
            </a:lvl3pPr>
            <a:lvl4pPr>
              <a:defRPr sz="1575" b="0">
                <a:solidFill>
                  <a:srgbClr val="516476"/>
                </a:solidFill>
                <a:latin typeface="Helvetica Neue"/>
                <a:ea typeface="Helvetica Neue"/>
                <a:cs typeface="Helvetica Neue"/>
              </a:defRPr>
            </a:lvl4pPr>
            <a:lvl5pPr>
              <a:defRPr sz="1575" b="0">
                <a:solidFill>
                  <a:srgbClr val="516476"/>
                </a:solidFill>
                <a:latin typeface="Helvetica Neue"/>
                <a:ea typeface="Helvetica Neue"/>
                <a:cs typeface="Helvetica Neue"/>
              </a:defRPr>
            </a:lvl5pPr>
            <a:lvl6pPr>
              <a:defRPr sz="1575" b="0">
                <a:solidFill>
                  <a:srgbClr val="516476"/>
                </a:solidFill>
                <a:latin typeface="Helvetica Neue"/>
                <a:ea typeface="Helvetica Neue"/>
                <a:cs typeface="Helvetica Neue"/>
              </a:defRPr>
            </a:lvl6pPr>
            <a:lvl7pPr>
              <a:defRPr sz="1575" b="0">
                <a:solidFill>
                  <a:srgbClr val="516476"/>
                </a:solidFill>
                <a:latin typeface="Helvetica Neue"/>
                <a:ea typeface="Helvetica Neue"/>
                <a:cs typeface="Helvetica Neue"/>
              </a:defRPr>
            </a:lvl7pPr>
            <a:lvl8pPr>
              <a:defRPr sz="1575" b="0">
                <a:solidFill>
                  <a:srgbClr val="516476"/>
                </a:solidFill>
                <a:latin typeface="Helvetica Neue"/>
                <a:ea typeface="Helvetica Neue"/>
                <a:cs typeface="Helvetica Neue"/>
              </a:defRPr>
            </a:lvl8pPr>
            <a:lvl9pPr>
              <a:defRPr sz="1575" b="0">
                <a:solidFill>
                  <a:srgbClr val="516476"/>
                </a:solidFill>
                <a:latin typeface="Helvetica Neue"/>
                <a:ea typeface="Helvetica Neue"/>
                <a:cs typeface="Helvetica Neue"/>
              </a:defRPr>
            </a:lvl9pPr>
          </a:lstStyle>
          <a:p xmlns:a="http://schemas.openxmlformats.org/drawingml/2006/main">
            <a:pPr>
              <a:defRPr sz="1575" b="0">
                <a:solidFill>
                  <a:srgbClr val="516476"/>
                </a:solidFill>
                <a:latin typeface="Helvetica Neue"/>
                <a:ea typeface="Helvetica Neue"/>
                <a:cs typeface="Helvetica Neue"/>
              </a:defRPr>
            </a:pPr>
            <a:r>
              <a:rPr sz="1575" b="0">
                <a:solidFill>
                  <a:srgbClr val="516476"/>
                </a:solidFill>
                <a:latin typeface="Helvetica Neue"/>
                <a:ea typeface="Helvetica Neue"/>
                <a:cs typeface="Helvetica Neue"/>
              </a:rPr>
              <a:t>Save seeds, certificates and demand ratios. Exact screening grows exponentially; the penalty certificate uses only demands and capacity.</a:t>
            </a:r>
          </a:p>
        </p:txBody>
      </p:sp>
    </p:spTree>
    <p:extLst>
      <p:ext uri="{BB962C8B-B14F-4D97-AF65-F5344CB8AC3E}">
        <p14:creationId xmlns:p14="http://schemas.microsoft.com/office/powerpoint/2010/main" val="1951473761"/>
      </p:ext>
    </p:extLst>
  </p:cSld>
</p:sld>
</file>

<file path=ppt/slides/slide6.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C20CFF-9D59-42A3-8AA8-4AA37E139EAF}"/>
              </a:ext>
            </a:extLst>
          </p:cNvPr>
          <p:cNvSpPr>
            <a:spLocks xmlns:a="http://schemas.openxmlformats.org/drawingml/2006/main" noGrp="1"/>
          </p:cNvSpPr>
          <p:nvPr/>
        </p:nvSpPr>
        <p:spPr>
          <a:xfrm xmlns:a="http://schemas.openxmlformats.org/drawingml/2006/main">
            <a:off x="571500" y="34290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42536"/>
                </a:solidFill>
                <a:latin typeface="Helvetica Neue"/>
                <a:ea typeface="Helvetica Neue"/>
                <a:cs typeface="Helvetica Neue"/>
              </a:defRPr>
            </a:defPPr>
            <a:lvl1pPr>
              <a:defRPr sz="3225" b="1">
                <a:solidFill>
                  <a:srgbClr val="142536"/>
                </a:solidFill>
                <a:latin typeface="Helvetica Neue"/>
                <a:ea typeface="Helvetica Neue"/>
                <a:cs typeface="Helvetica Neue"/>
              </a:defRPr>
            </a:lvl1pPr>
            <a:lvl2pPr>
              <a:defRPr sz="3225" b="1">
                <a:solidFill>
                  <a:srgbClr val="142536"/>
                </a:solidFill>
                <a:latin typeface="Helvetica Neue"/>
                <a:ea typeface="Helvetica Neue"/>
                <a:cs typeface="Helvetica Neue"/>
              </a:defRPr>
            </a:lvl2pPr>
            <a:lvl3pPr>
              <a:defRPr sz="3225" b="1">
                <a:solidFill>
                  <a:srgbClr val="142536"/>
                </a:solidFill>
                <a:latin typeface="Helvetica Neue"/>
                <a:ea typeface="Helvetica Neue"/>
                <a:cs typeface="Helvetica Neue"/>
              </a:defRPr>
            </a:lvl3pPr>
            <a:lvl4pPr>
              <a:defRPr sz="3225" b="1">
                <a:solidFill>
                  <a:srgbClr val="142536"/>
                </a:solidFill>
                <a:latin typeface="Helvetica Neue"/>
                <a:ea typeface="Helvetica Neue"/>
                <a:cs typeface="Helvetica Neue"/>
              </a:defRPr>
            </a:lvl4pPr>
            <a:lvl5pPr>
              <a:defRPr sz="3225" b="1">
                <a:solidFill>
                  <a:srgbClr val="142536"/>
                </a:solidFill>
                <a:latin typeface="Helvetica Neue"/>
                <a:ea typeface="Helvetica Neue"/>
                <a:cs typeface="Helvetica Neue"/>
              </a:defRPr>
            </a:lvl5pPr>
            <a:lvl6pPr>
              <a:defRPr sz="3225" b="1">
                <a:solidFill>
                  <a:srgbClr val="142536"/>
                </a:solidFill>
                <a:latin typeface="Helvetica Neue"/>
                <a:ea typeface="Helvetica Neue"/>
                <a:cs typeface="Helvetica Neue"/>
              </a:defRPr>
            </a:lvl6pPr>
            <a:lvl7pPr>
              <a:defRPr sz="3225" b="1">
                <a:solidFill>
                  <a:srgbClr val="142536"/>
                </a:solidFill>
                <a:latin typeface="Helvetica Neue"/>
                <a:ea typeface="Helvetica Neue"/>
                <a:cs typeface="Helvetica Neue"/>
              </a:defRPr>
            </a:lvl7pPr>
            <a:lvl8pPr>
              <a:defRPr sz="3225" b="1">
                <a:solidFill>
                  <a:srgbClr val="142536"/>
                </a:solidFill>
                <a:latin typeface="Helvetica Neue"/>
                <a:ea typeface="Helvetica Neue"/>
                <a:cs typeface="Helvetica Neue"/>
              </a:defRPr>
            </a:lvl8pPr>
            <a:lvl9pPr>
              <a:defRPr sz="3225" b="1">
                <a:solidFill>
                  <a:srgbClr val="142536"/>
                </a:solidFill>
                <a:latin typeface="Helvetica Neue"/>
                <a:ea typeface="Helvetica Neue"/>
                <a:cs typeface="Helvetica Neue"/>
              </a:defRPr>
            </a:lvl9pPr>
          </a:lstStyle>
          <a:p xmlns:a="http://schemas.openxmlformats.org/drawingml/2006/main">
            <a:pPr>
              <a:defRPr sz="3225" b="1">
                <a:solidFill>
                  <a:srgbClr val="142536"/>
                </a:solidFill>
                <a:latin typeface="Helvetica Neue"/>
                <a:ea typeface="Helvetica Neue"/>
                <a:cs typeface="Helvetica Neue"/>
              </a:defRPr>
            </a:pPr>
            <a:r>
              <a:rPr sz="3225" b="1">
                <a:solidFill>
                  <a:srgbClr val="142536"/>
                </a:solidFill>
                <a:latin typeface="Helvetica Neue"/>
                <a:ea typeface="Helvetica Neue"/>
                <a:cs typeface="Helvetica Neue"/>
              </a:rPr>
              <a:t>Geometry restricts the interactions we can realize</a:t>
            </a:r>
          </a:p>
        </p:txBody>
      </p:sp>
      <p:sp>
        <p:nvSpPr>
          <p:cNvPr id="2" name="">
            <a:extLst xmlns:a="http://schemas.openxmlformats.org/drawingml/2006/main">
              <a:ext uri="{FF2B5EF4-FFF2-40B4-BE49-F238E27FC236}">
                <a16:creationId xmlns:a16="http://schemas.microsoft.com/office/drawing/2014/main" id="{A0EE6214-D12E-42E0-A5A2-02960D79646C}"/>
              </a:ext>
            </a:extLst>
          </p:cNvPr>
          <p:cNvSpPr>
            <a:spLocks xmlns:a="http://schemas.openxmlformats.org/drawingml/2006/main" noGrp="1"/>
          </p:cNvSpPr>
          <p:nvPr/>
        </p:nvSpPr>
        <p:spPr>
          <a:xfrm xmlns:a="http://schemas.openxmlformats.org/drawingml/2006/main">
            <a:off x="11001375" y="63817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16476"/>
                </a:solidFill>
                <a:latin typeface="Helvetica Neue"/>
                <a:ea typeface="Helvetica Neue"/>
                <a:cs typeface="Helvetica Neue"/>
              </a:defRPr>
            </a:defPPr>
            <a:lvl1pPr>
              <a:defRPr sz="1350" b="0">
                <a:solidFill>
                  <a:srgbClr val="516476"/>
                </a:solidFill>
                <a:latin typeface="Helvetica Neue"/>
                <a:ea typeface="Helvetica Neue"/>
                <a:cs typeface="Helvetica Neue"/>
              </a:defRPr>
            </a:lvl1pPr>
            <a:lvl2pPr>
              <a:defRPr sz="1350" b="0">
                <a:solidFill>
                  <a:srgbClr val="516476"/>
                </a:solidFill>
                <a:latin typeface="Helvetica Neue"/>
                <a:ea typeface="Helvetica Neue"/>
                <a:cs typeface="Helvetica Neue"/>
              </a:defRPr>
            </a:lvl2pPr>
            <a:lvl3pPr>
              <a:defRPr sz="1350" b="0">
                <a:solidFill>
                  <a:srgbClr val="516476"/>
                </a:solidFill>
                <a:latin typeface="Helvetica Neue"/>
                <a:ea typeface="Helvetica Neue"/>
                <a:cs typeface="Helvetica Neue"/>
              </a:defRPr>
            </a:lvl3pPr>
            <a:lvl4pPr>
              <a:defRPr sz="1350" b="0">
                <a:solidFill>
                  <a:srgbClr val="516476"/>
                </a:solidFill>
                <a:latin typeface="Helvetica Neue"/>
                <a:ea typeface="Helvetica Neue"/>
                <a:cs typeface="Helvetica Neue"/>
              </a:defRPr>
            </a:lvl4pPr>
            <a:lvl5pPr>
              <a:defRPr sz="1350" b="0">
                <a:solidFill>
                  <a:srgbClr val="516476"/>
                </a:solidFill>
                <a:latin typeface="Helvetica Neue"/>
                <a:ea typeface="Helvetica Neue"/>
                <a:cs typeface="Helvetica Neue"/>
              </a:defRPr>
            </a:lvl5pPr>
            <a:lvl6pPr>
              <a:defRPr sz="1350" b="0">
                <a:solidFill>
                  <a:srgbClr val="516476"/>
                </a:solidFill>
                <a:latin typeface="Helvetica Neue"/>
                <a:ea typeface="Helvetica Neue"/>
                <a:cs typeface="Helvetica Neue"/>
              </a:defRPr>
            </a:lvl6pPr>
            <a:lvl7pPr>
              <a:defRPr sz="1350" b="0">
                <a:solidFill>
                  <a:srgbClr val="516476"/>
                </a:solidFill>
                <a:latin typeface="Helvetica Neue"/>
                <a:ea typeface="Helvetica Neue"/>
                <a:cs typeface="Helvetica Neue"/>
              </a:defRPr>
            </a:lvl7pPr>
            <a:lvl8pPr>
              <a:defRPr sz="1350" b="0">
                <a:solidFill>
                  <a:srgbClr val="516476"/>
                </a:solidFill>
                <a:latin typeface="Helvetica Neue"/>
                <a:ea typeface="Helvetica Neue"/>
                <a:cs typeface="Helvetica Neue"/>
              </a:defRPr>
            </a:lvl8pPr>
            <a:lvl9pPr>
              <a:defRPr sz="1350" b="0">
                <a:solidFill>
                  <a:srgbClr val="516476"/>
                </a:solidFill>
                <a:latin typeface="Helvetica Neue"/>
                <a:ea typeface="Helvetica Neue"/>
                <a:cs typeface="Helvetica Neue"/>
              </a:defRPr>
            </a:lvl9pPr>
          </a:lstStyle>
          <a:p xmlns:a="http://schemas.openxmlformats.org/drawingml/2006/main">
            <a:pPr>
              <a:defRPr sz="1350" b="0">
                <a:solidFill>
                  <a:srgbClr val="516476"/>
                </a:solidFill>
                <a:latin typeface="Helvetica Neue"/>
                <a:ea typeface="Helvetica Neue"/>
                <a:cs typeface="Helvetica Neue"/>
              </a:defRPr>
            </a:pPr>
            <a:r>
              <a:rPr sz="1350" b="0">
                <a:solidFill>
                  <a:srgbClr val="516476"/>
                </a:solidFill>
                <a:latin typeface="Helvetica Neue"/>
                <a:ea typeface="Helvetica Neue"/>
                <a:cs typeface="Helvetica Neue"/>
              </a:rPr>
              <a:t>6 / 11</a:t>
            </a:r>
          </a:p>
        </p:txBody>
      </p:sp>
      <p:sp>
        <p:nvSpPr>
          <p:cNvPr id="3" name="">
            <a:extLst xmlns:a="http://schemas.openxmlformats.org/drawingml/2006/main">
              <a:ext uri="{FF2B5EF4-FFF2-40B4-BE49-F238E27FC236}">
                <a16:creationId xmlns:a16="http://schemas.microsoft.com/office/drawing/2014/main" id="{A1FC8FD3-9290-4AB1-BB22-AF3BD0D4D65B}"/>
              </a:ext>
            </a:extLst>
          </p:cNvPr>
          <p:cNvSpPr>
            <a:spLocks xmlns:a="http://schemas.openxmlformats.org/drawingml/2006/main" noGrp="1"/>
          </p:cNvSpPr>
          <p:nvPr/>
        </p:nvSpPr>
        <p:spPr>
          <a:xfrm xmlns:a="http://schemas.openxmlformats.org/drawingml/2006/main">
            <a:off x="571500" y="13811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516476"/>
                </a:solidFill>
                <a:latin typeface="Helvetica Neue"/>
                <a:ea typeface="Helvetica Neue"/>
                <a:cs typeface="Helvetica Neue"/>
              </a:defRPr>
            </a:defPPr>
            <a:lvl1pPr>
              <a:defRPr sz="2025" b="0">
                <a:solidFill>
                  <a:srgbClr val="516476"/>
                </a:solidFill>
                <a:latin typeface="Helvetica Neue"/>
                <a:ea typeface="Helvetica Neue"/>
                <a:cs typeface="Helvetica Neue"/>
              </a:defRPr>
            </a:lvl1pPr>
            <a:lvl2pPr>
              <a:defRPr sz="2025" b="0">
                <a:solidFill>
                  <a:srgbClr val="516476"/>
                </a:solidFill>
                <a:latin typeface="Helvetica Neue"/>
                <a:ea typeface="Helvetica Neue"/>
                <a:cs typeface="Helvetica Neue"/>
              </a:defRPr>
            </a:lvl2pPr>
            <a:lvl3pPr>
              <a:defRPr sz="2025" b="0">
                <a:solidFill>
                  <a:srgbClr val="516476"/>
                </a:solidFill>
                <a:latin typeface="Helvetica Neue"/>
                <a:ea typeface="Helvetica Neue"/>
                <a:cs typeface="Helvetica Neue"/>
              </a:defRPr>
            </a:lvl3pPr>
            <a:lvl4pPr>
              <a:defRPr sz="2025" b="0">
                <a:solidFill>
                  <a:srgbClr val="516476"/>
                </a:solidFill>
                <a:latin typeface="Helvetica Neue"/>
                <a:ea typeface="Helvetica Neue"/>
                <a:cs typeface="Helvetica Neue"/>
              </a:defRPr>
            </a:lvl4pPr>
            <a:lvl5pPr>
              <a:defRPr sz="2025" b="0">
                <a:solidFill>
                  <a:srgbClr val="516476"/>
                </a:solidFill>
                <a:latin typeface="Helvetica Neue"/>
                <a:ea typeface="Helvetica Neue"/>
                <a:cs typeface="Helvetica Neue"/>
              </a:defRPr>
            </a:lvl5pPr>
            <a:lvl6pPr>
              <a:defRPr sz="2025" b="0">
                <a:solidFill>
                  <a:srgbClr val="516476"/>
                </a:solidFill>
                <a:latin typeface="Helvetica Neue"/>
                <a:ea typeface="Helvetica Neue"/>
                <a:cs typeface="Helvetica Neue"/>
              </a:defRPr>
            </a:lvl6pPr>
            <a:lvl7pPr>
              <a:defRPr sz="2025" b="0">
                <a:solidFill>
                  <a:srgbClr val="516476"/>
                </a:solidFill>
                <a:latin typeface="Helvetica Neue"/>
                <a:ea typeface="Helvetica Neue"/>
                <a:cs typeface="Helvetica Neue"/>
              </a:defRPr>
            </a:lvl7pPr>
            <a:lvl8pPr>
              <a:defRPr sz="2025" b="0">
                <a:solidFill>
                  <a:srgbClr val="516476"/>
                </a:solidFill>
                <a:latin typeface="Helvetica Neue"/>
                <a:ea typeface="Helvetica Neue"/>
                <a:cs typeface="Helvetica Neue"/>
              </a:defRPr>
            </a:lvl8pPr>
            <a:lvl9pPr>
              <a:defRPr sz="2025" b="0">
                <a:solidFill>
                  <a:srgbClr val="516476"/>
                </a:solidFill>
                <a:latin typeface="Helvetica Neue"/>
                <a:ea typeface="Helvetica Neue"/>
                <a:cs typeface="Helvetica Neue"/>
              </a:defRPr>
            </a:lvl9pPr>
          </a:lstStyle>
          <a:p xmlns:a="http://schemas.openxmlformats.org/drawingml/2006/main">
            <a:pPr>
              <a:defRPr sz="2025" b="0">
                <a:solidFill>
                  <a:srgbClr val="516476"/>
                </a:solidFill>
                <a:latin typeface="Helvetica Neue"/>
                <a:ea typeface="Helvetica Neue"/>
                <a:cs typeface="Helvetica Neue"/>
              </a:defRPr>
            </a:pPr>
            <a:r>
              <a:rPr sz="2025" b="0">
                <a:solidFill>
                  <a:srgbClr val="516476"/>
                </a:solidFill>
                <a:latin typeface="Helvetica Neue"/>
                <a:ea typeface="Helvetica Neue"/>
                <a:cs typeface="Helvetica Neue"/>
              </a:rPr>
              <a:t>All pairs interact. Distance fixes positive couplings. One global field cannot match unequal fields.</a:t>
            </a:r>
          </a:p>
        </p:txBody>
      </p:sp>
      <p:graphicFrame>
        <p:nvGraphicFramePr>
          <p:cNvPr id="4" name="Chart">
            <a:extLst xmlns:a="http://schemas.openxmlformats.org/drawingml/2006/main">
              <a:ext uri="{FF2B5EF4-FFF2-40B4-BE49-F238E27FC236}">
                <a16:creationId xmlns:a16="http://schemas.microsoft.com/office/drawing/2014/main" id="{E45BACF2-F7C4-40DB-9E6A-68FD7403AD0C}"/>
              </a:ext>
            </a:extLst>
          </p:cNvPr>
          <p:cNvGraphicFramePr/>
          <p:nvPr/>
        </p:nvGraphicFramePr>
        <p:xfrm>
          <a:off xmlns:a="http://schemas.openxmlformats.org/drawingml/2006/main" x="571500" y="2209800"/>
          <a:ext xmlns:a="http://schemas.openxmlformats.org/drawingml/2006/main" cx="11049000" cy="3190875"/>
        </p:xfrm>
        <a:graphic xmlns:a="http://schemas.openxmlformats.org/drawingml/2006/main">
          <a:graphicData uri="http://schemas.openxmlformats.org/drawingml/2006/chart">
            <c:chart xmlns:r="http://schemas.openxmlformats.org/officeDocument/2006/relationships" xmlns:c="http://schemas.openxmlformats.org/drawingml/2006/chart" r:id="R366b4d2a3f7f45cd"/>
          </a:graphicData>
        </a:graphic>
      </p:graphicFrame>
      <p:sp>
        <p:nvSpPr>
          <p:cNvPr id="5" name="">
            <a:extLst xmlns:a="http://schemas.openxmlformats.org/drawingml/2006/main">
              <a:ext uri="{FF2B5EF4-FFF2-40B4-BE49-F238E27FC236}">
                <a16:creationId xmlns:a16="http://schemas.microsoft.com/office/drawing/2014/main" id="{05A4FD06-0D9E-4E6A-8661-D742D3C32472}"/>
              </a:ext>
            </a:extLst>
          </p:cNvPr>
          <p:cNvSpPr>
            <a:spLocks xmlns:a="http://schemas.openxmlformats.org/drawingml/2006/main" noGrp="1"/>
          </p:cNvSpPr>
          <p:nvPr/>
        </p:nvSpPr>
        <p:spPr>
          <a:xfrm xmlns:a="http://schemas.openxmlformats.org/drawingml/2006/main">
            <a:off x="571500" y="56959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16476"/>
                </a:solidFill>
                <a:latin typeface="Helvetica Neue"/>
                <a:ea typeface="Helvetica Neue"/>
                <a:cs typeface="Helvetica Neue"/>
              </a:defRPr>
            </a:defPPr>
            <a:lvl1pPr>
              <a:defRPr sz="1725" b="0">
                <a:solidFill>
                  <a:srgbClr val="516476"/>
                </a:solidFill>
                <a:latin typeface="Helvetica Neue"/>
                <a:ea typeface="Helvetica Neue"/>
                <a:cs typeface="Helvetica Neue"/>
              </a:defRPr>
            </a:lvl1pPr>
            <a:lvl2pPr>
              <a:defRPr sz="1725" b="0">
                <a:solidFill>
                  <a:srgbClr val="516476"/>
                </a:solidFill>
                <a:latin typeface="Helvetica Neue"/>
                <a:ea typeface="Helvetica Neue"/>
                <a:cs typeface="Helvetica Neue"/>
              </a:defRPr>
            </a:lvl2pPr>
            <a:lvl3pPr>
              <a:defRPr sz="1725" b="0">
                <a:solidFill>
                  <a:srgbClr val="516476"/>
                </a:solidFill>
                <a:latin typeface="Helvetica Neue"/>
                <a:ea typeface="Helvetica Neue"/>
                <a:cs typeface="Helvetica Neue"/>
              </a:defRPr>
            </a:lvl3pPr>
            <a:lvl4pPr>
              <a:defRPr sz="1725" b="0">
                <a:solidFill>
                  <a:srgbClr val="516476"/>
                </a:solidFill>
                <a:latin typeface="Helvetica Neue"/>
                <a:ea typeface="Helvetica Neue"/>
                <a:cs typeface="Helvetica Neue"/>
              </a:defRPr>
            </a:lvl4pPr>
            <a:lvl5pPr>
              <a:defRPr sz="1725" b="0">
                <a:solidFill>
                  <a:srgbClr val="516476"/>
                </a:solidFill>
                <a:latin typeface="Helvetica Neue"/>
                <a:ea typeface="Helvetica Neue"/>
                <a:cs typeface="Helvetica Neue"/>
              </a:defRPr>
            </a:lvl5pPr>
            <a:lvl6pPr>
              <a:defRPr sz="1725" b="0">
                <a:solidFill>
                  <a:srgbClr val="516476"/>
                </a:solidFill>
                <a:latin typeface="Helvetica Neue"/>
                <a:ea typeface="Helvetica Neue"/>
                <a:cs typeface="Helvetica Neue"/>
              </a:defRPr>
            </a:lvl6pPr>
            <a:lvl7pPr>
              <a:defRPr sz="1725" b="0">
                <a:solidFill>
                  <a:srgbClr val="516476"/>
                </a:solidFill>
                <a:latin typeface="Helvetica Neue"/>
                <a:ea typeface="Helvetica Neue"/>
                <a:cs typeface="Helvetica Neue"/>
              </a:defRPr>
            </a:lvl7pPr>
            <a:lvl8pPr>
              <a:defRPr sz="1725" b="0">
                <a:solidFill>
                  <a:srgbClr val="516476"/>
                </a:solidFill>
                <a:latin typeface="Helvetica Neue"/>
                <a:ea typeface="Helvetica Neue"/>
                <a:cs typeface="Helvetica Neue"/>
              </a:defRPr>
            </a:lvl8pPr>
            <a:lvl9pPr>
              <a:defRPr sz="1725" b="0">
                <a:solidFill>
                  <a:srgbClr val="516476"/>
                </a:solidFill>
                <a:latin typeface="Helvetica Neue"/>
                <a:ea typeface="Helvetica Neue"/>
                <a:cs typeface="Helvetica Neue"/>
              </a:defRPr>
            </a:lvl9pPr>
          </a:lstStyle>
          <a:p xmlns:a="http://schemas.openxmlformats.org/drawingml/2006/main">
            <a:pPr>
              <a:defRPr sz="1725" b="0">
                <a:solidFill>
                  <a:srgbClr val="516476"/>
                </a:solidFill>
                <a:latin typeface="Helvetica Neue"/>
                <a:ea typeface="Helvetica Neue"/>
                <a:cs typeface="Helvetica Neue"/>
              </a:defRPr>
            </a:pPr>
            <a:r>
              <a:rPr sz="1725" b="0">
                <a:solidFill>
                  <a:srgbClr val="516476"/>
                </a:solidFill>
                <a:latin typeface="Helvetica Neue"/>
                <a:ea typeface="Helvetica Neue"/>
                <a:cs typeface="Helvetica Neue"/>
              </a:rPr>
              <a:t>BLaDE relative pair-coefficient error after scaling. Lower is better.</a:t>
            </a:r>
          </a:p>
          <a:p xmlns:a="http://schemas.openxmlformats.org/drawingml/2006/main">
            <a:pPr>
              <a:defRPr sz="1725" b="0">
                <a:solidFill>
                  <a:srgbClr val="516476"/>
                </a:solidFill>
                <a:latin typeface="Helvetica Neue"/>
                <a:ea typeface="Helvetica Neue"/>
                <a:cs typeface="Helvetica Neue"/>
              </a:defRPr>
            </a:pPr>
            <a:r>
              <a:rPr sz="1725" b="0">
                <a:solidFill>
                  <a:srgbClr val="516476"/>
                </a:solidFill>
                <a:latin typeface="Helvetica Neue"/>
                <a:ea typeface="Helvetica Neue"/>
                <a:cs typeface="Helvetica Neue"/>
              </a:rPr>
              <a:t>10 small, 5 medium and 5 large problems; 3 layouts per problem. Includes preparation failures.</a:t>
            </a:r>
          </a:p>
        </p:txBody>
      </p:sp>
    </p:spTree>
    <p:extLst>
      <p:ext uri="{BB962C8B-B14F-4D97-AF65-F5344CB8AC3E}">
        <p14:creationId xmlns:p14="http://schemas.microsoft.com/office/powerpoint/2010/main" val="685843272"/>
      </p:ext>
    </p:extLst>
  </p:cSld>
</p:sld>
</file>

<file path=ppt/slides/slide7.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FD1964-B03C-47C1-8649-978EFCCA8019}"/>
              </a:ext>
            </a:extLst>
          </p:cNvPr>
          <p:cNvSpPr>
            <a:spLocks xmlns:a="http://schemas.openxmlformats.org/drawingml/2006/main" noGrp="1"/>
          </p:cNvSpPr>
          <p:nvPr/>
        </p:nvSpPr>
        <p:spPr>
          <a:xfrm xmlns:a="http://schemas.openxmlformats.org/drawingml/2006/main">
            <a:off x="571500" y="34290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42536"/>
                </a:solidFill>
                <a:latin typeface="Helvetica Neue"/>
                <a:ea typeface="Helvetica Neue"/>
                <a:cs typeface="Helvetica Neue"/>
              </a:defRPr>
            </a:defPPr>
            <a:lvl1pPr>
              <a:defRPr sz="3225" b="1">
                <a:solidFill>
                  <a:srgbClr val="142536"/>
                </a:solidFill>
                <a:latin typeface="Helvetica Neue"/>
                <a:ea typeface="Helvetica Neue"/>
                <a:cs typeface="Helvetica Neue"/>
              </a:defRPr>
            </a:lvl1pPr>
            <a:lvl2pPr>
              <a:defRPr sz="3225" b="1">
                <a:solidFill>
                  <a:srgbClr val="142536"/>
                </a:solidFill>
                <a:latin typeface="Helvetica Neue"/>
                <a:ea typeface="Helvetica Neue"/>
                <a:cs typeface="Helvetica Neue"/>
              </a:defRPr>
            </a:lvl2pPr>
            <a:lvl3pPr>
              <a:defRPr sz="3225" b="1">
                <a:solidFill>
                  <a:srgbClr val="142536"/>
                </a:solidFill>
                <a:latin typeface="Helvetica Neue"/>
                <a:ea typeface="Helvetica Neue"/>
                <a:cs typeface="Helvetica Neue"/>
              </a:defRPr>
            </a:lvl3pPr>
            <a:lvl4pPr>
              <a:defRPr sz="3225" b="1">
                <a:solidFill>
                  <a:srgbClr val="142536"/>
                </a:solidFill>
                <a:latin typeface="Helvetica Neue"/>
                <a:ea typeface="Helvetica Neue"/>
                <a:cs typeface="Helvetica Neue"/>
              </a:defRPr>
            </a:lvl4pPr>
            <a:lvl5pPr>
              <a:defRPr sz="3225" b="1">
                <a:solidFill>
                  <a:srgbClr val="142536"/>
                </a:solidFill>
                <a:latin typeface="Helvetica Neue"/>
                <a:ea typeface="Helvetica Neue"/>
                <a:cs typeface="Helvetica Neue"/>
              </a:defRPr>
            </a:lvl5pPr>
            <a:lvl6pPr>
              <a:defRPr sz="3225" b="1">
                <a:solidFill>
                  <a:srgbClr val="142536"/>
                </a:solidFill>
                <a:latin typeface="Helvetica Neue"/>
                <a:ea typeface="Helvetica Neue"/>
                <a:cs typeface="Helvetica Neue"/>
              </a:defRPr>
            </a:lvl6pPr>
            <a:lvl7pPr>
              <a:defRPr sz="3225" b="1">
                <a:solidFill>
                  <a:srgbClr val="142536"/>
                </a:solidFill>
                <a:latin typeface="Helvetica Neue"/>
                <a:ea typeface="Helvetica Neue"/>
                <a:cs typeface="Helvetica Neue"/>
              </a:defRPr>
            </a:lvl7pPr>
            <a:lvl8pPr>
              <a:defRPr sz="3225" b="1">
                <a:solidFill>
                  <a:srgbClr val="142536"/>
                </a:solidFill>
                <a:latin typeface="Helvetica Neue"/>
                <a:ea typeface="Helvetica Neue"/>
                <a:cs typeface="Helvetica Neue"/>
              </a:defRPr>
            </a:lvl8pPr>
            <a:lvl9pPr>
              <a:defRPr sz="3225" b="1">
                <a:solidFill>
                  <a:srgbClr val="142536"/>
                </a:solidFill>
                <a:latin typeface="Helvetica Neue"/>
                <a:ea typeface="Helvetica Neue"/>
                <a:cs typeface="Helvetica Neue"/>
              </a:defRPr>
            </a:lvl9pPr>
          </a:lstStyle>
          <a:p xmlns:a="http://schemas.openxmlformats.org/drawingml/2006/main">
            <a:pPr>
              <a:defRPr sz="3225" b="1">
                <a:solidFill>
                  <a:srgbClr val="142536"/>
                </a:solidFill>
                <a:latin typeface="Helvetica Neue"/>
                <a:ea typeface="Helvetica Neue"/>
                <a:cs typeface="Helvetica Neue"/>
              </a:defRPr>
            </a:pPr>
            <a:r>
              <a:rPr sz="3225" b="1">
                <a:solidFill>
                  <a:srgbClr val="142536"/>
                </a:solidFill>
                <a:latin typeface="Helvetica Neue"/>
                <a:ea typeface="Helvetica Neue"/>
                <a:cs typeface="Helvetica Neue"/>
              </a:rPr>
              <a:t>Pair distortion alone removes feasible minima</a:t>
            </a:r>
          </a:p>
        </p:txBody>
      </p:sp>
      <p:sp>
        <p:nvSpPr>
          <p:cNvPr id="2" name="">
            <a:extLst xmlns:a="http://schemas.openxmlformats.org/drawingml/2006/main">
              <a:ext uri="{FF2B5EF4-FFF2-40B4-BE49-F238E27FC236}">
                <a16:creationId xmlns:a16="http://schemas.microsoft.com/office/drawing/2014/main" id="{888AB109-55F1-4A57-9297-4B963A73231F}"/>
              </a:ext>
            </a:extLst>
          </p:cNvPr>
          <p:cNvSpPr>
            <a:spLocks xmlns:a="http://schemas.openxmlformats.org/drawingml/2006/main" noGrp="1"/>
          </p:cNvSpPr>
          <p:nvPr/>
        </p:nvSpPr>
        <p:spPr>
          <a:xfrm xmlns:a="http://schemas.openxmlformats.org/drawingml/2006/main">
            <a:off x="11001375" y="63817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16476"/>
                </a:solidFill>
                <a:latin typeface="Helvetica Neue"/>
                <a:ea typeface="Helvetica Neue"/>
                <a:cs typeface="Helvetica Neue"/>
              </a:defRPr>
            </a:defPPr>
            <a:lvl1pPr>
              <a:defRPr sz="1350" b="0">
                <a:solidFill>
                  <a:srgbClr val="516476"/>
                </a:solidFill>
                <a:latin typeface="Helvetica Neue"/>
                <a:ea typeface="Helvetica Neue"/>
                <a:cs typeface="Helvetica Neue"/>
              </a:defRPr>
            </a:lvl1pPr>
            <a:lvl2pPr>
              <a:defRPr sz="1350" b="0">
                <a:solidFill>
                  <a:srgbClr val="516476"/>
                </a:solidFill>
                <a:latin typeface="Helvetica Neue"/>
                <a:ea typeface="Helvetica Neue"/>
                <a:cs typeface="Helvetica Neue"/>
              </a:defRPr>
            </a:lvl2pPr>
            <a:lvl3pPr>
              <a:defRPr sz="1350" b="0">
                <a:solidFill>
                  <a:srgbClr val="516476"/>
                </a:solidFill>
                <a:latin typeface="Helvetica Neue"/>
                <a:ea typeface="Helvetica Neue"/>
                <a:cs typeface="Helvetica Neue"/>
              </a:defRPr>
            </a:lvl3pPr>
            <a:lvl4pPr>
              <a:defRPr sz="1350" b="0">
                <a:solidFill>
                  <a:srgbClr val="516476"/>
                </a:solidFill>
                <a:latin typeface="Helvetica Neue"/>
                <a:ea typeface="Helvetica Neue"/>
                <a:cs typeface="Helvetica Neue"/>
              </a:defRPr>
            </a:lvl4pPr>
            <a:lvl5pPr>
              <a:defRPr sz="1350" b="0">
                <a:solidFill>
                  <a:srgbClr val="516476"/>
                </a:solidFill>
                <a:latin typeface="Helvetica Neue"/>
                <a:ea typeface="Helvetica Neue"/>
                <a:cs typeface="Helvetica Neue"/>
              </a:defRPr>
            </a:lvl5pPr>
            <a:lvl6pPr>
              <a:defRPr sz="1350" b="0">
                <a:solidFill>
                  <a:srgbClr val="516476"/>
                </a:solidFill>
                <a:latin typeface="Helvetica Neue"/>
                <a:ea typeface="Helvetica Neue"/>
                <a:cs typeface="Helvetica Neue"/>
              </a:defRPr>
            </a:lvl6pPr>
            <a:lvl7pPr>
              <a:defRPr sz="1350" b="0">
                <a:solidFill>
                  <a:srgbClr val="516476"/>
                </a:solidFill>
                <a:latin typeface="Helvetica Neue"/>
                <a:ea typeface="Helvetica Neue"/>
                <a:cs typeface="Helvetica Neue"/>
              </a:defRPr>
            </a:lvl7pPr>
            <a:lvl8pPr>
              <a:defRPr sz="1350" b="0">
                <a:solidFill>
                  <a:srgbClr val="516476"/>
                </a:solidFill>
                <a:latin typeface="Helvetica Neue"/>
                <a:ea typeface="Helvetica Neue"/>
                <a:cs typeface="Helvetica Neue"/>
              </a:defRPr>
            </a:lvl8pPr>
            <a:lvl9pPr>
              <a:defRPr sz="1350" b="0">
                <a:solidFill>
                  <a:srgbClr val="516476"/>
                </a:solidFill>
                <a:latin typeface="Helvetica Neue"/>
                <a:ea typeface="Helvetica Neue"/>
                <a:cs typeface="Helvetica Neue"/>
              </a:defRPr>
            </a:lvl9pPr>
          </a:lstStyle>
          <a:p xmlns:a="http://schemas.openxmlformats.org/drawingml/2006/main">
            <a:pPr>
              <a:defRPr sz="1350" b="0">
                <a:solidFill>
                  <a:srgbClr val="516476"/>
                </a:solidFill>
                <a:latin typeface="Helvetica Neue"/>
                <a:ea typeface="Helvetica Neue"/>
                <a:cs typeface="Helvetica Neue"/>
              </a:defRPr>
            </a:pPr>
            <a:r>
              <a:rPr sz="1350" b="0">
                <a:solidFill>
                  <a:srgbClr val="516476"/>
                </a:solidFill>
                <a:latin typeface="Helvetica Neue"/>
                <a:ea typeface="Helvetica Neue"/>
                <a:cs typeface="Helvetica Neue"/>
              </a:rPr>
              <a:t>7 / 11</a:t>
            </a:r>
          </a:p>
        </p:txBody>
      </p:sp>
      <p:sp>
        <p:nvSpPr>
          <p:cNvPr id="3" name="">
            <a:extLst xmlns:a="http://schemas.openxmlformats.org/drawingml/2006/main">
              <a:ext uri="{FF2B5EF4-FFF2-40B4-BE49-F238E27FC236}">
                <a16:creationId xmlns:a16="http://schemas.microsoft.com/office/drawing/2014/main" id="{46177DE9-4BF4-4BA3-8D65-7AEAE8F78B64}"/>
              </a:ext>
            </a:extLst>
          </p:cNvPr>
          <p:cNvSpPr>
            <a:spLocks xmlns:a="http://schemas.openxmlformats.org/drawingml/2006/main" noGrp="1"/>
          </p:cNvSpPr>
          <p:nvPr/>
        </p:nvSpPr>
        <p:spPr>
          <a:xfrm xmlns:a="http://schemas.openxmlformats.org/drawingml/2006/main">
            <a:off x="571500" y="140017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516476"/>
                </a:solidFill>
                <a:latin typeface="Helvetica Neue"/>
                <a:ea typeface="Helvetica Neue"/>
                <a:cs typeface="Helvetica Neue"/>
              </a:defRPr>
            </a:defPPr>
            <a:lvl1pPr>
              <a:defRPr sz="2025" b="0">
                <a:solidFill>
                  <a:srgbClr val="516476"/>
                </a:solidFill>
                <a:latin typeface="Helvetica Neue"/>
                <a:ea typeface="Helvetica Neue"/>
                <a:cs typeface="Helvetica Neue"/>
              </a:defRPr>
            </a:lvl1pPr>
            <a:lvl2pPr>
              <a:defRPr sz="2025" b="0">
                <a:solidFill>
                  <a:srgbClr val="516476"/>
                </a:solidFill>
                <a:latin typeface="Helvetica Neue"/>
                <a:ea typeface="Helvetica Neue"/>
                <a:cs typeface="Helvetica Neue"/>
              </a:defRPr>
            </a:lvl2pPr>
            <a:lvl3pPr>
              <a:defRPr sz="2025" b="0">
                <a:solidFill>
                  <a:srgbClr val="516476"/>
                </a:solidFill>
                <a:latin typeface="Helvetica Neue"/>
                <a:ea typeface="Helvetica Neue"/>
                <a:cs typeface="Helvetica Neue"/>
              </a:defRPr>
            </a:lvl3pPr>
            <a:lvl4pPr>
              <a:defRPr sz="2025" b="0">
                <a:solidFill>
                  <a:srgbClr val="516476"/>
                </a:solidFill>
                <a:latin typeface="Helvetica Neue"/>
                <a:ea typeface="Helvetica Neue"/>
                <a:cs typeface="Helvetica Neue"/>
              </a:defRPr>
            </a:lvl4pPr>
            <a:lvl5pPr>
              <a:defRPr sz="2025" b="0">
                <a:solidFill>
                  <a:srgbClr val="516476"/>
                </a:solidFill>
                <a:latin typeface="Helvetica Neue"/>
                <a:ea typeface="Helvetica Neue"/>
                <a:cs typeface="Helvetica Neue"/>
              </a:defRPr>
            </a:lvl5pPr>
            <a:lvl6pPr>
              <a:defRPr sz="2025" b="0">
                <a:solidFill>
                  <a:srgbClr val="516476"/>
                </a:solidFill>
                <a:latin typeface="Helvetica Neue"/>
                <a:ea typeface="Helvetica Neue"/>
                <a:cs typeface="Helvetica Neue"/>
              </a:defRPr>
            </a:lvl6pPr>
            <a:lvl7pPr>
              <a:defRPr sz="2025" b="0">
                <a:solidFill>
                  <a:srgbClr val="516476"/>
                </a:solidFill>
                <a:latin typeface="Helvetica Neue"/>
                <a:ea typeface="Helvetica Neue"/>
                <a:cs typeface="Helvetica Neue"/>
              </a:defRPr>
            </a:lvl7pPr>
            <a:lvl8pPr>
              <a:defRPr sz="2025" b="0">
                <a:solidFill>
                  <a:srgbClr val="516476"/>
                </a:solidFill>
                <a:latin typeface="Helvetica Neue"/>
                <a:ea typeface="Helvetica Neue"/>
                <a:cs typeface="Helvetica Neue"/>
              </a:defRPr>
            </a:lvl8pPr>
            <a:lvl9pPr>
              <a:defRPr sz="2025" b="0">
                <a:solidFill>
                  <a:srgbClr val="516476"/>
                </a:solidFill>
                <a:latin typeface="Helvetica Neue"/>
                <a:ea typeface="Helvetica Neue"/>
                <a:cs typeface="Helvetica Neue"/>
              </a:defRPr>
            </a:lvl9pPr>
          </a:lstStyle>
          <a:p xmlns:a="http://schemas.openxmlformats.org/drawingml/2006/main">
            <a:pPr>
              <a:defRPr sz="2025" b="0">
                <a:solidFill>
                  <a:srgbClr val="516476"/>
                </a:solidFill>
                <a:latin typeface="Helvetica Neue"/>
                <a:ea typeface="Helvetica Neue"/>
                <a:cs typeface="Helvetica Neue"/>
              </a:defRPr>
            </a:pPr>
            <a:r>
              <a:rPr sz="2025" b="0">
                <a:solidFill>
                  <a:srgbClr val="516476"/>
                </a:solidFill>
                <a:latin typeface="Helvetica Neue"/>
                <a:ea typeface="Helvetica Neue"/>
                <a:cs typeface="Helvetica Neue"/>
              </a:rPr>
              <a:t>Classical solves on the same layouts, keeping the original problem and scale fixed</a:t>
            </a:r>
          </a:p>
        </p:txBody>
      </p:sp>
      <p:graphicFrame>
        <p:nvGraphicFramePr>
          <p:cNvPr id="4" name="">
            <a:extLst xmlns:a="http://schemas.openxmlformats.org/drawingml/2006/main">
              <a:ext uri="{FF2B5EF4-FFF2-40B4-BE49-F238E27FC236}">
                <a16:creationId xmlns:a16="http://schemas.microsoft.com/office/drawing/2014/main" id="{43049714-1BF8-4156-93E8-26933C8888C1}"/>
              </a:ext>
            </a:extLst>
          </p:cNvPr>
          <p:cNvGraphicFramePr/>
          <p:nvPr/>
        </p:nvGraphicFramePr>
        <p:xfrm>
          <a:off xmlns:a="http://schemas.openxmlformats.org/drawingml/2006/main" x="571500" y="2076450"/>
          <a:ext xmlns:a="http://schemas.openxmlformats.org/drawingml/2006/main" cx="11049000" cy="2667000"/>
        </p:xfrm>
        <a:graphic xmlns:a="http://schemas.openxmlformats.org/drawingml/2006/main">
          <a:graphicData uri="http://schemas.openxmlformats.org/drawingml/2006/table">
            <a:tbl>
              <a:tblPr firstRow="1" bandRow="0"/>
              <a:tblGrid>
                <a:gridCol w="2095500"/>
                <a:gridCol w="1381125"/>
                <a:gridCol w="1381125"/>
                <a:gridCol w="2047875"/>
                <a:gridCol w="2095500"/>
                <a:gridCol w="2047875"/>
              </a:tblGrid>
              <a:tr h="666750">
                <a:tc>
                  <a:txBody>
                    <a:bodyPr/>
                    <a:lstStyle/>
                    <a:p>
                      <a:r>
                        <a:rPr sz="1800" b="1">
                          <a:solidFill>
                            <a:srgbClr val="FFFFFF"/>
                          </a:solidFill>
                          <a:latin typeface="Helvetica Neue"/>
                          <a:ea typeface="Helvetica Neue"/>
                          <a:cs typeface="Helvetica Neue"/>
                        </a:rPr>
                        <a:t>Problem and encoding</a:t>
                      </a:r>
                    </a:p>
                  </a:txBody>
                  <a:tcPr marL="142875" marR="142875" marT="76200" marB="76200" anchor="ctr">
                    <a:lnL w="9525">
                      <a:solidFill>
                        <a:srgbClr val="DCE5EA"/>
                      </a:solidFill>
                      <a:prstDash val="solid"/>
                    </a:lnL>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800" b="1">
                          <a:solidFill>
                            <a:srgbClr val="FFFFFF"/>
                          </a:solidFill>
                          <a:latin typeface="Helvetica Neue"/>
                          <a:ea typeface="Helvetica Neue"/>
                          <a:cs typeface="Helvetica Neue"/>
                        </a:rPr>
                        <a:t>Distinct problems</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800" b="1">
                          <a:solidFill>
                            <a:srgbClr val="FFFFFF"/>
                          </a:solidFill>
                          <a:latin typeface="Helvetica Neue"/>
                          <a:ea typeface="Helvetica Neue"/>
                          <a:cs typeface="Helvetica Neue"/>
                        </a:rPr>
                        <a:t>Layouts tested</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800" b="1">
                          <a:solidFill>
                            <a:srgbClr val="FFFFFF"/>
                          </a:solidFill>
                          <a:latin typeface="Helvetica Neue"/>
                          <a:ea typeface="Helvetica Neue"/>
                          <a:cs typeface="Helvetica Neue"/>
                        </a:rPr>
                        <a:t>Intended model</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800" b="1">
                          <a:solidFill>
                            <a:srgbClr val="FFFFFF"/>
                          </a:solidFill>
                          <a:latin typeface="Helvetica Neue"/>
                          <a:ea typeface="Helvetica Neue"/>
                          <a:cs typeface="Helvetica Neue"/>
                        </a:rPr>
                        <a:t>Only pairs changed</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800" b="1">
                          <a:solidFill>
                            <a:srgbClr val="FFFFFF"/>
                          </a:solidFill>
                          <a:latin typeface="Helvetica Neue"/>
                          <a:ea typeface="Helvetica Neue"/>
                          <a:cs typeface="Helvetica Neue"/>
                        </a:rPr>
                        <a:t>Actual endpoint</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r>
              <a:tr h="666750">
                <a:tc>
                  <a:txBody>
                    <a:bodyPr/>
                    <a:lstStyle/>
                    <a:p>
                      <a:r>
                        <a:rPr sz="1800" b="0">
                          <a:solidFill>
                            <a:srgbClr val="142536"/>
                          </a:solidFill>
                          <a:latin typeface="Helvetica Neue"/>
                          <a:ea typeface="Helvetica Neue"/>
                          <a:cs typeface="Helvetica Neue"/>
                        </a:rPr>
                        <a:t>Small slack</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800" b="0">
                          <a:solidFill>
                            <a:srgbClr val="142536"/>
                          </a:solidFill>
                          <a:latin typeface="Helvetica Neue"/>
                          <a:ea typeface="Helvetica Neue"/>
                          <a:cs typeface="Helvetica Neue"/>
                        </a:rPr>
                        <a:t>10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800" b="0">
                          <a:solidFill>
                            <a:srgbClr val="142536"/>
                          </a:solidFill>
                          <a:latin typeface="Helvetica Neue"/>
                          <a:ea typeface="Helvetica Neue"/>
                          <a:cs typeface="Helvetica Neue"/>
                        </a:rPr>
                        <a:t>60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800" b="0">
                          <a:solidFill>
                            <a:srgbClr val="142536"/>
                          </a:solidFill>
                          <a:latin typeface="Helvetica Neue"/>
                          <a:ea typeface="Helvetica Neue"/>
                          <a:cs typeface="Helvetica Neue"/>
                        </a:rPr>
                        <a:t>60 of 60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800" b="0">
                          <a:solidFill>
                            <a:srgbClr val="142536"/>
                          </a:solidFill>
                          <a:latin typeface="Helvetica Neue"/>
                          <a:ea typeface="Helvetica Neue"/>
                          <a:cs typeface="Helvetica Neue"/>
                        </a:rPr>
                        <a:t>0 of 60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800" b="0">
                          <a:solidFill>
                            <a:srgbClr val="142536"/>
                          </a:solidFill>
                          <a:latin typeface="Helvetica Neue"/>
                          <a:ea typeface="Helvetica Neue"/>
                          <a:cs typeface="Helvetica Neue"/>
                        </a:rPr>
                        <a:t>1 of 60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r h="666750">
                <a:tc>
                  <a:txBody>
                    <a:bodyPr/>
                    <a:lstStyle/>
                    <a:p>
                      <a:r>
                        <a:rPr sz="1800" b="0">
                          <a:solidFill>
                            <a:srgbClr val="142536"/>
                          </a:solidFill>
                          <a:latin typeface="Helvetica Neue"/>
                          <a:ea typeface="Helvetica Neue"/>
                          <a:cs typeface="Helvetica Neue"/>
                        </a:rPr>
                        <a:t>Medium reduced</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1F5F7"/>
                    </a:solidFill>
                  </a:tcPr>
                </a:tc>
                <a:tc>
                  <a:txBody>
                    <a:bodyPr/>
                    <a:lstStyle/>
                    <a:p>
                      <a:r>
                        <a:rPr sz="1800" b="0">
                          <a:solidFill>
                            <a:srgbClr val="142536"/>
                          </a:solidFill>
                          <a:latin typeface="Helvetica Neue"/>
                          <a:ea typeface="Helvetica Neue"/>
                          <a:cs typeface="Helvetica Neue"/>
                        </a:rPr>
                        <a:t>5</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800" b="0">
                          <a:solidFill>
                            <a:srgbClr val="142536"/>
                          </a:solidFill>
                          <a:latin typeface="Helvetica Neue"/>
                          <a:ea typeface="Helvetica Neue"/>
                          <a:cs typeface="Helvetica Neue"/>
                        </a:rPr>
                        <a:t>10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800" b="0">
                          <a:solidFill>
                            <a:srgbClr val="142536"/>
                          </a:solidFill>
                          <a:latin typeface="Helvetica Neue"/>
                          <a:ea typeface="Helvetica Neue"/>
                          <a:cs typeface="Helvetica Neue"/>
                        </a:rPr>
                        <a:t>10 of 10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800" b="0">
                          <a:solidFill>
                            <a:srgbClr val="142536"/>
                          </a:solidFill>
                          <a:latin typeface="Helvetica Neue"/>
                          <a:ea typeface="Helvetica Neue"/>
                          <a:cs typeface="Helvetica Neue"/>
                        </a:rPr>
                        <a:t>0 of 10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800" b="0">
                          <a:solidFill>
                            <a:srgbClr val="142536"/>
                          </a:solidFill>
                          <a:latin typeface="Helvetica Neue"/>
                          <a:ea typeface="Helvetica Neue"/>
                          <a:cs typeface="Helvetica Neue"/>
                        </a:rPr>
                        <a:t>0 of 10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r>
              <a:tr h="666750">
                <a:tc>
                  <a:txBody>
                    <a:bodyPr/>
                    <a:lstStyle/>
                    <a:p>
                      <a:r>
                        <a:rPr sz="1800" b="0">
                          <a:solidFill>
                            <a:srgbClr val="142536"/>
                          </a:solidFill>
                          <a:latin typeface="Helvetica Neue"/>
                          <a:ea typeface="Helvetica Neue"/>
                          <a:cs typeface="Helvetica Neue"/>
                        </a:rPr>
                        <a:t>Medium slack</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800" b="0">
                          <a:solidFill>
                            <a:srgbClr val="142536"/>
                          </a:solidFill>
                          <a:latin typeface="Helvetica Neue"/>
                          <a:ea typeface="Helvetica Neue"/>
                          <a:cs typeface="Helvetica Neue"/>
                        </a:rPr>
                        <a:t>5</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800" b="0">
                          <a:solidFill>
                            <a:srgbClr val="142536"/>
                          </a:solidFill>
                          <a:latin typeface="Helvetica Neue"/>
                          <a:ea typeface="Helvetica Neue"/>
                          <a:cs typeface="Helvetica Neue"/>
                        </a:rPr>
                        <a:t>10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800" b="0">
                          <a:solidFill>
                            <a:srgbClr val="142536"/>
                          </a:solidFill>
                          <a:latin typeface="Helvetica Neue"/>
                          <a:ea typeface="Helvetica Neue"/>
                          <a:cs typeface="Helvetica Neue"/>
                        </a:rPr>
                        <a:t>10 of 10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800" b="0">
                          <a:solidFill>
                            <a:srgbClr val="142536"/>
                          </a:solidFill>
                          <a:latin typeface="Helvetica Neue"/>
                          <a:ea typeface="Helvetica Neue"/>
                          <a:cs typeface="Helvetica Neue"/>
                        </a:rPr>
                        <a:t>0 of 10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800" b="0">
                          <a:solidFill>
                            <a:srgbClr val="142536"/>
                          </a:solidFill>
                          <a:latin typeface="Helvetica Neue"/>
                          <a:ea typeface="Helvetica Neue"/>
                          <a:cs typeface="Helvetica Neue"/>
                        </a:rPr>
                        <a:t>0 of 5 available</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978C2FF-3B4C-4A63-B0C4-A78F346FB619}"/>
              </a:ext>
            </a:extLst>
          </p:cNvPr>
          <p:cNvSpPr>
            <a:spLocks xmlns:a="http://schemas.openxmlformats.org/drawingml/2006/main" noGrp="1"/>
          </p:cNvSpPr>
          <p:nvPr/>
        </p:nvSpPr>
        <p:spPr>
          <a:xfrm xmlns:a="http://schemas.openxmlformats.org/drawingml/2006/main">
            <a:off x="571500" y="49244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186A91"/>
                </a:solidFill>
                <a:latin typeface="Helvetica Neue"/>
                <a:ea typeface="Helvetica Neue"/>
                <a:cs typeface="Helvetica Neue"/>
              </a:defRPr>
            </a:defPPr>
            <a:lvl1pPr>
              <a:defRPr sz="1875" b="1">
                <a:solidFill>
                  <a:srgbClr val="186A91"/>
                </a:solidFill>
                <a:latin typeface="Helvetica Neue"/>
                <a:ea typeface="Helvetica Neue"/>
                <a:cs typeface="Helvetica Neue"/>
              </a:defRPr>
            </a:lvl1pPr>
            <a:lvl2pPr>
              <a:defRPr sz="1875" b="1">
                <a:solidFill>
                  <a:srgbClr val="186A91"/>
                </a:solidFill>
                <a:latin typeface="Helvetica Neue"/>
                <a:ea typeface="Helvetica Neue"/>
                <a:cs typeface="Helvetica Neue"/>
              </a:defRPr>
            </a:lvl2pPr>
            <a:lvl3pPr>
              <a:defRPr sz="1875" b="1">
                <a:solidFill>
                  <a:srgbClr val="186A91"/>
                </a:solidFill>
                <a:latin typeface="Helvetica Neue"/>
                <a:ea typeface="Helvetica Neue"/>
                <a:cs typeface="Helvetica Neue"/>
              </a:defRPr>
            </a:lvl3pPr>
            <a:lvl4pPr>
              <a:defRPr sz="1875" b="1">
                <a:solidFill>
                  <a:srgbClr val="186A91"/>
                </a:solidFill>
                <a:latin typeface="Helvetica Neue"/>
                <a:ea typeface="Helvetica Neue"/>
                <a:cs typeface="Helvetica Neue"/>
              </a:defRPr>
            </a:lvl4pPr>
            <a:lvl5pPr>
              <a:defRPr sz="1875" b="1">
                <a:solidFill>
                  <a:srgbClr val="186A91"/>
                </a:solidFill>
                <a:latin typeface="Helvetica Neue"/>
                <a:ea typeface="Helvetica Neue"/>
                <a:cs typeface="Helvetica Neue"/>
              </a:defRPr>
            </a:lvl5pPr>
            <a:lvl6pPr>
              <a:defRPr sz="1875" b="1">
                <a:solidFill>
                  <a:srgbClr val="186A91"/>
                </a:solidFill>
                <a:latin typeface="Helvetica Neue"/>
                <a:ea typeface="Helvetica Neue"/>
                <a:cs typeface="Helvetica Neue"/>
              </a:defRPr>
            </a:lvl6pPr>
            <a:lvl7pPr>
              <a:defRPr sz="1875" b="1">
                <a:solidFill>
                  <a:srgbClr val="186A91"/>
                </a:solidFill>
                <a:latin typeface="Helvetica Neue"/>
                <a:ea typeface="Helvetica Neue"/>
                <a:cs typeface="Helvetica Neue"/>
              </a:defRPr>
            </a:lvl7pPr>
            <a:lvl8pPr>
              <a:defRPr sz="1875" b="1">
                <a:solidFill>
                  <a:srgbClr val="186A91"/>
                </a:solidFill>
                <a:latin typeface="Helvetica Neue"/>
                <a:ea typeface="Helvetica Neue"/>
                <a:cs typeface="Helvetica Neue"/>
              </a:defRPr>
            </a:lvl8pPr>
            <a:lvl9pPr>
              <a:defRPr sz="1875" b="1">
                <a:solidFill>
                  <a:srgbClr val="186A91"/>
                </a:solidFill>
                <a:latin typeface="Helvetica Neue"/>
                <a:ea typeface="Helvetica Neue"/>
                <a:cs typeface="Helvetica Neue"/>
              </a:defRPr>
            </a:lvl9pPr>
          </a:lstStyle>
          <a:p xmlns:a="http://schemas.openxmlformats.org/drawingml/2006/main">
            <a:pPr>
              <a:defRPr sz="1875" b="1">
                <a:solidFill>
                  <a:srgbClr val="186A91"/>
                </a:solidFill>
                <a:latin typeface="Helvetica Neue"/>
                <a:ea typeface="Helvetica Neue"/>
                <a:cs typeface="Helvetica Neue"/>
              </a:defRPr>
            </a:pPr>
            <a:r>
              <a:rPr sz="1875" b="1">
                <a:solidFill>
                  <a:srgbClr val="186A91"/>
                </a:solidFill>
                <a:latin typeface="Helvetica Neue"/>
                <a:ea typeface="Helvetica Neue"/>
                <a:cs typeface="Helvetica Neue"/>
              </a:rPr>
              <a:t>Last three columns: layouts with a feasible minimum.</a:t>
            </a:r>
          </a:p>
        </p:txBody>
      </p:sp>
      <p:sp>
        <p:nvSpPr>
          <p:cNvPr id="6" name="">
            <a:extLst xmlns:a="http://schemas.openxmlformats.org/drawingml/2006/main">
              <a:ext uri="{FF2B5EF4-FFF2-40B4-BE49-F238E27FC236}">
                <a16:creationId xmlns:a16="http://schemas.microsoft.com/office/drawing/2014/main" id="{5E1BD728-B597-493E-BC76-8B2029E3A060}"/>
              </a:ext>
            </a:extLst>
          </p:cNvPr>
          <p:cNvSpPr>
            <a:spLocks xmlns:a="http://schemas.openxmlformats.org/drawingml/2006/main" noGrp="1"/>
          </p:cNvSpPr>
          <p:nvPr/>
        </p:nvSpPr>
        <p:spPr>
          <a:xfrm xmlns:a="http://schemas.openxmlformats.org/drawingml/2006/main">
            <a:off x="571500" y="5381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142536"/>
                </a:solidFill>
                <a:latin typeface="Helvetica Neue"/>
                <a:ea typeface="Helvetica Neue"/>
                <a:cs typeface="Helvetica Neue"/>
              </a:defRPr>
            </a:defPPr>
            <a:lvl1pPr>
              <a:defRPr sz="1875" b="1">
                <a:solidFill>
                  <a:srgbClr val="142536"/>
                </a:solidFill>
                <a:latin typeface="Helvetica Neue"/>
                <a:ea typeface="Helvetica Neue"/>
                <a:cs typeface="Helvetica Neue"/>
              </a:defRPr>
            </a:lvl1pPr>
            <a:lvl2pPr>
              <a:defRPr sz="1875" b="1">
                <a:solidFill>
                  <a:srgbClr val="142536"/>
                </a:solidFill>
                <a:latin typeface="Helvetica Neue"/>
                <a:ea typeface="Helvetica Neue"/>
                <a:cs typeface="Helvetica Neue"/>
              </a:defRPr>
            </a:lvl2pPr>
            <a:lvl3pPr>
              <a:defRPr sz="1875" b="1">
                <a:solidFill>
                  <a:srgbClr val="142536"/>
                </a:solidFill>
                <a:latin typeface="Helvetica Neue"/>
                <a:ea typeface="Helvetica Neue"/>
                <a:cs typeface="Helvetica Neue"/>
              </a:defRPr>
            </a:lvl3pPr>
            <a:lvl4pPr>
              <a:defRPr sz="1875" b="1">
                <a:solidFill>
                  <a:srgbClr val="142536"/>
                </a:solidFill>
                <a:latin typeface="Helvetica Neue"/>
                <a:ea typeface="Helvetica Neue"/>
                <a:cs typeface="Helvetica Neue"/>
              </a:defRPr>
            </a:lvl4pPr>
            <a:lvl5pPr>
              <a:defRPr sz="1875" b="1">
                <a:solidFill>
                  <a:srgbClr val="142536"/>
                </a:solidFill>
                <a:latin typeface="Helvetica Neue"/>
                <a:ea typeface="Helvetica Neue"/>
                <a:cs typeface="Helvetica Neue"/>
              </a:defRPr>
            </a:lvl5pPr>
            <a:lvl6pPr>
              <a:defRPr sz="1875" b="1">
                <a:solidFill>
                  <a:srgbClr val="142536"/>
                </a:solidFill>
                <a:latin typeface="Helvetica Neue"/>
                <a:ea typeface="Helvetica Neue"/>
                <a:cs typeface="Helvetica Neue"/>
              </a:defRPr>
            </a:lvl6pPr>
            <a:lvl7pPr>
              <a:defRPr sz="1875" b="1">
                <a:solidFill>
                  <a:srgbClr val="142536"/>
                </a:solidFill>
                <a:latin typeface="Helvetica Neue"/>
                <a:ea typeface="Helvetica Neue"/>
                <a:cs typeface="Helvetica Neue"/>
              </a:defRPr>
            </a:lvl7pPr>
            <a:lvl8pPr>
              <a:defRPr sz="1875" b="1">
                <a:solidFill>
                  <a:srgbClr val="142536"/>
                </a:solidFill>
                <a:latin typeface="Helvetica Neue"/>
                <a:ea typeface="Helvetica Neue"/>
                <a:cs typeface="Helvetica Neue"/>
              </a:defRPr>
            </a:lvl8pPr>
            <a:lvl9pPr>
              <a:defRPr sz="1875" b="1">
                <a:solidFill>
                  <a:srgbClr val="142536"/>
                </a:solidFill>
                <a:latin typeface="Helvetica Neue"/>
                <a:ea typeface="Helvetica Neue"/>
                <a:cs typeface="Helvetica Neue"/>
              </a:defRPr>
            </a:lvl9pPr>
          </a:lstStyle>
          <a:p xmlns:a="http://schemas.openxmlformats.org/drawingml/2006/main">
            <a:pPr>
              <a:defRPr sz="1875" b="1">
                <a:solidFill>
                  <a:srgbClr val="142536"/>
                </a:solidFill>
                <a:latin typeface="Helvetica Neue"/>
                <a:ea typeface="Helvetica Neue"/>
                <a:cs typeface="Helvetica Neue"/>
              </a:defRPr>
            </a:pPr>
            <a:r>
              <a:rPr sz="1875" b="1">
                <a:solidFill>
                  <a:srgbClr val="142536"/>
                </a:solidFill>
                <a:latin typeface="Helvetica Neue"/>
                <a:ea typeface="Helvetica Neue"/>
                <a:cs typeface="Helvetica Neue"/>
              </a:rPr>
              <a:t>New BLaDE-only audit: 0 of 80 pair-only models and 0 of 72 endpoints retain feasible minima.</a:t>
            </a:r>
          </a:p>
        </p:txBody>
      </p:sp>
      <p:sp>
        <p:nvSpPr>
          <p:cNvPr id="7" name="">
            <a:extLst xmlns:a="http://schemas.openxmlformats.org/drawingml/2006/main">
              <a:ext uri="{FF2B5EF4-FFF2-40B4-BE49-F238E27FC236}">
                <a16:creationId xmlns:a16="http://schemas.microsoft.com/office/drawing/2014/main" id="{A3D4D46C-7E29-4717-A81E-9A7802E985BD}"/>
              </a:ext>
            </a:extLst>
          </p:cNvPr>
          <p:cNvSpPr>
            <a:spLocks xmlns:a="http://schemas.openxmlformats.org/drawingml/2006/main" noGrp="1"/>
          </p:cNvSpPr>
          <p:nvPr/>
        </p:nvSpPr>
        <p:spPr>
          <a:xfrm xmlns:a="http://schemas.openxmlformats.org/drawingml/2006/main">
            <a:off x="571500" y="600075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516476"/>
                </a:solidFill>
                <a:latin typeface="Helvetica Neue"/>
                <a:ea typeface="Helvetica Neue"/>
                <a:cs typeface="Helvetica Neue"/>
              </a:defRPr>
            </a:defPPr>
            <a:lvl1pPr>
              <a:defRPr sz="1500" b="0">
                <a:solidFill>
                  <a:srgbClr val="516476"/>
                </a:solidFill>
                <a:latin typeface="Helvetica Neue"/>
                <a:ea typeface="Helvetica Neue"/>
                <a:cs typeface="Helvetica Neue"/>
              </a:defRPr>
            </a:lvl1pPr>
            <a:lvl2pPr>
              <a:defRPr sz="1500" b="0">
                <a:solidFill>
                  <a:srgbClr val="516476"/>
                </a:solidFill>
                <a:latin typeface="Helvetica Neue"/>
                <a:ea typeface="Helvetica Neue"/>
                <a:cs typeface="Helvetica Neue"/>
              </a:defRPr>
            </a:lvl2pPr>
            <a:lvl3pPr>
              <a:defRPr sz="1500" b="0">
                <a:solidFill>
                  <a:srgbClr val="516476"/>
                </a:solidFill>
                <a:latin typeface="Helvetica Neue"/>
                <a:ea typeface="Helvetica Neue"/>
                <a:cs typeface="Helvetica Neue"/>
              </a:defRPr>
            </a:lvl3pPr>
            <a:lvl4pPr>
              <a:defRPr sz="1500" b="0">
                <a:solidFill>
                  <a:srgbClr val="516476"/>
                </a:solidFill>
                <a:latin typeface="Helvetica Neue"/>
                <a:ea typeface="Helvetica Neue"/>
                <a:cs typeface="Helvetica Neue"/>
              </a:defRPr>
            </a:lvl4pPr>
            <a:lvl5pPr>
              <a:defRPr sz="1500" b="0">
                <a:solidFill>
                  <a:srgbClr val="516476"/>
                </a:solidFill>
                <a:latin typeface="Helvetica Neue"/>
                <a:ea typeface="Helvetica Neue"/>
                <a:cs typeface="Helvetica Neue"/>
              </a:defRPr>
            </a:lvl5pPr>
            <a:lvl6pPr>
              <a:defRPr sz="1500" b="0">
                <a:solidFill>
                  <a:srgbClr val="516476"/>
                </a:solidFill>
                <a:latin typeface="Helvetica Neue"/>
                <a:ea typeface="Helvetica Neue"/>
                <a:cs typeface="Helvetica Neue"/>
              </a:defRPr>
            </a:lvl6pPr>
            <a:lvl7pPr>
              <a:defRPr sz="1500" b="0">
                <a:solidFill>
                  <a:srgbClr val="516476"/>
                </a:solidFill>
                <a:latin typeface="Helvetica Neue"/>
                <a:ea typeface="Helvetica Neue"/>
                <a:cs typeface="Helvetica Neue"/>
              </a:defRPr>
            </a:lvl7pPr>
            <a:lvl8pPr>
              <a:defRPr sz="1500" b="0">
                <a:solidFill>
                  <a:srgbClr val="516476"/>
                </a:solidFill>
                <a:latin typeface="Helvetica Neue"/>
                <a:ea typeface="Helvetica Neue"/>
                <a:cs typeface="Helvetica Neue"/>
              </a:defRPr>
            </a:lvl8pPr>
            <a:lvl9pPr>
              <a:defRPr sz="1500" b="0">
                <a:solidFill>
                  <a:srgbClr val="516476"/>
                </a:solidFill>
                <a:latin typeface="Helvetica Neue"/>
                <a:ea typeface="Helvetica Neue"/>
                <a:cs typeface="Helvetica Neue"/>
              </a:defRPr>
            </a:lvl9pPr>
          </a:lstStyle>
          <a:p xmlns:a="http://schemas.openxmlformats.org/drawingml/2006/main">
            <a:pPr>
              <a:defRPr sz="1500" b="0">
                <a:solidFill>
                  <a:srgbClr val="516476"/>
                </a:solidFill>
                <a:latin typeface="Helvetica Neue"/>
                <a:ea typeface="Helvetica Neue"/>
                <a:cs typeface="Helvetica Neue"/>
              </a:defRPr>
            </a:pPr>
            <a:r>
              <a:rPr sz="1500" b="0">
                <a:solidFill>
                  <a:srgbClr val="516476"/>
                </a:solidFill>
                <a:latin typeface="Helvetica Neue"/>
                <a:ea typeface="Helvetica Neue"/>
                <a:cs typeface="Helvetica Neue"/>
              </a:rPr>
              <a:t>Table pools both placement methods. New audit: five medium problems with repeated encodings and settings; eight endpoints unavailable.</a:t>
            </a:r>
          </a:p>
        </p:txBody>
      </p:sp>
    </p:spTree>
    <p:extLst>
      <p:ext uri="{BB962C8B-B14F-4D97-AF65-F5344CB8AC3E}">
        <p14:creationId xmlns:p14="http://schemas.microsoft.com/office/powerpoint/2010/main" val="1042862276"/>
      </p:ext>
    </p:extLst>
  </p:cSld>
</p:sld>
</file>

<file path=ppt/slides/slide8.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E685FB-6685-401F-882C-AE88CEFCA6CA}"/>
              </a:ext>
            </a:extLst>
          </p:cNvPr>
          <p:cNvSpPr>
            <a:spLocks xmlns:a="http://schemas.openxmlformats.org/drawingml/2006/main" noGrp="1"/>
          </p:cNvSpPr>
          <p:nvPr/>
        </p:nvSpPr>
        <p:spPr>
          <a:xfrm xmlns:a="http://schemas.openxmlformats.org/drawingml/2006/main">
            <a:off x="571500" y="34290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42536"/>
                </a:solidFill>
                <a:latin typeface="Helvetica Neue"/>
                <a:ea typeface="Helvetica Neue"/>
                <a:cs typeface="Helvetica Neue"/>
              </a:defRPr>
            </a:defPPr>
            <a:lvl1pPr>
              <a:defRPr sz="3225" b="1">
                <a:solidFill>
                  <a:srgbClr val="142536"/>
                </a:solidFill>
                <a:latin typeface="Helvetica Neue"/>
                <a:ea typeface="Helvetica Neue"/>
                <a:cs typeface="Helvetica Neue"/>
              </a:defRPr>
            </a:lvl1pPr>
            <a:lvl2pPr>
              <a:defRPr sz="3225" b="1">
                <a:solidFill>
                  <a:srgbClr val="142536"/>
                </a:solidFill>
                <a:latin typeface="Helvetica Neue"/>
                <a:ea typeface="Helvetica Neue"/>
                <a:cs typeface="Helvetica Neue"/>
              </a:defRPr>
            </a:lvl2pPr>
            <a:lvl3pPr>
              <a:defRPr sz="3225" b="1">
                <a:solidFill>
                  <a:srgbClr val="142536"/>
                </a:solidFill>
                <a:latin typeface="Helvetica Neue"/>
                <a:ea typeface="Helvetica Neue"/>
                <a:cs typeface="Helvetica Neue"/>
              </a:defRPr>
            </a:lvl3pPr>
            <a:lvl4pPr>
              <a:defRPr sz="3225" b="1">
                <a:solidFill>
                  <a:srgbClr val="142536"/>
                </a:solidFill>
                <a:latin typeface="Helvetica Neue"/>
                <a:ea typeface="Helvetica Neue"/>
                <a:cs typeface="Helvetica Neue"/>
              </a:defRPr>
            </a:lvl4pPr>
            <a:lvl5pPr>
              <a:defRPr sz="3225" b="1">
                <a:solidFill>
                  <a:srgbClr val="142536"/>
                </a:solidFill>
                <a:latin typeface="Helvetica Neue"/>
                <a:ea typeface="Helvetica Neue"/>
                <a:cs typeface="Helvetica Neue"/>
              </a:defRPr>
            </a:lvl5pPr>
            <a:lvl6pPr>
              <a:defRPr sz="3225" b="1">
                <a:solidFill>
                  <a:srgbClr val="142536"/>
                </a:solidFill>
                <a:latin typeface="Helvetica Neue"/>
                <a:ea typeface="Helvetica Neue"/>
                <a:cs typeface="Helvetica Neue"/>
              </a:defRPr>
            </a:lvl6pPr>
            <a:lvl7pPr>
              <a:defRPr sz="3225" b="1">
                <a:solidFill>
                  <a:srgbClr val="142536"/>
                </a:solidFill>
                <a:latin typeface="Helvetica Neue"/>
                <a:ea typeface="Helvetica Neue"/>
                <a:cs typeface="Helvetica Neue"/>
              </a:defRPr>
            </a:lvl7pPr>
            <a:lvl8pPr>
              <a:defRPr sz="3225" b="1">
                <a:solidFill>
                  <a:srgbClr val="142536"/>
                </a:solidFill>
                <a:latin typeface="Helvetica Neue"/>
                <a:ea typeface="Helvetica Neue"/>
                <a:cs typeface="Helvetica Neue"/>
              </a:defRPr>
            </a:lvl8pPr>
            <a:lvl9pPr>
              <a:defRPr sz="3225" b="1">
                <a:solidFill>
                  <a:srgbClr val="142536"/>
                </a:solidFill>
                <a:latin typeface="Helvetica Neue"/>
                <a:ea typeface="Helvetica Neue"/>
                <a:cs typeface="Helvetica Neue"/>
              </a:defRPr>
            </a:lvl9pPr>
          </a:lstStyle>
          <a:p xmlns:a="http://schemas.openxmlformats.org/drawingml/2006/main">
            <a:pPr>
              <a:defRPr sz="3225" b="1">
                <a:solidFill>
                  <a:srgbClr val="142536"/>
                </a:solidFill>
                <a:latin typeface="Helvetica Neue"/>
                <a:ea typeface="Helvetica Neue"/>
                <a:cs typeface="Helvetica Neue"/>
              </a:defRPr>
            </a:pPr>
            <a:r>
              <a:rPr sz="3225" b="1">
                <a:solidFill>
                  <a:srgbClr val="142536"/>
                </a:solidFill>
                <a:latin typeface="Helvetica Neue"/>
                <a:ea typeface="Helvetica Neue"/>
                <a:cs typeface="Helvetica Neue"/>
              </a:rPr>
              <a:t>Pair distortion lowers success across three encodings</a:t>
            </a:r>
          </a:p>
        </p:txBody>
      </p:sp>
      <p:sp>
        <p:nvSpPr>
          <p:cNvPr id="2" name="">
            <a:extLst xmlns:a="http://schemas.openxmlformats.org/drawingml/2006/main">
              <a:ext uri="{FF2B5EF4-FFF2-40B4-BE49-F238E27FC236}">
                <a16:creationId xmlns:a16="http://schemas.microsoft.com/office/drawing/2014/main" id="{B0FE86D5-344A-4654-8032-12A85510CD57}"/>
              </a:ext>
            </a:extLst>
          </p:cNvPr>
          <p:cNvSpPr>
            <a:spLocks xmlns:a="http://schemas.openxmlformats.org/drawingml/2006/main" noGrp="1"/>
          </p:cNvSpPr>
          <p:nvPr/>
        </p:nvSpPr>
        <p:spPr>
          <a:xfrm xmlns:a="http://schemas.openxmlformats.org/drawingml/2006/main">
            <a:off x="11001375" y="63817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16476"/>
                </a:solidFill>
                <a:latin typeface="Helvetica Neue"/>
                <a:ea typeface="Helvetica Neue"/>
                <a:cs typeface="Helvetica Neue"/>
              </a:defRPr>
            </a:defPPr>
            <a:lvl1pPr>
              <a:defRPr sz="1350" b="0">
                <a:solidFill>
                  <a:srgbClr val="516476"/>
                </a:solidFill>
                <a:latin typeface="Helvetica Neue"/>
                <a:ea typeface="Helvetica Neue"/>
                <a:cs typeface="Helvetica Neue"/>
              </a:defRPr>
            </a:lvl1pPr>
            <a:lvl2pPr>
              <a:defRPr sz="1350" b="0">
                <a:solidFill>
                  <a:srgbClr val="516476"/>
                </a:solidFill>
                <a:latin typeface="Helvetica Neue"/>
                <a:ea typeface="Helvetica Neue"/>
                <a:cs typeface="Helvetica Neue"/>
              </a:defRPr>
            </a:lvl2pPr>
            <a:lvl3pPr>
              <a:defRPr sz="1350" b="0">
                <a:solidFill>
                  <a:srgbClr val="516476"/>
                </a:solidFill>
                <a:latin typeface="Helvetica Neue"/>
                <a:ea typeface="Helvetica Neue"/>
                <a:cs typeface="Helvetica Neue"/>
              </a:defRPr>
            </a:lvl3pPr>
            <a:lvl4pPr>
              <a:defRPr sz="1350" b="0">
                <a:solidFill>
                  <a:srgbClr val="516476"/>
                </a:solidFill>
                <a:latin typeface="Helvetica Neue"/>
                <a:ea typeface="Helvetica Neue"/>
                <a:cs typeface="Helvetica Neue"/>
              </a:defRPr>
            </a:lvl4pPr>
            <a:lvl5pPr>
              <a:defRPr sz="1350" b="0">
                <a:solidFill>
                  <a:srgbClr val="516476"/>
                </a:solidFill>
                <a:latin typeface="Helvetica Neue"/>
                <a:ea typeface="Helvetica Neue"/>
                <a:cs typeface="Helvetica Neue"/>
              </a:defRPr>
            </a:lvl5pPr>
            <a:lvl6pPr>
              <a:defRPr sz="1350" b="0">
                <a:solidFill>
                  <a:srgbClr val="516476"/>
                </a:solidFill>
                <a:latin typeface="Helvetica Neue"/>
                <a:ea typeface="Helvetica Neue"/>
                <a:cs typeface="Helvetica Neue"/>
              </a:defRPr>
            </a:lvl6pPr>
            <a:lvl7pPr>
              <a:defRPr sz="1350" b="0">
                <a:solidFill>
                  <a:srgbClr val="516476"/>
                </a:solidFill>
                <a:latin typeface="Helvetica Neue"/>
                <a:ea typeface="Helvetica Neue"/>
                <a:cs typeface="Helvetica Neue"/>
              </a:defRPr>
            </a:lvl7pPr>
            <a:lvl8pPr>
              <a:defRPr sz="1350" b="0">
                <a:solidFill>
                  <a:srgbClr val="516476"/>
                </a:solidFill>
                <a:latin typeface="Helvetica Neue"/>
                <a:ea typeface="Helvetica Neue"/>
                <a:cs typeface="Helvetica Neue"/>
              </a:defRPr>
            </a:lvl8pPr>
            <a:lvl9pPr>
              <a:defRPr sz="1350" b="0">
                <a:solidFill>
                  <a:srgbClr val="516476"/>
                </a:solidFill>
                <a:latin typeface="Helvetica Neue"/>
                <a:ea typeface="Helvetica Neue"/>
                <a:cs typeface="Helvetica Neue"/>
              </a:defRPr>
            </a:lvl9pPr>
          </a:lstStyle>
          <a:p xmlns:a="http://schemas.openxmlformats.org/drawingml/2006/main">
            <a:pPr>
              <a:defRPr sz="1350" b="0">
                <a:solidFill>
                  <a:srgbClr val="516476"/>
                </a:solidFill>
                <a:latin typeface="Helvetica Neue"/>
                <a:ea typeface="Helvetica Neue"/>
                <a:cs typeface="Helvetica Neue"/>
              </a:defRPr>
            </a:pPr>
            <a:r>
              <a:rPr sz="1350" b="0">
                <a:solidFill>
                  <a:srgbClr val="516476"/>
                </a:solidFill>
                <a:latin typeface="Helvetica Neue"/>
                <a:ea typeface="Helvetica Neue"/>
                <a:cs typeface="Helvetica Neue"/>
              </a:rPr>
              <a:t>8 / 11</a:t>
            </a:r>
          </a:p>
        </p:txBody>
      </p:sp>
      <p:sp>
        <p:nvSpPr>
          <p:cNvPr id="3" name="">
            <a:extLst xmlns:a="http://schemas.openxmlformats.org/drawingml/2006/main">
              <a:ext uri="{FF2B5EF4-FFF2-40B4-BE49-F238E27FC236}">
                <a16:creationId xmlns:a16="http://schemas.microsoft.com/office/drawing/2014/main" id="{01ACC523-533C-4A12-80A6-697B8DC9B543}"/>
              </a:ext>
            </a:extLst>
          </p:cNvPr>
          <p:cNvSpPr>
            <a:spLocks xmlns:a="http://schemas.openxmlformats.org/drawingml/2006/main" noGrp="1"/>
          </p:cNvSpPr>
          <p:nvPr/>
        </p:nvSpPr>
        <p:spPr>
          <a:xfrm xmlns:a="http://schemas.openxmlformats.org/drawingml/2006/main">
            <a:off x="571500" y="13811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16476"/>
                </a:solidFill>
                <a:latin typeface="Helvetica Neue"/>
                <a:ea typeface="Helvetica Neue"/>
                <a:cs typeface="Helvetica Neue"/>
              </a:defRPr>
            </a:defPPr>
            <a:lvl1pPr>
              <a:defRPr sz="1950" b="0">
                <a:solidFill>
                  <a:srgbClr val="516476"/>
                </a:solidFill>
                <a:latin typeface="Helvetica Neue"/>
                <a:ea typeface="Helvetica Neue"/>
                <a:cs typeface="Helvetica Neue"/>
              </a:defRPr>
            </a:lvl1pPr>
            <a:lvl2pPr>
              <a:defRPr sz="1950" b="0">
                <a:solidFill>
                  <a:srgbClr val="516476"/>
                </a:solidFill>
                <a:latin typeface="Helvetica Neue"/>
                <a:ea typeface="Helvetica Neue"/>
                <a:cs typeface="Helvetica Neue"/>
              </a:defRPr>
            </a:lvl2pPr>
            <a:lvl3pPr>
              <a:defRPr sz="1950" b="0">
                <a:solidFill>
                  <a:srgbClr val="516476"/>
                </a:solidFill>
                <a:latin typeface="Helvetica Neue"/>
                <a:ea typeface="Helvetica Neue"/>
                <a:cs typeface="Helvetica Neue"/>
              </a:defRPr>
            </a:lvl3pPr>
            <a:lvl4pPr>
              <a:defRPr sz="1950" b="0">
                <a:solidFill>
                  <a:srgbClr val="516476"/>
                </a:solidFill>
                <a:latin typeface="Helvetica Neue"/>
                <a:ea typeface="Helvetica Neue"/>
                <a:cs typeface="Helvetica Neue"/>
              </a:defRPr>
            </a:lvl4pPr>
            <a:lvl5pPr>
              <a:defRPr sz="1950" b="0">
                <a:solidFill>
                  <a:srgbClr val="516476"/>
                </a:solidFill>
                <a:latin typeface="Helvetica Neue"/>
                <a:ea typeface="Helvetica Neue"/>
                <a:cs typeface="Helvetica Neue"/>
              </a:defRPr>
            </a:lvl5pPr>
            <a:lvl6pPr>
              <a:defRPr sz="1950" b="0">
                <a:solidFill>
                  <a:srgbClr val="516476"/>
                </a:solidFill>
                <a:latin typeface="Helvetica Neue"/>
                <a:ea typeface="Helvetica Neue"/>
                <a:cs typeface="Helvetica Neue"/>
              </a:defRPr>
            </a:lvl6pPr>
            <a:lvl7pPr>
              <a:defRPr sz="1950" b="0">
                <a:solidFill>
                  <a:srgbClr val="516476"/>
                </a:solidFill>
                <a:latin typeface="Helvetica Neue"/>
                <a:ea typeface="Helvetica Neue"/>
                <a:cs typeface="Helvetica Neue"/>
              </a:defRPr>
            </a:lvl7pPr>
            <a:lvl8pPr>
              <a:defRPr sz="1950" b="0">
                <a:solidFill>
                  <a:srgbClr val="516476"/>
                </a:solidFill>
                <a:latin typeface="Helvetica Neue"/>
                <a:ea typeface="Helvetica Neue"/>
                <a:cs typeface="Helvetica Neue"/>
              </a:defRPr>
            </a:lvl8pPr>
            <a:lvl9pPr>
              <a:defRPr sz="1950" b="0">
                <a:solidFill>
                  <a:srgbClr val="516476"/>
                </a:solidFill>
                <a:latin typeface="Helvetica Neue"/>
                <a:ea typeface="Helvetica Neue"/>
                <a:cs typeface="Helvetica Neue"/>
              </a:defRPr>
            </a:lvl9pPr>
          </a:lstStyle>
          <a:p xmlns:a="http://schemas.openxmlformats.org/drawingml/2006/main">
            <a:pPr>
              <a:defRPr sz="1950" b="0">
                <a:solidFill>
                  <a:srgbClr val="516476"/>
                </a:solidFill>
                <a:latin typeface="Helvetica Neue"/>
                <a:ea typeface="Helvetica Neue"/>
                <a:cs typeface="Helvetica Neue"/>
              </a:defRPr>
            </a:pPr>
            <a:r>
              <a:rPr sz="1950" b="0">
                <a:solidFill>
                  <a:srgbClr val="516476"/>
                </a:solidFill>
                <a:latin typeface="Helvetica Neue"/>
                <a:ea typeface="Helvetica Neue"/>
                <a:cs typeface="Helvetica Neue"/>
              </a:rPr>
              <a:t>New test: three shared small problems, three encodings. No known answers used to set penalties.</a:t>
            </a:r>
          </a:p>
        </p:txBody>
      </p:sp>
      <p:sp>
        <p:nvSpPr>
          <p:cNvPr id="4" name="">
            <a:extLst xmlns:a="http://schemas.openxmlformats.org/drawingml/2006/main">
              <a:ext uri="{FF2B5EF4-FFF2-40B4-BE49-F238E27FC236}">
                <a16:creationId xmlns:a16="http://schemas.microsoft.com/office/drawing/2014/main" id="{273B3A45-3F37-4F8C-8685-3EB308971F45}"/>
              </a:ext>
            </a:extLst>
          </p:cNvPr>
          <p:cNvSpPr>
            <a:spLocks xmlns:a="http://schemas.openxmlformats.org/drawingml/2006/main" noGrp="1"/>
          </p:cNvSpPr>
          <p:nvPr/>
        </p:nvSpPr>
        <p:spPr>
          <a:xfrm xmlns:a="http://schemas.openxmlformats.org/drawingml/2006/main">
            <a:off x="571500" y="19907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16476"/>
                </a:solidFill>
                <a:latin typeface="Helvetica Neue"/>
                <a:ea typeface="Helvetica Neue"/>
                <a:cs typeface="Helvetica Neue"/>
              </a:defRPr>
            </a:defPPr>
            <a:lvl1pPr>
              <a:defRPr sz="1875" b="0">
                <a:solidFill>
                  <a:srgbClr val="516476"/>
                </a:solidFill>
                <a:latin typeface="Helvetica Neue"/>
                <a:ea typeface="Helvetica Neue"/>
                <a:cs typeface="Helvetica Neue"/>
              </a:defRPr>
            </a:lvl1pPr>
            <a:lvl2pPr>
              <a:defRPr sz="1875" b="0">
                <a:solidFill>
                  <a:srgbClr val="516476"/>
                </a:solidFill>
                <a:latin typeface="Helvetica Neue"/>
                <a:ea typeface="Helvetica Neue"/>
                <a:cs typeface="Helvetica Neue"/>
              </a:defRPr>
            </a:lvl2pPr>
            <a:lvl3pPr>
              <a:defRPr sz="1875" b="0">
                <a:solidFill>
                  <a:srgbClr val="516476"/>
                </a:solidFill>
                <a:latin typeface="Helvetica Neue"/>
                <a:ea typeface="Helvetica Neue"/>
                <a:cs typeface="Helvetica Neue"/>
              </a:defRPr>
            </a:lvl3pPr>
            <a:lvl4pPr>
              <a:defRPr sz="1875" b="0">
                <a:solidFill>
                  <a:srgbClr val="516476"/>
                </a:solidFill>
                <a:latin typeface="Helvetica Neue"/>
                <a:ea typeface="Helvetica Neue"/>
                <a:cs typeface="Helvetica Neue"/>
              </a:defRPr>
            </a:lvl4pPr>
            <a:lvl5pPr>
              <a:defRPr sz="1875" b="0">
                <a:solidFill>
                  <a:srgbClr val="516476"/>
                </a:solidFill>
                <a:latin typeface="Helvetica Neue"/>
                <a:ea typeface="Helvetica Neue"/>
                <a:cs typeface="Helvetica Neue"/>
              </a:defRPr>
            </a:lvl5pPr>
            <a:lvl6pPr>
              <a:defRPr sz="1875" b="0">
                <a:solidFill>
                  <a:srgbClr val="516476"/>
                </a:solidFill>
                <a:latin typeface="Helvetica Neue"/>
                <a:ea typeface="Helvetica Neue"/>
                <a:cs typeface="Helvetica Neue"/>
              </a:defRPr>
            </a:lvl6pPr>
            <a:lvl7pPr>
              <a:defRPr sz="1875" b="0">
                <a:solidFill>
                  <a:srgbClr val="516476"/>
                </a:solidFill>
                <a:latin typeface="Helvetica Neue"/>
                <a:ea typeface="Helvetica Neue"/>
                <a:cs typeface="Helvetica Neue"/>
              </a:defRPr>
            </a:lvl7pPr>
            <a:lvl8pPr>
              <a:defRPr sz="1875" b="0">
                <a:solidFill>
                  <a:srgbClr val="516476"/>
                </a:solidFill>
                <a:latin typeface="Helvetica Neue"/>
                <a:ea typeface="Helvetica Neue"/>
                <a:cs typeface="Helvetica Neue"/>
              </a:defRPr>
            </a:lvl8pPr>
            <a:lvl9pPr>
              <a:defRPr sz="1875" b="0">
                <a:solidFill>
                  <a:srgbClr val="516476"/>
                </a:solidFill>
                <a:latin typeface="Helvetica Neue"/>
                <a:ea typeface="Helvetica Neue"/>
                <a:cs typeface="Helvetica Neue"/>
              </a:defRPr>
            </a:lvl9pPr>
          </a:lstStyle>
          <a:p xmlns:a="http://schemas.openxmlformats.org/drawingml/2006/main">
            <a:pPr>
              <a:defRPr sz="1875" b="0">
                <a:solidFill>
                  <a:srgbClr val="516476"/>
                </a:solidFill>
                <a:latin typeface="Helvetica Neue"/>
                <a:ea typeface="Helvetica Neue"/>
                <a:cs typeface="Helvetica Neue"/>
              </a:defRPr>
            </a:pPr>
            <a:r>
              <a:rPr sz="1875" b="0">
                <a:solidFill>
                  <a:srgbClr val="516476"/>
                </a:solidFill>
                <a:latin typeface="Helvetica Neue"/>
                <a:ea typeface="Helvetica Neue"/>
                <a:cs typeface="Helvetica Neue"/>
              </a:rPr>
              <a:t>Within each pair: same pulse, individual fields and scale. Only pair interactions change.</a:t>
            </a:r>
          </a:p>
        </p:txBody>
      </p:sp>
      <p:graphicFrame>
        <p:nvGraphicFramePr>
          <p:cNvPr id="5" name="">
            <a:extLst xmlns:a="http://schemas.openxmlformats.org/drawingml/2006/main">
              <a:ext uri="{FF2B5EF4-FFF2-40B4-BE49-F238E27FC236}">
                <a16:creationId xmlns:a16="http://schemas.microsoft.com/office/drawing/2014/main" id="{FBD524F2-B106-4F76-B8FA-7D92A1FC08D1}"/>
              </a:ext>
            </a:extLst>
          </p:cNvPr>
          <p:cNvGraphicFramePr/>
          <p:nvPr/>
        </p:nvGraphicFramePr>
        <p:xfrm>
          <a:off xmlns:a="http://schemas.openxmlformats.org/drawingml/2006/main" x="571500" y="2647950"/>
          <a:ext xmlns:a="http://schemas.openxmlformats.org/drawingml/2006/main" cx="11049000" cy="2238375"/>
        </p:xfrm>
        <a:graphic xmlns:a="http://schemas.openxmlformats.org/drawingml/2006/main">
          <a:graphicData uri="http://schemas.openxmlformats.org/drawingml/2006/table">
            <a:tbl>
              <a:tblPr firstRow="1" bandRow="0"/>
              <a:tblGrid>
                <a:gridCol w="3429000"/>
                <a:gridCol w="1905000"/>
                <a:gridCol w="1905000"/>
                <a:gridCol w="1905000"/>
                <a:gridCol w="1905000"/>
              </a:tblGrid>
              <a:tr h="559594">
                <a:tc>
                  <a:txBody>
                    <a:bodyPr/>
                    <a:lstStyle/>
                    <a:p>
                      <a:r>
                        <a:rPr sz="1725" b="1">
                          <a:solidFill>
                            <a:srgbClr val="FFFFFF"/>
                          </a:solidFill>
                          <a:latin typeface="Helvetica Neue"/>
                          <a:ea typeface="Helvetica Neue"/>
                          <a:cs typeface="Helvetica Neue"/>
                        </a:rPr>
                        <a:t>Encoding (atoms)</a:t>
                      </a:r>
                    </a:p>
                  </a:txBody>
                  <a:tcPr marL="142875" marR="142875" marT="76200" marB="76200" anchor="ctr">
                    <a:lnL w="9525">
                      <a:solidFill>
                        <a:srgbClr val="DCE5EA"/>
                      </a:solidFill>
                      <a:prstDash val="solid"/>
                    </a:lnL>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725" b="1">
                          <a:solidFill>
                            <a:srgbClr val="FFFFFF"/>
                          </a:solidFill>
                          <a:latin typeface="Helvetica Neue"/>
                          <a:ea typeface="Helvetica Neue"/>
                          <a:cs typeface="Helvetica Neue"/>
                        </a:rPr>
                        <a:t>Feasible: exact</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725" b="1">
                          <a:solidFill>
                            <a:srgbClr val="FFFFFF"/>
                          </a:solidFill>
                          <a:latin typeface="Helvetica Neue"/>
                          <a:ea typeface="Helvetica Neue"/>
                          <a:cs typeface="Helvetica Neue"/>
                        </a:rPr>
                        <a:t>Feasible: geometry</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725" b="1">
                          <a:solidFill>
                            <a:srgbClr val="FFFFFF"/>
                          </a:solidFill>
                          <a:latin typeface="Helvetica Neue"/>
                          <a:ea typeface="Helvetica Neue"/>
                          <a:cs typeface="Helvetica Neue"/>
                        </a:rPr>
                        <a:t>Optimal: exact</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725" b="1">
                          <a:solidFill>
                            <a:srgbClr val="FFFFFF"/>
                          </a:solidFill>
                          <a:latin typeface="Helvetica Neue"/>
                          <a:ea typeface="Helvetica Neue"/>
                          <a:cs typeface="Helvetica Neue"/>
                        </a:rPr>
                        <a:t>Optimal: geometry</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r>
              <a:tr h="559594">
                <a:tc>
                  <a:txBody>
                    <a:bodyPr/>
                    <a:lstStyle/>
                    <a:p>
                      <a:r>
                        <a:rPr sz="1725" b="0">
                          <a:solidFill>
                            <a:srgbClr val="142536"/>
                          </a:solidFill>
                          <a:latin typeface="Helvetica Neue"/>
                          <a:ea typeface="Helvetica Neue"/>
                          <a:cs typeface="Helvetica Neue"/>
                        </a:rPr>
                        <a:t>Capacity slack (14)</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725" b="0">
                          <a:solidFill>
                            <a:srgbClr val="142536"/>
                          </a:solidFill>
                          <a:latin typeface="Helvetica Neue"/>
                          <a:ea typeface="Helvetica Neue"/>
                          <a:cs typeface="Helvetica Neue"/>
                        </a:rPr>
                        <a:t>7.81%</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725" b="0">
                          <a:solidFill>
                            <a:srgbClr val="142536"/>
                          </a:solidFill>
                          <a:latin typeface="Helvetica Neue"/>
                          <a:ea typeface="Helvetica Neue"/>
                          <a:cs typeface="Helvetica Neue"/>
                        </a:rPr>
                        <a:t>1.10%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725" b="0">
                          <a:solidFill>
                            <a:srgbClr val="142536"/>
                          </a:solidFill>
                          <a:latin typeface="Helvetica Neue"/>
                          <a:ea typeface="Helvetica Neue"/>
                          <a:cs typeface="Helvetica Neue"/>
                        </a:rPr>
                        <a:t>3.90%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725" b="0">
                          <a:solidFill>
                            <a:srgbClr val="142536"/>
                          </a:solidFill>
                          <a:latin typeface="Helvetica Neue"/>
                          <a:ea typeface="Helvetica Neue"/>
                          <a:cs typeface="Helvetica Neue"/>
                        </a:rPr>
                        <a:t>0.55%</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r h="559594">
                <a:tc>
                  <a:txBody>
                    <a:bodyPr/>
                    <a:lstStyle/>
                    <a:p>
                      <a:r>
                        <a:rPr sz="1725" b="0">
                          <a:solidFill>
                            <a:srgbClr val="142536"/>
                          </a:solidFill>
                          <a:latin typeface="Helvetica Neue"/>
                          <a:ea typeface="Helvetica Neue"/>
                          <a:cs typeface="Helvetica Neue"/>
                        </a:rPr>
                        <a:t>Full one-hot + balance (8)</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1F5F7"/>
                    </a:solidFill>
                  </a:tcPr>
                </a:tc>
                <a:tc>
                  <a:txBody>
                    <a:bodyPr/>
                    <a:lstStyle/>
                    <a:p>
                      <a:r>
                        <a:rPr sz="1725" b="0">
                          <a:solidFill>
                            <a:srgbClr val="142536"/>
                          </a:solidFill>
                          <a:latin typeface="Helvetica Neue"/>
                          <a:ea typeface="Helvetica Neue"/>
                          <a:cs typeface="Helvetica Neue"/>
                        </a:rPr>
                        <a:t>21.61%</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725" b="0">
                          <a:solidFill>
                            <a:srgbClr val="142536"/>
                          </a:solidFill>
                          <a:latin typeface="Helvetica Neue"/>
                          <a:ea typeface="Helvetica Neue"/>
                          <a:cs typeface="Helvetica Neue"/>
                        </a:rPr>
                        <a:t>10.55%</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725" b="0">
                          <a:solidFill>
                            <a:srgbClr val="142536"/>
                          </a:solidFill>
                          <a:latin typeface="Helvetica Neue"/>
                          <a:ea typeface="Helvetica Neue"/>
                          <a:cs typeface="Helvetica Neue"/>
                        </a:rPr>
                        <a:t>16.00%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725" b="0">
                          <a:solidFill>
                            <a:srgbClr val="142536"/>
                          </a:solidFill>
                          <a:latin typeface="Helvetica Neue"/>
                          <a:ea typeface="Helvetica Neue"/>
                          <a:cs typeface="Helvetica Neue"/>
                        </a:rPr>
                        <a:t>9.67%</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r>
              <a:tr h="559594">
                <a:tc>
                  <a:txBody>
                    <a:bodyPr/>
                    <a:lstStyle/>
                    <a:p>
                      <a:r>
                        <a:rPr sz="1725" b="0">
                          <a:solidFill>
                            <a:srgbClr val="142536"/>
                          </a:solidFill>
                          <a:latin typeface="Helvetica Neue"/>
                          <a:ea typeface="Helvetica Neue"/>
                          <a:cs typeface="Helvetica Neue"/>
                        </a:rPr>
                        <a:t>Reduced + balance (4)</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725" b="0">
                          <a:solidFill>
                            <a:srgbClr val="142536"/>
                          </a:solidFill>
                          <a:latin typeface="Helvetica Neue"/>
                          <a:ea typeface="Helvetica Neue"/>
                          <a:cs typeface="Helvetica Neue"/>
                        </a:rPr>
                        <a:t>36.05%</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725" b="0">
                          <a:solidFill>
                            <a:srgbClr val="142536"/>
                          </a:solidFill>
                          <a:latin typeface="Helvetica Neue"/>
                          <a:ea typeface="Helvetica Neue"/>
                          <a:cs typeface="Helvetica Neue"/>
                        </a:rPr>
                        <a:t>24.00%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725" b="0">
                          <a:solidFill>
                            <a:srgbClr val="142536"/>
                          </a:solidFill>
                          <a:latin typeface="Helvetica Neue"/>
                          <a:ea typeface="Helvetica Neue"/>
                          <a:cs typeface="Helvetica Neue"/>
                        </a:rPr>
                        <a:t>29.03%</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725" b="0">
                          <a:solidFill>
                            <a:srgbClr val="142536"/>
                          </a:solidFill>
                          <a:latin typeface="Helvetica Neue"/>
                          <a:ea typeface="Helvetica Neue"/>
                          <a:cs typeface="Helvetica Neue"/>
                        </a:rPr>
                        <a:t>16.38%</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62E8CE5-FEC8-42AC-8BD8-F395E010A098}"/>
              </a:ext>
            </a:extLst>
          </p:cNvPr>
          <p:cNvSpPr>
            <a:spLocks xmlns:a="http://schemas.openxmlformats.org/drawingml/2006/main" noGrp="1"/>
          </p:cNvSpPr>
          <p:nvPr/>
        </p:nvSpPr>
        <p:spPr>
          <a:xfrm xmlns:a="http://schemas.openxmlformats.org/drawingml/2006/main">
            <a:off x="571500" y="509587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186A91"/>
                </a:solidFill>
                <a:latin typeface="Helvetica Neue"/>
                <a:ea typeface="Helvetica Neue"/>
                <a:cs typeface="Helvetica Neue"/>
              </a:defRPr>
            </a:defPPr>
            <a:lvl1pPr>
              <a:defRPr sz="1875" b="1">
                <a:solidFill>
                  <a:srgbClr val="186A91"/>
                </a:solidFill>
                <a:latin typeface="Helvetica Neue"/>
                <a:ea typeface="Helvetica Neue"/>
                <a:cs typeface="Helvetica Neue"/>
              </a:defRPr>
            </a:lvl1pPr>
            <a:lvl2pPr>
              <a:defRPr sz="1875" b="1">
                <a:solidFill>
                  <a:srgbClr val="186A91"/>
                </a:solidFill>
                <a:latin typeface="Helvetica Neue"/>
                <a:ea typeface="Helvetica Neue"/>
                <a:cs typeface="Helvetica Neue"/>
              </a:defRPr>
            </a:lvl2pPr>
            <a:lvl3pPr>
              <a:defRPr sz="1875" b="1">
                <a:solidFill>
                  <a:srgbClr val="186A91"/>
                </a:solidFill>
                <a:latin typeface="Helvetica Neue"/>
                <a:ea typeface="Helvetica Neue"/>
                <a:cs typeface="Helvetica Neue"/>
              </a:defRPr>
            </a:lvl3pPr>
            <a:lvl4pPr>
              <a:defRPr sz="1875" b="1">
                <a:solidFill>
                  <a:srgbClr val="186A91"/>
                </a:solidFill>
                <a:latin typeface="Helvetica Neue"/>
                <a:ea typeface="Helvetica Neue"/>
                <a:cs typeface="Helvetica Neue"/>
              </a:defRPr>
            </a:lvl4pPr>
            <a:lvl5pPr>
              <a:defRPr sz="1875" b="1">
                <a:solidFill>
                  <a:srgbClr val="186A91"/>
                </a:solidFill>
                <a:latin typeface="Helvetica Neue"/>
                <a:ea typeface="Helvetica Neue"/>
                <a:cs typeface="Helvetica Neue"/>
              </a:defRPr>
            </a:lvl5pPr>
            <a:lvl6pPr>
              <a:defRPr sz="1875" b="1">
                <a:solidFill>
                  <a:srgbClr val="186A91"/>
                </a:solidFill>
                <a:latin typeface="Helvetica Neue"/>
                <a:ea typeface="Helvetica Neue"/>
                <a:cs typeface="Helvetica Neue"/>
              </a:defRPr>
            </a:lvl6pPr>
            <a:lvl7pPr>
              <a:defRPr sz="1875" b="1">
                <a:solidFill>
                  <a:srgbClr val="186A91"/>
                </a:solidFill>
                <a:latin typeface="Helvetica Neue"/>
                <a:ea typeface="Helvetica Neue"/>
                <a:cs typeface="Helvetica Neue"/>
              </a:defRPr>
            </a:lvl7pPr>
            <a:lvl8pPr>
              <a:defRPr sz="1875" b="1">
                <a:solidFill>
                  <a:srgbClr val="186A91"/>
                </a:solidFill>
                <a:latin typeface="Helvetica Neue"/>
                <a:ea typeface="Helvetica Neue"/>
                <a:cs typeface="Helvetica Neue"/>
              </a:defRPr>
            </a:lvl8pPr>
            <a:lvl9pPr>
              <a:defRPr sz="1875" b="1">
                <a:solidFill>
                  <a:srgbClr val="186A91"/>
                </a:solidFill>
                <a:latin typeface="Helvetica Neue"/>
                <a:ea typeface="Helvetica Neue"/>
                <a:cs typeface="Helvetica Neue"/>
              </a:defRPr>
            </a:lvl9pPr>
          </a:lstStyle>
          <a:p xmlns:a="http://schemas.openxmlformats.org/drawingml/2006/main">
            <a:pPr>
              <a:defRPr sz="1875" b="1">
                <a:solidFill>
                  <a:srgbClr val="186A91"/>
                </a:solidFill>
                <a:latin typeface="Helvetica Neue"/>
                <a:ea typeface="Helvetica Neue"/>
                <a:cs typeface="Helvetica Neue"/>
              </a:defRPr>
            </a:pPr>
            <a:r>
              <a:rPr sz="1875" b="1">
                <a:solidFill>
                  <a:srgbClr val="186A91"/>
                </a:solidFill>
                <a:latin typeface="Helvetica Neue"/>
                <a:ea typeface="Helvetica Neue"/>
                <a:cs typeface="Helvetica Neue"/>
              </a:rPr>
              <a:t>Both success rates decrease in all nine pairs. Balance also fails before embedding on one case.</a:t>
            </a:r>
          </a:p>
        </p:txBody>
      </p:sp>
      <p:sp>
        <p:nvSpPr>
          <p:cNvPr id="7" name="">
            <a:extLst xmlns:a="http://schemas.openxmlformats.org/drawingml/2006/main">
              <a:ext uri="{FF2B5EF4-FFF2-40B4-BE49-F238E27FC236}">
                <a16:creationId xmlns:a16="http://schemas.microsoft.com/office/drawing/2014/main" id="{44919AC2-3730-42BD-B3F7-AF9E6B817A33}"/>
              </a:ext>
            </a:extLst>
          </p:cNvPr>
          <p:cNvSpPr>
            <a:spLocks xmlns:a="http://schemas.openxmlformats.org/drawingml/2006/main" noGrp="1"/>
          </p:cNvSpPr>
          <p:nvPr/>
        </p:nvSpPr>
        <p:spPr>
          <a:xfrm xmlns:a="http://schemas.openxmlformats.org/drawingml/2006/main">
            <a:off x="571500" y="58197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516476"/>
                </a:solidFill>
                <a:latin typeface="Helvetica Neue"/>
                <a:ea typeface="Helvetica Neue"/>
                <a:cs typeface="Helvetica Neue"/>
              </a:defRPr>
            </a:defPPr>
            <a:lvl1pPr>
              <a:defRPr sz="1425" b="0">
                <a:solidFill>
                  <a:srgbClr val="516476"/>
                </a:solidFill>
                <a:latin typeface="Helvetica Neue"/>
                <a:ea typeface="Helvetica Neue"/>
                <a:cs typeface="Helvetica Neue"/>
              </a:defRPr>
            </a:lvl1pPr>
            <a:lvl2pPr>
              <a:defRPr sz="1425" b="0">
                <a:solidFill>
                  <a:srgbClr val="516476"/>
                </a:solidFill>
                <a:latin typeface="Helvetica Neue"/>
                <a:ea typeface="Helvetica Neue"/>
                <a:cs typeface="Helvetica Neue"/>
              </a:defRPr>
            </a:lvl2pPr>
            <a:lvl3pPr>
              <a:defRPr sz="1425" b="0">
                <a:solidFill>
                  <a:srgbClr val="516476"/>
                </a:solidFill>
                <a:latin typeface="Helvetica Neue"/>
                <a:ea typeface="Helvetica Neue"/>
                <a:cs typeface="Helvetica Neue"/>
              </a:defRPr>
            </a:lvl3pPr>
            <a:lvl4pPr>
              <a:defRPr sz="1425" b="0">
                <a:solidFill>
                  <a:srgbClr val="516476"/>
                </a:solidFill>
                <a:latin typeface="Helvetica Neue"/>
                <a:ea typeface="Helvetica Neue"/>
                <a:cs typeface="Helvetica Neue"/>
              </a:defRPr>
            </a:lvl4pPr>
            <a:lvl5pPr>
              <a:defRPr sz="1425" b="0">
                <a:solidFill>
                  <a:srgbClr val="516476"/>
                </a:solidFill>
                <a:latin typeface="Helvetica Neue"/>
                <a:ea typeface="Helvetica Neue"/>
                <a:cs typeface="Helvetica Neue"/>
              </a:defRPr>
            </a:lvl5pPr>
            <a:lvl6pPr>
              <a:defRPr sz="1425" b="0">
                <a:solidFill>
                  <a:srgbClr val="516476"/>
                </a:solidFill>
                <a:latin typeface="Helvetica Neue"/>
                <a:ea typeface="Helvetica Neue"/>
                <a:cs typeface="Helvetica Neue"/>
              </a:defRPr>
            </a:lvl6pPr>
            <a:lvl7pPr>
              <a:defRPr sz="1425" b="0">
                <a:solidFill>
                  <a:srgbClr val="516476"/>
                </a:solidFill>
                <a:latin typeface="Helvetica Neue"/>
                <a:ea typeface="Helvetica Neue"/>
                <a:cs typeface="Helvetica Neue"/>
              </a:defRPr>
            </a:lvl7pPr>
            <a:lvl8pPr>
              <a:defRPr sz="1425" b="0">
                <a:solidFill>
                  <a:srgbClr val="516476"/>
                </a:solidFill>
                <a:latin typeface="Helvetica Neue"/>
                <a:ea typeface="Helvetica Neue"/>
                <a:cs typeface="Helvetica Neue"/>
              </a:defRPr>
            </a:lvl8pPr>
            <a:lvl9pPr>
              <a:defRPr sz="1425" b="0">
                <a:solidFill>
                  <a:srgbClr val="516476"/>
                </a:solidFill>
                <a:latin typeface="Helvetica Neue"/>
                <a:ea typeface="Helvetica Neue"/>
                <a:cs typeface="Helvetica Neue"/>
              </a:defRPr>
            </a:lvl9pPr>
          </a:lstStyle>
          <a:p xmlns:a="http://schemas.openxmlformats.org/drawingml/2006/main">
            <a:pPr>
              <a:defRPr sz="1425" b="0">
                <a:solidFill>
                  <a:srgbClr val="516476"/>
                </a:solidFill>
                <a:latin typeface="Helvetica Neue"/>
                <a:ea typeface="Helvetica Neue"/>
                <a:cs typeface="Helvetica Neue"/>
              </a:defRPr>
            </a:pPr>
            <a:r>
              <a:rPr sz="1425" b="0">
                <a:solidFill>
                  <a:srgbClr val="516476"/>
                </a:solidFill>
                <a:latin typeface="Helvetica Neue"/>
                <a:ea typeface="Helvetica Neue"/>
                <a:cs typeface="Helvetica Neue"/>
              </a:rPr>
              <a:t>Means of local state probabilities, not shot rates. One BLaDE layout per encoding and problem; ideal individual fields. All 18 timestep checks pass. Historical medium reduced cloud control: 37.025% feasible exact vs 4.020% geometric, 20,000 shots each. Full one-hot medium remains untested.</a:t>
            </a:r>
          </a:p>
        </p:txBody>
      </p:sp>
    </p:spTree>
    <p:extLst>
      <p:ext uri="{BB962C8B-B14F-4D97-AF65-F5344CB8AC3E}">
        <p14:creationId xmlns:p14="http://schemas.microsoft.com/office/powerpoint/2010/main" val="906996033"/>
      </p:ext>
    </p:extLst>
  </p:cSld>
</p:sld>
</file>

<file path=ppt/slides/slide9.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8538CB-AD8C-44FA-94D9-6DD28F5EDCEB}"/>
              </a:ext>
            </a:extLst>
          </p:cNvPr>
          <p:cNvSpPr>
            <a:spLocks xmlns:a="http://schemas.openxmlformats.org/drawingml/2006/main" noGrp="1"/>
          </p:cNvSpPr>
          <p:nvPr/>
        </p:nvSpPr>
        <p:spPr>
          <a:xfrm xmlns:a="http://schemas.openxmlformats.org/drawingml/2006/main">
            <a:off x="571500" y="34290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42536"/>
                </a:solidFill>
                <a:latin typeface="Helvetica Neue"/>
                <a:ea typeface="Helvetica Neue"/>
                <a:cs typeface="Helvetica Neue"/>
              </a:defRPr>
            </a:defPPr>
            <a:lvl1pPr>
              <a:defRPr sz="3225" b="1">
                <a:solidFill>
                  <a:srgbClr val="142536"/>
                </a:solidFill>
                <a:latin typeface="Helvetica Neue"/>
                <a:ea typeface="Helvetica Neue"/>
                <a:cs typeface="Helvetica Neue"/>
              </a:defRPr>
            </a:lvl1pPr>
            <a:lvl2pPr>
              <a:defRPr sz="3225" b="1">
                <a:solidFill>
                  <a:srgbClr val="142536"/>
                </a:solidFill>
                <a:latin typeface="Helvetica Neue"/>
                <a:ea typeface="Helvetica Neue"/>
                <a:cs typeface="Helvetica Neue"/>
              </a:defRPr>
            </a:lvl2pPr>
            <a:lvl3pPr>
              <a:defRPr sz="3225" b="1">
                <a:solidFill>
                  <a:srgbClr val="142536"/>
                </a:solidFill>
                <a:latin typeface="Helvetica Neue"/>
                <a:ea typeface="Helvetica Neue"/>
                <a:cs typeface="Helvetica Neue"/>
              </a:defRPr>
            </a:lvl3pPr>
            <a:lvl4pPr>
              <a:defRPr sz="3225" b="1">
                <a:solidFill>
                  <a:srgbClr val="142536"/>
                </a:solidFill>
                <a:latin typeface="Helvetica Neue"/>
                <a:ea typeface="Helvetica Neue"/>
                <a:cs typeface="Helvetica Neue"/>
              </a:defRPr>
            </a:lvl4pPr>
            <a:lvl5pPr>
              <a:defRPr sz="3225" b="1">
                <a:solidFill>
                  <a:srgbClr val="142536"/>
                </a:solidFill>
                <a:latin typeface="Helvetica Neue"/>
                <a:ea typeface="Helvetica Neue"/>
                <a:cs typeface="Helvetica Neue"/>
              </a:defRPr>
            </a:lvl5pPr>
            <a:lvl6pPr>
              <a:defRPr sz="3225" b="1">
                <a:solidFill>
                  <a:srgbClr val="142536"/>
                </a:solidFill>
                <a:latin typeface="Helvetica Neue"/>
                <a:ea typeface="Helvetica Neue"/>
                <a:cs typeface="Helvetica Neue"/>
              </a:defRPr>
            </a:lvl6pPr>
            <a:lvl7pPr>
              <a:defRPr sz="3225" b="1">
                <a:solidFill>
                  <a:srgbClr val="142536"/>
                </a:solidFill>
                <a:latin typeface="Helvetica Neue"/>
                <a:ea typeface="Helvetica Neue"/>
                <a:cs typeface="Helvetica Neue"/>
              </a:defRPr>
            </a:lvl7pPr>
            <a:lvl8pPr>
              <a:defRPr sz="3225" b="1">
                <a:solidFill>
                  <a:srgbClr val="142536"/>
                </a:solidFill>
                <a:latin typeface="Helvetica Neue"/>
                <a:ea typeface="Helvetica Neue"/>
                <a:cs typeface="Helvetica Neue"/>
              </a:defRPr>
            </a:lvl8pPr>
            <a:lvl9pPr>
              <a:defRPr sz="3225" b="1">
                <a:solidFill>
                  <a:srgbClr val="142536"/>
                </a:solidFill>
                <a:latin typeface="Helvetica Neue"/>
                <a:ea typeface="Helvetica Neue"/>
                <a:cs typeface="Helvetica Neue"/>
              </a:defRPr>
            </a:lvl9pPr>
          </a:lstStyle>
          <a:p xmlns:a="http://schemas.openxmlformats.org/drawingml/2006/main">
            <a:pPr>
              <a:defRPr sz="3225" b="1">
                <a:solidFill>
                  <a:srgbClr val="142536"/>
                </a:solidFill>
                <a:latin typeface="Helvetica Neue"/>
                <a:ea typeface="Helvetica Neue"/>
                <a:cs typeface="Helvetica Neue"/>
              </a:defRPr>
            </a:pPr>
            <a:r>
              <a:rPr sz="3225" b="1">
                <a:solidFill>
                  <a:srgbClr val="142536"/>
                </a:solidFill>
                <a:latin typeface="Helvetica Neue"/>
                <a:ea typeface="Helvetica Neue"/>
                <a:cs typeface="Helvetica Neue"/>
              </a:rPr>
              <a:t>BLaDE trails simple classical sampling</a:t>
            </a:r>
          </a:p>
        </p:txBody>
      </p:sp>
      <p:sp>
        <p:nvSpPr>
          <p:cNvPr id="2" name="">
            <a:extLst xmlns:a="http://schemas.openxmlformats.org/drawingml/2006/main">
              <a:ext uri="{FF2B5EF4-FFF2-40B4-BE49-F238E27FC236}">
                <a16:creationId xmlns:a16="http://schemas.microsoft.com/office/drawing/2014/main" id="{E6979939-3600-4AD9-B1C7-E49DB6F3171C}"/>
              </a:ext>
            </a:extLst>
          </p:cNvPr>
          <p:cNvSpPr>
            <a:spLocks xmlns:a="http://schemas.openxmlformats.org/drawingml/2006/main" noGrp="1"/>
          </p:cNvSpPr>
          <p:nvPr/>
        </p:nvSpPr>
        <p:spPr>
          <a:xfrm xmlns:a="http://schemas.openxmlformats.org/drawingml/2006/main">
            <a:off x="11001375" y="63817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16476"/>
                </a:solidFill>
                <a:latin typeface="Helvetica Neue"/>
                <a:ea typeface="Helvetica Neue"/>
                <a:cs typeface="Helvetica Neue"/>
              </a:defRPr>
            </a:defPPr>
            <a:lvl1pPr>
              <a:defRPr sz="1350" b="0">
                <a:solidFill>
                  <a:srgbClr val="516476"/>
                </a:solidFill>
                <a:latin typeface="Helvetica Neue"/>
                <a:ea typeface="Helvetica Neue"/>
                <a:cs typeface="Helvetica Neue"/>
              </a:defRPr>
            </a:lvl1pPr>
            <a:lvl2pPr>
              <a:defRPr sz="1350" b="0">
                <a:solidFill>
                  <a:srgbClr val="516476"/>
                </a:solidFill>
                <a:latin typeface="Helvetica Neue"/>
                <a:ea typeface="Helvetica Neue"/>
                <a:cs typeface="Helvetica Neue"/>
              </a:defRPr>
            </a:lvl2pPr>
            <a:lvl3pPr>
              <a:defRPr sz="1350" b="0">
                <a:solidFill>
                  <a:srgbClr val="516476"/>
                </a:solidFill>
                <a:latin typeface="Helvetica Neue"/>
                <a:ea typeface="Helvetica Neue"/>
                <a:cs typeface="Helvetica Neue"/>
              </a:defRPr>
            </a:lvl3pPr>
            <a:lvl4pPr>
              <a:defRPr sz="1350" b="0">
                <a:solidFill>
                  <a:srgbClr val="516476"/>
                </a:solidFill>
                <a:latin typeface="Helvetica Neue"/>
                <a:ea typeface="Helvetica Neue"/>
                <a:cs typeface="Helvetica Neue"/>
              </a:defRPr>
            </a:lvl4pPr>
            <a:lvl5pPr>
              <a:defRPr sz="1350" b="0">
                <a:solidFill>
                  <a:srgbClr val="516476"/>
                </a:solidFill>
                <a:latin typeface="Helvetica Neue"/>
                <a:ea typeface="Helvetica Neue"/>
                <a:cs typeface="Helvetica Neue"/>
              </a:defRPr>
            </a:lvl5pPr>
            <a:lvl6pPr>
              <a:defRPr sz="1350" b="0">
                <a:solidFill>
                  <a:srgbClr val="516476"/>
                </a:solidFill>
                <a:latin typeface="Helvetica Neue"/>
                <a:ea typeface="Helvetica Neue"/>
                <a:cs typeface="Helvetica Neue"/>
              </a:defRPr>
            </a:lvl6pPr>
            <a:lvl7pPr>
              <a:defRPr sz="1350" b="0">
                <a:solidFill>
                  <a:srgbClr val="516476"/>
                </a:solidFill>
                <a:latin typeface="Helvetica Neue"/>
                <a:ea typeface="Helvetica Neue"/>
                <a:cs typeface="Helvetica Neue"/>
              </a:defRPr>
            </a:lvl7pPr>
            <a:lvl8pPr>
              <a:defRPr sz="1350" b="0">
                <a:solidFill>
                  <a:srgbClr val="516476"/>
                </a:solidFill>
                <a:latin typeface="Helvetica Neue"/>
                <a:ea typeface="Helvetica Neue"/>
                <a:cs typeface="Helvetica Neue"/>
              </a:defRPr>
            </a:lvl8pPr>
            <a:lvl9pPr>
              <a:defRPr sz="1350" b="0">
                <a:solidFill>
                  <a:srgbClr val="516476"/>
                </a:solidFill>
                <a:latin typeface="Helvetica Neue"/>
                <a:ea typeface="Helvetica Neue"/>
                <a:cs typeface="Helvetica Neue"/>
              </a:defRPr>
            </a:lvl9pPr>
          </a:lstStyle>
          <a:p xmlns:a="http://schemas.openxmlformats.org/drawingml/2006/main">
            <a:pPr>
              <a:defRPr sz="1350" b="0">
                <a:solidFill>
                  <a:srgbClr val="516476"/>
                </a:solidFill>
                <a:latin typeface="Helvetica Neue"/>
                <a:ea typeface="Helvetica Neue"/>
                <a:cs typeface="Helvetica Neue"/>
              </a:defRPr>
            </a:pPr>
            <a:r>
              <a:rPr sz="1350" b="0">
                <a:solidFill>
                  <a:srgbClr val="516476"/>
                </a:solidFill>
                <a:latin typeface="Helvetica Neue"/>
                <a:ea typeface="Helvetica Neue"/>
                <a:cs typeface="Helvetica Neue"/>
              </a:rPr>
              <a:t>9 / 11</a:t>
            </a:r>
          </a:p>
        </p:txBody>
      </p:sp>
      <p:sp>
        <p:nvSpPr>
          <p:cNvPr id="3" name="">
            <a:extLst xmlns:a="http://schemas.openxmlformats.org/drawingml/2006/main">
              <a:ext uri="{FF2B5EF4-FFF2-40B4-BE49-F238E27FC236}">
                <a16:creationId xmlns:a16="http://schemas.microsoft.com/office/drawing/2014/main" id="{0EE1568E-E05F-4B34-B7E1-CF29EEF65BAB}"/>
              </a:ext>
            </a:extLst>
          </p:cNvPr>
          <p:cNvSpPr>
            <a:spLocks xmlns:a="http://schemas.openxmlformats.org/drawingml/2006/main" noGrp="1"/>
          </p:cNvSpPr>
          <p:nvPr/>
        </p:nvSpPr>
        <p:spPr>
          <a:xfrm xmlns:a="http://schemas.openxmlformats.org/drawingml/2006/main">
            <a:off x="571500" y="1381125"/>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516476"/>
                </a:solidFill>
                <a:latin typeface="Helvetica Neue"/>
                <a:ea typeface="Helvetica Neue"/>
                <a:cs typeface="Helvetica Neue"/>
              </a:defRPr>
            </a:defPPr>
            <a:lvl1pPr>
              <a:defRPr sz="2025" b="0">
                <a:solidFill>
                  <a:srgbClr val="516476"/>
                </a:solidFill>
                <a:latin typeface="Helvetica Neue"/>
                <a:ea typeface="Helvetica Neue"/>
                <a:cs typeface="Helvetica Neue"/>
              </a:defRPr>
            </a:lvl1pPr>
            <a:lvl2pPr>
              <a:defRPr sz="2025" b="0">
                <a:solidFill>
                  <a:srgbClr val="516476"/>
                </a:solidFill>
                <a:latin typeface="Helvetica Neue"/>
                <a:ea typeface="Helvetica Neue"/>
                <a:cs typeface="Helvetica Neue"/>
              </a:defRPr>
            </a:lvl2pPr>
            <a:lvl3pPr>
              <a:defRPr sz="2025" b="0">
                <a:solidFill>
                  <a:srgbClr val="516476"/>
                </a:solidFill>
                <a:latin typeface="Helvetica Neue"/>
                <a:ea typeface="Helvetica Neue"/>
                <a:cs typeface="Helvetica Neue"/>
              </a:defRPr>
            </a:lvl3pPr>
            <a:lvl4pPr>
              <a:defRPr sz="2025" b="0">
                <a:solidFill>
                  <a:srgbClr val="516476"/>
                </a:solidFill>
                <a:latin typeface="Helvetica Neue"/>
                <a:ea typeface="Helvetica Neue"/>
                <a:cs typeface="Helvetica Neue"/>
              </a:defRPr>
            </a:lvl4pPr>
            <a:lvl5pPr>
              <a:defRPr sz="2025" b="0">
                <a:solidFill>
                  <a:srgbClr val="516476"/>
                </a:solidFill>
                <a:latin typeface="Helvetica Neue"/>
                <a:ea typeface="Helvetica Neue"/>
                <a:cs typeface="Helvetica Neue"/>
              </a:defRPr>
            </a:lvl5pPr>
            <a:lvl6pPr>
              <a:defRPr sz="2025" b="0">
                <a:solidFill>
                  <a:srgbClr val="516476"/>
                </a:solidFill>
                <a:latin typeface="Helvetica Neue"/>
                <a:ea typeface="Helvetica Neue"/>
                <a:cs typeface="Helvetica Neue"/>
              </a:defRPr>
            </a:lvl6pPr>
            <a:lvl7pPr>
              <a:defRPr sz="2025" b="0">
                <a:solidFill>
                  <a:srgbClr val="516476"/>
                </a:solidFill>
                <a:latin typeface="Helvetica Neue"/>
                <a:ea typeface="Helvetica Neue"/>
                <a:cs typeface="Helvetica Neue"/>
              </a:defRPr>
            </a:lvl7pPr>
            <a:lvl8pPr>
              <a:defRPr sz="2025" b="0">
                <a:solidFill>
                  <a:srgbClr val="516476"/>
                </a:solidFill>
                <a:latin typeface="Helvetica Neue"/>
                <a:ea typeface="Helvetica Neue"/>
                <a:cs typeface="Helvetica Neue"/>
              </a:defRPr>
            </a:lvl8pPr>
            <a:lvl9pPr>
              <a:defRPr sz="2025" b="0">
                <a:solidFill>
                  <a:srgbClr val="516476"/>
                </a:solidFill>
                <a:latin typeface="Helvetica Neue"/>
                <a:ea typeface="Helvetica Neue"/>
                <a:cs typeface="Helvetica Neue"/>
              </a:defRPr>
            </a:lvl9pPr>
          </a:lstStyle>
          <a:p xmlns:a="http://schemas.openxmlformats.org/drawingml/2006/main">
            <a:pPr>
              <a:defRPr sz="2025" b="0">
                <a:solidFill>
                  <a:srgbClr val="516476"/>
                </a:solidFill>
                <a:latin typeface="Helvetica Neue"/>
                <a:ea typeface="Helvetica Neue"/>
                <a:cs typeface="Helvetica Neue"/>
              </a:defRPr>
            </a:pPr>
            <a:r>
              <a:rPr sz="2025" b="0">
                <a:solidFill>
                  <a:srgbClr val="516476"/>
                </a:solidFill>
                <a:latin typeface="Helvetica Neue"/>
                <a:ea typeface="Helvetica Neue"/>
                <a:cs typeface="Helvetica Neue"/>
              </a:rPr>
              <a:t>Same 10 small, 5 medium and 5 large problems. Each method: 6,000 samples per problem.</a:t>
            </a:r>
          </a:p>
        </p:txBody>
      </p:sp>
      <p:sp>
        <p:nvSpPr>
          <p:cNvPr id="4" name="">
            <a:extLst xmlns:a="http://schemas.openxmlformats.org/drawingml/2006/main">
              <a:ext uri="{FF2B5EF4-FFF2-40B4-BE49-F238E27FC236}">
                <a16:creationId xmlns:a16="http://schemas.microsoft.com/office/drawing/2014/main" id="{63D29333-9976-4789-851D-898A74FE6E0F}"/>
              </a:ext>
            </a:extLst>
          </p:cNvPr>
          <p:cNvSpPr>
            <a:spLocks xmlns:a="http://schemas.openxmlformats.org/drawingml/2006/main" noGrp="1"/>
          </p:cNvSpPr>
          <p:nvPr/>
        </p:nvSpPr>
        <p:spPr>
          <a:xfrm xmlns:a="http://schemas.openxmlformats.org/drawingml/2006/main">
            <a:off x="571500" y="20097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186A91"/>
                </a:solidFill>
                <a:latin typeface="Helvetica Neue"/>
                <a:ea typeface="Helvetica Neue"/>
                <a:cs typeface="Helvetica Neue"/>
              </a:defRPr>
            </a:defPPr>
            <a:lvl1pPr>
              <a:defRPr sz="2025" b="1">
                <a:solidFill>
                  <a:srgbClr val="186A91"/>
                </a:solidFill>
                <a:latin typeface="Helvetica Neue"/>
                <a:ea typeface="Helvetica Neue"/>
                <a:cs typeface="Helvetica Neue"/>
              </a:defRPr>
            </a:lvl1pPr>
            <a:lvl2pPr>
              <a:defRPr sz="2025" b="1">
                <a:solidFill>
                  <a:srgbClr val="186A91"/>
                </a:solidFill>
                <a:latin typeface="Helvetica Neue"/>
                <a:ea typeface="Helvetica Neue"/>
                <a:cs typeface="Helvetica Neue"/>
              </a:defRPr>
            </a:lvl2pPr>
            <a:lvl3pPr>
              <a:defRPr sz="2025" b="1">
                <a:solidFill>
                  <a:srgbClr val="186A91"/>
                </a:solidFill>
                <a:latin typeface="Helvetica Neue"/>
                <a:ea typeface="Helvetica Neue"/>
                <a:cs typeface="Helvetica Neue"/>
              </a:defRPr>
            </a:lvl3pPr>
            <a:lvl4pPr>
              <a:defRPr sz="2025" b="1">
                <a:solidFill>
                  <a:srgbClr val="186A91"/>
                </a:solidFill>
                <a:latin typeface="Helvetica Neue"/>
                <a:ea typeface="Helvetica Neue"/>
                <a:cs typeface="Helvetica Neue"/>
              </a:defRPr>
            </a:lvl4pPr>
            <a:lvl5pPr>
              <a:defRPr sz="2025" b="1">
                <a:solidFill>
                  <a:srgbClr val="186A91"/>
                </a:solidFill>
                <a:latin typeface="Helvetica Neue"/>
                <a:ea typeface="Helvetica Neue"/>
                <a:cs typeface="Helvetica Neue"/>
              </a:defRPr>
            </a:lvl5pPr>
            <a:lvl6pPr>
              <a:defRPr sz="2025" b="1">
                <a:solidFill>
                  <a:srgbClr val="186A91"/>
                </a:solidFill>
                <a:latin typeface="Helvetica Neue"/>
                <a:ea typeface="Helvetica Neue"/>
                <a:cs typeface="Helvetica Neue"/>
              </a:defRPr>
            </a:lvl6pPr>
            <a:lvl7pPr>
              <a:defRPr sz="2025" b="1">
                <a:solidFill>
                  <a:srgbClr val="186A91"/>
                </a:solidFill>
                <a:latin typeface="Helvetica Neue"/>
                <a:ea typeface="Helvetica Neue"/>
                <a:cs typeface="Helvetica Neue"/>
              </a:defRPr>
            </a:lvl7pPr>
            <a:lvl8pPr>
              <a:defRPr sz="2025" b="1">
                <a:solidFill>
                  <a:srgbClr val="186A91"/>
                </a:solidFill>
                <a:latin typeface="Helvetica Neue"/>
                <a:ea typeface="Helvetica Neue"/>
                <a:cs typeface="Helvetica Neue"/>
              </a:defRPr>
            </a:lvl8pPr>
            <a:lvl9pPr>
              <a:defRPr sz="2025" b="1">
                <a:solidFill>
                  <a:srgbClr val="186A91"/>
                </a:solidFill>
                <a:latin typeface="Helvetica Neue"/>
                <a:ea typeface="Helvetica Neue"/>
                <a:cs typeface="Helvetica Neue"/>
              </a:defRPr>
            </a:lvl9pPr>
          </a:lstStyle>
          <a:p xmlns:a="http://schemas.openxmlformats.org/drawingml/2006/main">
            <a:pPr>
              <a:defRPr sz="2025" b="1">
                <a:solidFill>
                  <a:srgbClr val="186A91"/>
                </a:solidFill>
                <a:latin typeface="Helvetica Neue"/>
                <a:ea typeface="Helvetica Neue"/>
                <a:cs typeface="Helvetica Neue"/>
              </a:defRPr>
            </a:pPr>
            <a:r>
              <a:rPr sz="2025" b="1">
                <a:solidFill>
                  <a:srgbClr val="186A91"/>
                </a:solidFill>
                <a:latin typeface="Helvetica Neue"/>
                <a:ea typeface="Helvetica Neue"/>
                <a:cs typeface="Helvetica Neue"/>
              </a:rPr>
              <a:t>Feasible samples</a:t>
            </a:r>
          </a:p>
        </p:txBody>
      </p:sp>
      <p:graphicFrame>
        <p:nvGraphicFramePr>
          <p:cNvPr id="5" name="Chart">
            <a:extLst xmlns:a="http://schemas.openxmlformats.org/drawingml/2006/main">
              <a:ext uri="{FF2B5EF4-FFF2-40B4-BE49-F238E27FC236}">
                <a16:creationId xmlns:a16="http://schemas.microsoft.com/office/drawing/2014/main" id="{E7AF004A-2454-4651-AF20-01F1026E09CA}"/>
              </a:ext>
            </a:extLst>
          </p:cNvPr>
          <p:cNvGraphicFramePr/>
          <p:nvPr/>
        </p:nvGraphicFramePr>
        <p:xfrm>
          <a:off xmlns:a="http://schemas.openxmlformats.org/drawingml/2006/main" x="476250" y="2466975"/>
          <a:ext xmlns:a="http://schemas.openxmlformats.org/drawingml/2006/main" cx="7048500" cy="2857500"/>
        </p:xfrm>
        <a:graphic xmlns:a="http://schemas.openxmlformats.org/drawingml/2006/main">
          <a:graphicData uri="http://schemas.openxmlformats.org/drawingml/2006/chart">
            <c:chart xmlns:r="http://schemas.openxmlformats.org/officeDocument/2006/relationships" xmlns:c="http://schemas.openxmlformats.org/drawingml/2006/chart" r:id="Rf1767ce3f42446a8"/>
          </a:graphicData>
        </a:graphic>
      </p:graphicFrame>
      <p:sp>
        <p:nvSpPr>
          <p:cNvPr id="6" name="">
            <a:extLst xmlns:a="http://schemas.openxmlformats.org/drawingml/2006/main">
              <a:ext uri="{FF2B5EF4-FFF2-40B4-BE49-F238E27FC236}">
                <a16:creationId xmlns:a16="http://schemas.microsoft.com/office/drawing/2014/main" id="{3EA301D7-AD8B-4A79-AAB2-BDF903A62D56}"/>
              </a:ext>
            </a:extLst>
          </p:cNvPr>
          <p:cNvSpPr>
            <a:spLocks xmlns:a="http://schemas.openxmlformats.org/drawingml/2006/main" noGrp="1"/>
          </p:cNvSpPr>
          <p:nvPr/>
        </p:nvSpPr>
        <p:spPr>
          <a:xfrm xmlns:a="http://schemas.openxmlformats.org/drawingml/2006/main">
            <a:off x="7810500" y="20097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186A91"/>
                </a:solidFill>
                <a:latin typeface="Helvetica Neue"/>
                <a:ea typeface="Helvetica Neue"/>
                <a:cs typeface="Helvetica Neue"/>
              </a:defRPr>
            </a:defPPr>
            <a:lvl1pPr>
              <a:defRPr sz="2025" b="1">
                <a:solidFill>
                  <a:srgbClr val="186A91"/>
                </a:solidFill>
                <a:latin typeface="Helvetica Neue"/>
                <a:ea typeface="Helvetica Neue"/>
                <a:cs typeface="Helvetica Neue"/>
              </a:defRPr>
            </a:lvl1pPr>
            <a:lvl2pPr>
              <a:defRPr sz="2025" b="1">
                <a:solidFill>
                  <a:srgbClr val="186A91"/>
                </a:solidFill>
                <a:latin typeface="Helvetica Neue"/>
                <a:ea typeface="Helvetica Neue"/>
                <a:cs typeface="Helvetica Neue"/>
              </a:defRPr>
            </a:lvl2pPr>
            <a:lvl3pPr>
              <a:defRPr sz="2025" b="1">
                <a:solidFill>
                  <a:srgbClr val="186A91"/>
                </a:solidFill>
                <a:latin typeface="Helvetica Neue"/>
                <a:ea typeface="Helvetica Neue"/>
                <a:cs typeface="Helvetica Neue"/>
              </a:defRPr>
            </a:lvl3pPr>
            <a:lvl4pPr>
              <a:defRPr sz="2025" b="1">
                <a:solidFill>
                  <a:srgbClr val="186A91"/>
                </a:solidFill>
                <a:latin typeface="Helvetica Neue"/>
                <a:ea typeface="Helvetica Neue"/>
                <a:cs typeface="Helvetica Neue"/>
              </a:defRPr>
            </a:lvl4pPr>
            <a:lvl5pPr>
              <a:defRPr sz="2025" b="1">
                <a:solidFill>
                  <a:srgbClr val="186A91"/>
                </a:solidFill>
                <a:latin typeface="Helvetica Neue"/>
                <a:ea typeface="Helvetica Neue"/>
                <a:cs typeface="Helvetica Neue"/>
              </a:defRPr>
            </a:lvl5pPr>
            <a:lvl6pPr>
              <a:defRPr sz="2025" b="1">
                <a:solidFill>
                  <a:srgbClr val="186A91"/>
                </a:solidFill>
                <a:latin typeface="Helvetica Neue"/>
                <a:ea typeface="Helvetica Neue"/>
                <a:cs typeface="Helvetica Neue"/>
              </a:defRPr>
            </a:lvl6pPr>
            <a:lvl7pPr>
              <a:defRPr sz="2025" b="1">
                <a:solidFill>
                  <a:srgbClr val="186A91"/>
                </a:solidFill>
                <a:latin typeface="Helvetica Neue"/>
                <a:ea typeface="Helvetica Neue"/>
                <a:cs typeface="Helvetica Neue"/>
              </a:defRPr>
            </a:lvl7pPr>
            <a:lvl8pPr>
              <a:defRPr sz="2025" b="1">
                <a:solidFill>
                  <a:srgbClr val="186A91"/>
                </a:solidFill>
                <a:latin typeface="Helvetica Neue"/>
                <a:ea typeface="Helvetica Neue"/>
                <a:cs typeface="Helvetica Neue"/>
              </a:defRPr>
            </a:lvl8pPr>
            <a:lvl9pPr>
              <a:defRPr sz="2025" b="1">
                <a:solidFill>
                  <a:srgbClr val="186A91"/>
                </a:solidFill>
                <a:latin typeface="Helvetica Neue"/>
                <a:ea typeface="Helvetica Neue"/>
                <a:cs typeface="Helvetica Neue"/>
              </a:defRPr>
            </a:lvl9pPr>
          </a:lstStyle>
          <a:p xmlns:a="http://schemas.openxmlformats.org/drawingml/2006/main">
            <a:pPr>
              <a:defRPr sz="2025" b="1">
                <a:solidFill>
                  <a:srgbClr val="186A91"/>
                </a:solidFill>
                <a:latin typeface="Helvetica Neue"/>
                <a:ea typeface="Helvetica Neue"/>
                <a:cs typeface="Helvetica Neue"/>
              </a:defRPr>
            </a:pPr>
            <a:r>
              <a:rPr sz="2025" b="1">
                <a:solidFill>
                  <a:srgbClr val="186A91"/>
                </a:solidFill>
                <a:latin typeface="Helvetica Neue"/>
                <a:ea typeface="Helvetica Neue"/>
                <a:cs typeface="Helvetica Neue"/>
              </a:rPr>
              <a:t>Original-optimal samples</a:t>
            </a:r>
          </a:p>
        </p:txBody>
      </p:sp>
      <p:graphicFrame>
        <p:nvGraphicFramePr>
          <p:cNvPr id="7" name="">
            <a:extLst xmlns:a="http://schemas.openxmlformats.org/drawingml/2006/main">
              <a:ext uri="{FF2B5EF4-FFF2-40B4-BE49-F238E27FC236}">
                <a16:creationId xmlns:a16="http://schemas.microsoft.com/office/drawing/2014/main" id="{FA648F50-A48B-452B-9BA4-869B75E5084C}"/>
              </a:ext>
            </a:extLst>
          </p:cNvPr>
          <p:cNvGraphicFramePr/>
          <p:nvPr/>
        </p:nvGraphicFramePr>
        <p:xfrm>
          <a:off xmlns:a="http://schemas.openxmlformats.org/drawingml/2006/main" x="7810500" y="2543175"/>
          <a:ext xmlns:a="http://schemas.openxmlformats.org/drawingml/2006/main" cx="3810000" cy="2428875"/>
        </p:xfrm>
        <a:graphic xmlns:a="http://schemas.openxmlformats.org/drawingml/2006/main">
          <a:graphicData uri="http://schemas.openxmlformats.org/drawingml/2006/table">
            <a:tbl>
              <a:tblPr firstRow="1" bandRow="0"/>
              <a:tblGrid>
                <a:gridCol w="1381125"/>
                <a:gridCol w="1000125"/>
                <a:gridCol w="1428750"/>
              </a:tblGrid>
              <a:tr h="607219">
                <a:tc>
                  <a:txBody>
                    <a:bodyPr/>
                    <a:lstStyle/>
                    <a:p>
                      <a:r>
                        <a:rPr sz="1575" b="1">
                          <a:solidFill>
                            <a:srgbClr val="FFFFFF"/>
                          </a:solidFill>
                          <a:latin typeface="Helvetica Neue"/>
                          <a:ea typeface="Helvetica Neue"/>
                          <a:cs typeface="Helvetica Neue"/>
                        </a:rPr>
                        <a:t>Method</a:t>
                      </a:r>
                    </a:p>
                  </a:txBody>
                  <a:tcPr marL="142875" marR="142875" marT="76200" marB="76200" anchor="ctr">
                    <a:lnL w="9525">
                      <a:solidFill>
                        <a:srgbClr val="DCE5EA"/>
                      </a:solidFill>
                      <a:prstDash val="solid"/>
                    </a:lnL>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575" b="1">
                          <a:solidFill>
                            <a:srgbClr val="FFFFFF"/>
                          </a:solidFill>
                          <a:latin typeface="Helvetica Neue"/>
                          <a:ea typeface="Helvetica Neue"/>
                          <a:cs typeface="Helvetica Neue"/>
                        </a:rPr>
                        <a:t>Small</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575" b="1">
                          <a:solidFill>
                            <a:srgbClr val="FFFFFF"/>
                          </a:solidFill>
                          <a:latin typeface="Helvetica Neue"/>
                          <a:ea typeface="Helvetica Neue"/>
                          <a:cs typeface="Helvetica Neue"/>
                        </a:rPr>
                        <a:t>Medium / large</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r>
              <a:tr h="607219">
                <a:tc>
                  <a:txBody>
                    <a:bodyPr/>
                    <a:lstStyle/>
                    <a:p>
                      <a:r>
                        <a:rPr sz="1575" b="0">
                          <a:solidFill>
                            <a:srgbClr val="142536"/>
                          </a:solidFill>
                          <a:latin typeface="Helvetica Neue"/>
                          <a:ea typeface="Helvetica Neue"/>
                          <a:cs typeface="Helvetica Neue"/>
                        </a:rPr>
                        <a:t>BLaDE</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575" b="0">
                          <a:solidFill>
                            <a:srgbClr val="142536"/>
                          </a:solidFill>
                          <a:latin typeface="Helvetica Neue"/>
                          <a:ea typeface="Helvetica Neue"/>
                          <a:cs typeface="Helvetica Neue"/>
                        </a:rPr>
                        <a:t>28.68%</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575" b="0">
                          <a:solidFill>
                            <a:srgbClr val="142536"/>
                          </a:solidFill>
                          <a:latin typeface="Helvetica Neue"/>
                          <a:ea typeface="Helvetica Neue"/>
                          <a:cs typeface="Helvetica Neue"/>
                        </a:rPr>
                        <a:t>0% / 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r h="607219">
                <a:tc>
                  <a:txBody>
                    <a:bodyPr/>
                    <a:lstStyle/>
                    <a:p>
                      <a:r>
                        <a:rPr sz="1575" b="0">
                          <a:solidFill>
                            <a:srgbClr val="142536"/>
                          </a:solidFill>
                          <a:latin typeface="Helvetica Neue"/>
                          <a:ea typeface="Helvetica Neue"/>
                          <a:cs typeface="Helvetica Neue"/>
                        </a:rPr>
                        <a:t>Balanced</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1F5F7"/>
                    </a:solidFill>
                  </a:tcPr>
                </a:tc>
                <a:tc>
                  <a:txBody>
                    <a:bodyPr/>
                    <a:lstStyle/>
                    <a:p>
                      <a:r>
                        <a:rPr sz="1575" b="0">
                          <a:solidFill>
                            <a:srgbClr val="142536"/>
                          </a:solidFill>
                          <a:latin typeface="Helvetica Neue"/>
                          <a:ea typeface="Helvetica Neue"/>
                          <a:cs typeface="Helvetica Neue"/>
                        </a:rPr>
                        <a:t>29.70%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575" b="0">
                          <a:solidFill>
                            <a:srgbClr val="142536"/>
                          </a:solidFill>
                          <a:latin typeface="Helvetica Neue"/>
                          <a:ea typeface="Helvetica Neue"/>
                          <a:cs typeface="Helvetica Neue"/>
                        </a:rPr>
                        <a:t>0.05% / 0%</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r>
              <a:tr h="607219">
                <a:tc>
                  <a:txBody>
                    <a:bodyPr/>
                    <a:lstStyle/>
                    <a:p>
                      <a:r>
                        <a:rPr sz="1575" b="0">
                          <a:solidFill>
                            <a:srgbClr val="142536"/>
                          </a:solidFill>
                          <a:latin typeface="Helvetica Neue"/>
                          <a:ea typeface="Helvetica Neue"/>
                          <a:cs typeface="Helvetica Neue"/>
                        </a:rPr>
                        <a:t>Uniform</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575" b="0">
                          <a:solidFill>
                            <a:srgbClr val="142536"/>
                          </a:solidFill>
                          <a:latin typeface="Helvetica Neue"/>
                          <a:ea typeface="Helvetica Neue"/>
                          <a:cs typeface="Helvetica Neue"/>
                        </a:rPr>
                        <a:t>12.72%</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575" b="0">
                          <a:solidFill>
                            <a:srgbClr val="142536"/>
                          </a:solidFill>
                          <a:latin typeface="Helvetica Neue"/>
                          <a:ea typeface="Helvetica Neue"/>
                          <a:cs typeface="Helvetica Neue"/>
                        </a:rPr>
                        <a:t>0.0067% / 0%</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1E42769-8369-408E-897E-61DB81B71D3F}"/>
              </a:ext>
            </a:extLst>
          </p:cNvPr>
          <p:cNvSpPr>
            <a:spLocks xmlns:a="http://schemas.openxmlformats.org/drawingml/2006/main" noGrp="1"/>
          </p:cNvSpPr>
          <p:nvPr/>
        </p:nvSpPr>
        <p:spPr>
          <a:xfrm xmlns:a="http://schemas.openxmlformats.org/drawingml/2006/main">
            <a:off x="571500" y="5543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16476"/>
                </a:solidFill>
                <a:latin typeface="Helvetica Neue"/>
                <a:ea typeface="Helvetica Neue"/>
                <a:cs typeface="Helvetica Neue"/>
              </a:defRPr>
            </a:defPPr>
            <a:lvl1pPr>
              <a:defRPr sz="1800" b="0">
                <a:solidFill>
                  <a:srgbClr val="516476"/>
                </a:solidFill>
                <a:latin typeface="Helvetica Neue"/>
                <a:ea typeface="Helvetica Neue"/>
                <a:cs typeface="Helvetica Neue"/>
              </a:defRPr>
            </a:lvl1pPr>
            <a:lvl2pPr>
              <a:defRPr sz="1800" b="0">
                <a:solidFill>
                  <a:srgbClr val="516476"/>
                </a:solidFill>
                <a:latin typeface="Helvetica Neue"/>
                <a:ea typeface="Helvetica Neue"/>
                <a:cs typeface="Helvetica Neue"/>
              </a:defRPr>
            </a:lvl2pPr>
            <a:lvl3pPr>
              <a:defRPr sz="1800" b="0">
                <a:solidFill>
                  <a:srgbClr val="516476"/>
                </a:solidFill>
                <a:latin typeface="Helvetica Neue"/>
                <a:ea typeface="Helvetica Neue"/>
                <a:cs typeface="Helvetica Neue"/>
              </a:defRPr>
            </a:lvl3pPr>
            <a:lvl4pPr>
              <a:defRPr sz="1800" b="0">
                <a:solidFill>
                  <a:srgbClr val="516476"/>
                </a:solidFill>
                <a:latin typeface="Helvetica Neue"/>
                <a:ea typeface="Helvetica Neue"/>
                <a:cs typeface="Helvetica Neue"/>
              </a:defRPr>
            </a:lvl4pPr>
            <a:lvl5pPr>
              <a:defRPr sz="1800" b="0">
                <a:solidFill>
                  <a:srgbClr val="516476"/>
                </a:solidFill>
                <a:latin typeface="Helvetica Neue"/>
                <a:ea typeface="Helvetica Neue"/>
                <a:cs typeface="Helvetica Neue"/>
              </a:defRPr>
            </a:lvl5pPr>
            <a:lvl6pPr>
              <a:defRPr sz="1800" b="0">
                <a:solidFill>
                  <a:srgbClr val="516476"/>
                </a:solidFill>
                <a:latin typeface="Helvetica Neue"/>
                <a:ea typeface="Helvetica Neue"/>
                <a:cs typeface="Helvetica Neue"/>
              </a:defRPr>
            </a:lvl6pPr>
            <a:lvl7pPr>
              <a:defRPr sz="1800" b="0">
                <a:solidFill>
                  <a:srgbClr val="516476"/>
                </a:solidFill>
                <a:latin typeface="Helvetica Neue"/>
                <a:ea typeface="Helvetica Neue"/>
                <a:cs typeface="Helvetica Neue"/>
              </a:defRPr>
            </a:lvl7pPr>
            <a:lvl8pPr>
              <a:defRPr sz="1800" b="0">
                <a:solidFill>
                  <a:srgbClr val="516476"/>
                </a:solidFill>
                <a:latin typeface="Helvetica Neue"/>
                <a:ea typeface="Helvetica Neue"/>
                <a:cs typeface="Helvetica Neue"/>
              </a:defRPr>
            </a:lvl8pPr>
            <a:lvl9pPr>
              <a:defRPr sz="1800" b="0">
                <a:solidFill>
                  <a:srgbClr val="516476"/>
                </a:solidFill>
                <a:latin typeface="Helvetica Neue"/>
                <a:ea typeface="Helvetica Neue"/>
                <a:cs typeface="Helvetica Neue"/>
              </a:defRPr>
            </a:lvl9pPr>
          </a:lstStyle>
          <a:p xmlns:a="http://schemas.openxmlformats.org/drawingml/2006/main">
            <a:pPr>
              <a:defRPr sz="1800" b="0">
                <a:solidFill>
                  <a:srgbClr val="516476"/>
                </a:solidFill>
                <a:latin typeface="Helvetica Neue"/>
                <a:ea typeface="Helvetica Neue"/>
                <a:cs typeface="Helvetica Neue"/>
              </a:defRPr>
            </a:pPr>
            <a:r>
              <a:rPr sz="1800" b="0">
                <a:solidFill>
                  <a:srgbClr val="516476"/>
                </a:solidFill>
                <a:latin typeface="Helvetica Neue"/>
                <a:ea typeface="Helvetica Neue"/>
                <a:cs typeface="Helvetica Neue"/>
              </a:rPr>
              <a:t>BLaDE: reduced encoding, fixed global pulse. Equal sample counts; total computation differs.</a:t>
            </a:r>
          </a:p>
        </p:txBody>
      </p:sp>
    </p:spTree>
    <p:extLst>
      <p:ext uri="{BB962C8B-B14F-4D97-AF65-F5344CB8AC3E}">
        <p14:creationId xmlns:p14="http://schemas.microsoft.com/office/powerpoint/2010/main" val="204677640"/>
      </p:ext>
    </p:extLst>
  </p:cSld>
</p:sld>
</file>

<file path=ppt/slides/slide10.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668EEA-B517-4F80-A293-5FCB23123EAE}"/>
              </a:ext>
            </a:extLst>
          </p:cNvPr>
          <p:cNvSpPr>
            <a:spLocks xmlns:a="http://schemas.openxmlformats.org/drawingml/2006/main" noGrp="1"/>
          </p:cNvSpPr>
          <p:nvPr/>
        </p:nvSpPr>
        <p:spPr>
          <a:xfrm xmlns:a="http://schemas.openxmlformats.org/drawingml/2006/main">
            <a:off x="571500" y="34290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42536"/>
                </a:solidFill>
                <a:latin typeface="Helvetica Neue"/>
                <a:ea typeface="Helvetica Neue"/>
                <a:cs typeface="Helvetica Neue"/>
              </a:defRPr>
            </a:defPPr>
            <a:lvl1pPr>
              <a:defRPr sz="3225" b="1">
                <a:solidFill>
                  <a:srgbClr val="142536"/>
                </a:solidFill>
                <a:latin typeface="Helvetica Neue"/>
                <a:ea typeface="Helvetica Neue"/>
                <a:cs typeface="Helvetica Neue"/>
              </a:defRPr>
            </a:lvl1pPr>
            <a:lvl2pPr>
              <a:defRPr sz="3225" b="1">
                <a:solidFill>
                  <a:srgbClr val="142536"/>
                </a:solidFill>
                <a:latin typeface="Helvetica Neue"/>
                <a:ea typeface="Helvetica Neue"/>
                <a:cs typeface="Helvetica Neue"/>
              </a:defRPr>
            </a:lvl2pPr>
            <a:lvl3pPr>
              <a:defRPr sz="3225" b="1">
                <a:solidFill>
                  <a:srgbClr val="142536"/>
                </a:solidFill>
                <a:latin typeface="Helvetica Neue"/>
                <a:ea typeface="Helvetica Neue"/>
                <a:cs typeface="Helvetica Neue"/>
              </a:defRPr>
            </a:lvl3pPr>
            <a:lvl4pPr>
              <a:defRPr sz="3225" b="1">
                <a:solidFill>
                  <a:srgbClr val="142536"/>
                </a:solidFill>
                <a:latin typeface="Helvetica Neue"/>
                <a:ea typeface="Helvetica Neue"/>
                <a:cs typeface="Helvetica Neue"/>
              </a:defRPr>
            </a:lvl4pPr>
            <a:lvl5pPr>
              <a:defRPr sz="3225" b="1">
                <a:solidFill>
                  <a:srgbClr val="142536"/>
                </a:solidFill>
                <a:latin typeface="Helvetica Neue"/>
                <a:ea typeface="Helvetica Neue"/>
                <a:cs typeface="Helvetica Neue"/>
              </a:defRPr>
            </a:lvl5pPr>
            <a:lvl6pPr>
              <a:defRPr sz="3225" b="1">
                <a:solidFill>
                  <a:srgbClr val="142536"/>
                </a:solidFill>
                <a:latin typeface="Helvetica Neue"/>
                <a:ea typeface="Helvetica Neue"/>
                <a:cs typeface="Helvetica Neue"/>
              </a:defRPr>
            </a:lvl6pPr>
            <a:lvl7pPr>
              <a:defRPr sz="3225" b="1">
                <a:solidFill>
                  <a:srgbClr val="142536"/>
                </a:solidFill>
                <a:latin typeface="Helvetica Neue"/>
                <a:ea typeface="Helvetica Neue"/>
                <a:cs typeface="Helvetica Neue"/>
              </a:defRPr>
            </a:lvl7pPr>
            <a:lvl8pPr>
              <a:defRPr sz="3225" b="1">
                <a:solidFill>
                  <a:srgbClr val="142536"/>
                </a:solidFill>
                <a:latin typeface="Helvetica Neue"/>
                <a:ea typeface="Helvetica Neue"/>
                <a:cs typeface="Helvetica Neue"/>
              </a:defRPr>
            </a:lvl8pPr>
            <a:lvl9pPr>
              <a:defRPr sz="3225" b="1">
                <a:solidFill>
                  <a:srgbClr val="142536"/>
                </a:solidFill>
                <a:latin typeface="Helvetica Neue"/>
                <a:ea typeface="Helvetica Neue"/>
                <a:cs typeface="Helvetica Neue"/>
              </a:defRPr>
            </a:lvl9pPr>
          </a:lstStyle>
          <a:p xmlns:a="http://schemas.openxmlformats.org/drawingml/2006/main">
            <a:pPr>
              <a:defRPr sz="3225" b="1">
                <a:solidFill>
                  <a:srgbClr val="142536"/>
                </a:solidFill>
                <a:latin typeface="Helvetica Neue"/>
                <a:ea typeface="Helvetica Neue"/>
                <a:cs typeface="Helvetica Neue"/>
              </a:defRPr>
            </a:pPr>
            <a:r>
              <a:rPr sz="3225" b="1">
                <a:solidFill>
                  <a:srgbClr val="142536"/>
                </a:solidFill>
                <a:latin typeface="Helvetica Neue"/>
                <a:ea typeface="Helvetica Neue"/>
                <a:cs typeface="Helvetica Neue"/>
              </a:rPr>
              <a:t>Pulse tuning exposes the embedding limit</a:t>
            </a:r>
          </a:p>
        </p:txBody>
      </p:sp>
      <p:sp>
        <p:nvSpPr>
          <p:cNvPr id="2" name="">
            <a:extLst xmlns:a="http://schemas.openxmlformats.org/drawingml/2006/main">
              <a:ext uri="{FF2B5EF4-FFF2-40B4-BE49-F238E27FC236}">
                <a16:creationId xmlns:a16="http://schemas.microsoft.com/office/drawing/2014/main" id="{4D6D9934-0F68-446C-9C0F-56B1A478A3B0}"/>
              </a:ext>
            </a:extLst>
          </p:cNvPr>
          <p:cNvSpPr>
            <a:spLocks xmlns:a="http://schemas.openxmlformats.org/drawingml/2006/main" noGrp="1"/>
          </p:cNvSpPr>
          <p:nvPr/>
        </p:nvSpPr>
        <p:spPr>
          <a:xfrm xmlns:a="http://schemas.openxmlformats.org/drawingml/2006/main">
            <a:off x="11001375" y="63817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16476"/>
                </a:solidFill>
                <a:latin typeface="Helvetica Neue"/>
                <a:ea typeface="Helvetica Neue"/>
                <a:cs typeface="Helvetica Neue"/>
              </a:defRPr>
            </a:defPPr>
            <a:lvl1pPr>
              <a:defRPr sz="1350" b="0">
                <a:solidFill>
                  <a:srgbClr val="516476"/>
                </a:solidFill>
                <a:latin typeface="Helvetica Neue"/>
                <a:ea typeface="Helvetica Neue"/>
                <a:cs typeface="Helvetica Neue"/>
              </a:defRPr>
            </a:lvl1pPr>
            <a:lvl2pPr>
              <a:defRPr sz="1350" b="0">
                <a:solidFill>
                  <a:srgbClr val="516476"/>
                </a:solidFill>
                <a:latin typeface="Helvetica Neue"/>
                <a:ea typeface="Helvetica Neue"/>
                <a:cs typeface="Helvetica Neue"/>
              </a:defRPr>
            </a:lvl2pPr>
            <a:lvl3pPr>
              <a:defRPr sz="1350" b="0">
                <a:solidFill>
                  <a:srgbClr val="516476"/>
                </a:solidFill>
                <a:latin typeface="Helvetica Neue"/>
                <a:ea typeface="Helvetica Neue"/>
                <a:cs typeface="Helvetica Neue"/>
              </a:defRPr>
            </a:lvl3pPr>
            <a:lvl4pPr>
              <a:defRPr sz="1350" b="0">
                <a:solidFill>
                  <a:srgbClr val="516476"/>
                </a:solidFill>
                <a:latin typeface="Helvetica Neue"/>
                <a:ea typeface="Helvetica Neue"/>
                <a:cs typeface="Helvetica Neue"/>
              </a:defRPr>
            </a:lvl4pPr>
            <a:lvl5pPr>
              <a:defRPr sz="1350" b="0">
                <a:solidFill>
                  <a:srgbClr val="516476"/>
                </a:solidFill>
                <a:latin typeface="Helvetica Neue"/>
                <a:ea typeface="Helvetica Neue"/>
                <a:cs typeface="Helvetica Neue"/>
              </a:defRPr>
            </a:lvl5pPr>
            <a:lvl6pPr>
              <a:defRPr sz="1350" b="0">
                <a:solidFill>
                  <a:srgbClr val="516476"/>
                </a:solidFill>
                <a:latin typeface="Helvetica Neue"/>
                <a:ea typeface="Helvetica Neue"/>
                <a:cs typeface="Helvetica Neue"/>
              </a:defRPr>
            </a:lvl6pPr>
            <a:lvl7pPr>
              <a:defRPr sz="1350" b="0">
                <a:solidFill>
                  <a:srgbClr val="516476"/>
                </a:solidFill>
                <a:latin typeface="Helvetica Neue"/>
                <a:ea typeface="Helvetica Neue"/>
                <a:cs typeface="Helvetica Neue"/>
              </a:defRPr>
            </a:lvl7pPr>
            <a:lvl8pPr>
              <a:defRPr sz="1350" b="0">
                <a:solidFill>
                  <a:srgbClr val="516476"/>
                </a:solidFill>
                <a:latin typeface="Helvetica Neue"/>
                <a:ea typeface="Helvetica Neue"/>
                <a:cs typeface="Helvetica Neue"/>
              </a:defRPr>
            </a:lvl8pPr>
            <a:lvl9pPr>
              <a:defRPr sz="1350" b="0">
                <a:solidFill>
                  <a:srgbClr val="516476"/>
                </a:solidFill>
                <a:latin typeface="Helvetica Neue"/>
                <a:ea typeface="Helvetica Neue"/>
                <a:cs typeface="Helvetica Neue"/>
              </a:defRPr>
            </a:lvl9pPr>
          </a:lstStyle>
          <a:p xmlns:a="http://schemas.openxmlformats.org/drawingml/2006/main">
            <a:pPr>
              <a:defRPr sz="1350" b="0">
                <a:solidFill>
                  <a:srgbClr val="516476"/>
                </a:solidFill>
                <a:latin typeface="Helvetica Neue"/>
                <a:ea typeface="Helvetica Neue"/>
                <a:cs typeface="Helvetica Neue"/>
              </a:defRPr>
            </a:pPr>
            <a:r>
              <a:rPr sz="1350" b="0">
                <a:solidFill>
                  <a:srgbClr val="516476"/>
                </a:solidFill>
                <a:latin typeface="Helvetica Neue"/>
                <a:ea typeface="Helvetica Neue"/>
                <a:cs typeface="Helvetica Neue"/>
              </a:rPr>
              <a:t>10 / 11</a:t>
            </a:r>
          </a:p>
        </p:txBody>
      </p:sp>
      <p:sp>
        <p:nvSpPr>
          <p:cNvPr id="3" name="">
            <a:extLst xmlns:a="http://schemas.openxmlformats.org/drawingml/2006/main">
              <a:ext uri="{FF2B5EF4-FFF2-40B4-BE49-F238E27FC236}">
                <a16:creationId xmlns:a16="http://schemas.microsoft.com/office/drawing/2014/main" id="{836A05AD-A5E8-4EE9-8AC7-ED0C5ABC6B40}"/>
              </a:ext>
            </a:extLst>
          </p:cNvPr>
          <p:cNvSpPr>
            <a:spLocks xmlns:a="http://schemas.openxmlformats.org/drawingml/2006/main" noGrp="1"/>
          </p:cNvSpPr>
          <p:nvPr/>
        </p:nvSpPr>
        <p:spPr>
          <a:xfrm xmlns:a="http://schemas.openxmlformats.org/drawingml/2006/main">
            <a:off x="571500" y="13811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516476"/>
                </a:solidFill>
                <a:latin typeface="Helvetica Neue"/>
                <a:ea typeface="Helvetica Neue"/>
                <a:cs typeface="Helvetica Neue"/>
              </a:defRPr>
            </a:defPPr>
            <a:lvl1pPr>
              <a:defRPr sz="2025" b="0">
                <a:solidFill>
                  <a:srgbClr val="516476"/>
                </a:solidFill>
                <a:latin typeface="Helvetica Neue"/>
                <a:ea typeface="Helvetica Neue"/>
                <a:cs typeface="Helvetica Neue"/>
              </a:defRPr>
            </a:lvl1pPr>
            <a:lvl2pPr>
              <a:defRPr sz="2025" b="0">
                <a:solidFill>
                  <a:srgbClr val="516476"/>
                </a:solidFill>
                <a:latin typeface="Helvetica Neue"/>
                <a:ea typeface="Helvetica Neue"/>
                <a:cs typeface="Helvetica Neue"/>
              </a:defRPr>
            </a:lvl2pPr>
            <a:lvl3pPr>
              <a:defRPr sz="2025" b="0">
                <a:solidFill>
                  <a:srgbClr val="516476"/>
                </a:solidFill>
                <a:latin typeface="Helvetica Neue"/>
                <a:ea typeface="Helvetica Neue"/>
                <a:cs typeface="Helvetica Neue"/>
              </a:defRPr>
            </a:lvl3pPr>
            <a:lvl4pPr>
              <a:defRPr sz="2025" b="0">
                <a:solidFill>
                  <a:srgbClr val="516476"/>
                </a:solidFill>
                <a:latin typeface="Helvetica Neue"/>
                <a:ea typeface="Helvetica Neue"/>
                <a:cs typeface="Helvetica Neue"/>
              </a:defRPr>
            </a:lvl4pPr>
            <a:lvl5pPr>
              <a:defRPr sz="2025" b="0">
                <a:solidFill>
                  <a:srgbClr val="516476"/>
                </a:solidFill>
                <a:latin typeface="Helvetica Neue"/>
                <a:ea typeface="Helvetica Neue"/>
                <a:cs typeface="Helvetica Neue"/>
              </a:defRPr>
            </a:lvl5pPr>
            <a:lvl6pPr>
              <a:defRPr sz="2025" b="0">
                <a:solidFill>
                  <a:srgbClr val="516476"/>
                </a:solidFill>
                <a:latin typeface="Helvetica Neue"/>
                <a:ea typeface="Helvetica Neue"/>
                <a:cs typeface="Helvetica Neue"/>
              </a:defRPr>
            </a:lvl6pPr>
            <a:lvl7pPr>
              <a:defRPr sz="2025" b="0">
                <a:solidFill>
                  <a:srgbClr val="516476"/>
                </a:solidFill>
                <a:latin typeface="Helvetica Neue"/>
                <a:ea typeface="Helvetica Neue"/>
                <a:cs typeface="Helvetica Neue"/>
              </a:defRPr>
            </a:lvl7pPr>
            <a:lvl8pPr>
              <a:defRPr sz="2025" b="0">
                <a:solidFill>
                  <a:srgbClr val="516476"/>
                </a:solidFill>
                <a:latin typeface="Helvetica Neue"/>
                <a:ea typeface="Helvetica Neue"/>
                <a:cs typeface="Helvetica Neue"/>
              </a:defRPr>
            </a:lvl8pPr>
            <a:lvl9pPr>
              <a:defRPr sz="2025" b="0">
                <a:solidFill>
                  <a:srgbClr val="516476"/>
                </a:solidFill>
                <a:latin typeface="Helvetica Neue"/>
                <a:ea typeface="Helvetica Neue"/>
                <a:cs typeface="Helvetica Neue"/>
              </a:defRPr>
            </a:lvl9pPr>
          </a:lstStyle>
          <a:p xmlns:a="http://schemas.openxmlformats.org/drawingml/2006/main">
            <a:pPr>
              <a:defRPr sz="2025" b="0">
                <a:solidFill>
                  <a:srgbClr val="516476"/>
                </a:solidFill>
                <a:latin typeface="Helvetica Neue"/>
                <a:ea typeface="Helvetica Neue"/>
                <a:cs typeface="Helvetica Neue"/>
              </a:defRPr>
            </a:pPr>
            <a:r>
              <a:rPr sz="2025" b="0">
                <a:solidFill>
                  <a:srgbClr val="516476"/>
                </a:solidFill>
                <a:latin typeface="Helvetica Neue"/>
                <a:ea typeface="Helvetica Neue"/>
                <a:cs typeface="Helvetica Neue"/>
              </a:rPr>
              <a:t>Tuned duration, drive strength and shape, and the detuning sweep.</a:t>
            </a:r>
          </a:p>
        </p:txBody>
      </p:sp>
      <p:sp>
        <p:nvSpPr>
          <p:cNvPr id="4" name="">
            <a:extLst xmlns:a="http://schemas.openxmlformats.org/drawingml/2006/main">
              <a:ext uri="{FF2B5EF4-FFF2-40B4-BE49-F238E27FC236}">
                <a16:creationId xmlns:a16="http://schemas.microsoft.com/office/drawing/2014/main" id="{5B1FE97A-5ED7-43D6-990E-CE6DD4DD8AF2}"/>
              </a:ext>
            </a:extLst>
          </p:cNvPr>
          <p:cNvSpPr>
            <a:spLocks xmlns:a="http://schemas.openxmlformats.org/drawingml/2006/main" noGrp="1"/>
          </p:cNvSpPr>
          <p:nvPr/>
        </p:nvSpPr>
        <p:spPr>
          <a:xfrm xmlns:a="http://schemas.openxmlformats.org/drawingml/2006/main">
            <a:off x="571500" y="18478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16476"/>
                </a:solidFill>
                <a:latin typeface="Helvetica Neue"/>
                <a:ea typeface="Helvetica Neue"/>
                <a:cs typeface="Helvetica Neue"/>
              </a:defRPr>
            </a:defPPr>
            <a:lvl1pPr>
              <a:defRPr sz="1875" b="0">
                <a:solidFill>
                  <a:srgbClr val="516476"/>
                </a:solidFill>
                <a:latin typeface="Helvetica Neue"/>
                <a:ea typeface="Helvetica Neue"/>
                <a:cs typeface="Helvetica Neue"/>
              </a:defRPr>
            </a:lvl1pPr>
            <a:lvl2pPr>
              <a:defRPr sz="1875" b="0">
                <a:solidFill>
                  <a:srgbClr val="516476"/>
                </a:solidFill>
                <a:latin typeface="Helvetica Neue"/>
                <a:ea typeface="Helvetica Neue"/>
                <a:cs typeface="Helvetica Neue"/>
              </a:defRPr>
            </a:lvl2pPr>
            <a:lvl3pPr>
              <a:defRPr sz="1875" b="0">
                <a:solidFill>
                  <a:srgbClr val="516476"/>
                </a:solidFill>
                <a:latin typeface="Helvetica Neue"/>
                <a:ea typeface="Helvetica Neue"/>
                <a:cs typeface="Helvetica Neue"/>
              </a:defRPr>
            </a:lvl3pPr>
            <a:lvl4pPr>
              <a:defRPr sz="1875" b="0">
                <a:solidFill>
                  <a:srgbClr val="516476"/>
                </a:solidFill>
                <a:latin typeface="Helvetica Neue"/>
                <a:ea typeface="Helvetica Neue"/>
                <a:cs typeface="Helvetica Neue"/>
              </a:defRPr>
            </a:lvl4pPr>
            <a:lvl5pPr>
              <a:defRPr sz="1875" b="0">
                <a:solidFill>
                  <a:srgbClr val="516476"/>
                </a:solidFill>
                <a:latin typeface="Helvetica Neue"/>
                <a:ea typeface="Helvetica Neue"/>
                <a:cs typeface="Helvetica Neue"/>
              </a:defRPr>
            </a:lvl5pPr>
            <a:lvl6pPr>
              <a:defRPr sz="1875" b="0">
                <a:solidFill>
                  <a:srgbClr val="516476"/>
                </a:solidFill>
                <a:latin typeface="Helvetica Neue"/>
                <a:ea typeface="Helvetica Neue"/>
                <a:cs typeface="Helvetica Neue"/>
              </a:defRPr>
            </a:lvl6pPr>
            <a:lvl7pPr>
              <a:defRPr sz="1875" b="0">
                <a:solidFill>
                  <a:srgbClr val="516476"/>
                </a:solidFill>
                <a:latin typeface="Helvetica Neue"/>
                <a:ea typeface="Helvetica Neue"/>
                <a:cs typeface="Helvetica Neue"/>
              </a:defRPr>
            </a:lvl7pPr>
            <a:lvl8pPr>
              <a:defRPr sz="1875" b="0">
                <a:solidFill>
                  <a:srgbClr val="516476"/>
                </a:solidFill>
                <a:latin typeface="Helvetica Neue"/>
                <a:ea typeface="Helvetica Neue"/>
                <a:cs typeface="Helvetica Neue"/>
              </a:defRPr>
            </a:lvl8pPr>
            <a:lvl9pPr>
              <a:defRPr sz="1875" b="0">
                <a:solidFill>
                  <a:srgbClr val="516476"/>
                </a:solidFill>
                <a:latin typeface="Helvetica Neue"/>
                <a:ea typeface="Helvetica Neue"/>
                <a:cs typeface="Helvetica Neue"/>
              </a:defRPr>
            </a:lvl9pPr>
          </a:lstStyle>
          <a:p xmlns:a="http://schemas.openxmlformats.org/drawingml/2006/main">
            <a:pPr>
              <a:defRPr sz="1875" b="0">
                <a:solidFill>
                  <a:srgbClr val="516476"/>
                </a:solidFill>
                <a:latin typeface="Helvetica Neue"/>
                <a:ea typeface="Helvetica Neue"/>
                <a:cs typeface="Helvetica Neue"/>
              </a:defRPr>
            </a:pPr>
            <a:r>
              <a:rPr sz="1875" b="0">
                <a:solidFill>
                  <a:srgbClr val="516476"/>
                </a:solidFill>
                <a:latin typeface="Helvetica Neue"/>
                <a:ea typeface="Helvetica Neue"/>
                <a:cs typeface="Helvetica Neue"/>
              </a:rPr>
              <a:t>944 trials on 14 atoms. Per winner: 3 training, 2 validation and 5 evaluation problems.</a:t>
            </a:r>
          </a:p>
        </p:txBody>
      </p:sp>
      <p:graphicFrame>
        <p:nvGraphicFramePr>
          <p:cNvPr id="5" name="">
            <a:extLst xmlns:a="http://schemas.openxmlformats.org/drawingml/2006/main">
              <a:ext uri="{FF2B5EF4-FFF2-40B4-BE49-F238E27FC236}">
                <a16:creationId xmlns:a16="http://schemas.microsoft.com/office/drawing/2014/main" id="{038AC4CD-C341-4F83-A0B2-2FA778C3BAF3}"/>
              </a:ext>
            </a:extLst>
          </p:cNvPr>
          <p:cNvGraphicFramePr/>
          <p:nvPr/>
        </p:nvGraphicFramePr>
        <p:xfrm>
          <a:off xmlns:a="http://schemas.openxmlformats.org/drawingml/2006/main" x="571500" y="2543175"/>
          <a:ext xmlns:a="http://schemas.openxmlformats.org/drawingml/2006/main" cx="11049000" cy="1809750"/>
        </p:xfrm>
        <a:graphic xmlns:a="http://schemas.openxmlformats.org/drawingml/2006/main">
          <a:graphicData uri="http://schemas.openxmlformats.org/drawingml/2006/table">
            <a:tbl>
              <a:tblPr firstRow="1" bandRow="0"/>
              <a:tblGrid>
                <a:gridCol w="3810000"/>
                <a:gridCol w="3524250"/>
                <a:gridCol w="3714750"/>
              </a:tblGrid>
              <a:tr h="452438">
                <a:tc>
                  <a:txBody>
                    <a:bodyPr/>
                    <a:lstStyle/>
                    <a:p>
                      <a:r>
                        <a:rPr sz="1875" b="1">
                          <a:solidFill>
                            <a:srgbClr val="FFFFFF"/>
                          </a:solidFill>
                          <a:latin typeface="Helvetica Neue"/>
                          <a:ea typeface="Helvetica Neue"/>
                          <a:cs typeface="Helvetica Neue"/>
                        </a:rPr>
                        <a:t>Training interactions</a:t>
                      </a:r>
                    </a:p>
                  </a:txBody>
                  <a:tcPr marL="142875" marR="142875" marT="76200" marB="76200" anchor="ctr">
                    <a:lnL w="9525">
                      <a:solidFill>
                        <a:srgbClr val="DCE5EA"/>
                      </a:solidFill>
                      <a:prstDash val="solid"/>
                    </a:lnL>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875" b="1">
                          <a:solidFill>
                            <a:srgbClr val="FFFFFF"/>
                          </a:solidFill>
                          <a:latin typeface="Helvetica Neue"/>
                          <a:ea typeface="Helvetica Neue"/>
                          <a:cs typeface="Helvetica Neue"/>
                        </a:rPr>
                        <a:t>Evaluation interactions</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c>
                  <a:txBody>
                    <a:bodyPr/>
                    <a:lstStyle/>
                    <a:p>
                      <a:r>
                        <a:rPr sz="1875" b="1">
                          <a:solidFill>
                            <a:srgbClr val="FFFFFF"/>
                          </a:solidFill>
                          <a:latin typeface="Helvetica Neue"/>
                          <a:ea typeface="Helvetica Neue"/>
                          <a:cs typeface="Helvetica Neue"/>
                        </a:rPr>
                        <a:t>Complete-answer success</a:t>
                      </a:r>
                    </a:p>
                  </a:txBody>
                  <a:tcPr marL="142875" marR="142875" marT="76200" marB="76200" anchor="ctr">
                    <a:lnR w="9525">
                      <a:solidFill>
                        <a:srgbClr val="DCE5EA"/>
                      </a:solidFill>
                      <a:prstDash val="solid"/>
                    </a:lnR>
                    <a:lnT w="9525">
                      <a:solidFill>
                        <a:srgbClr val="DCE5EA"/>
                      </a:solidFill>
                      <a:prstDash val="solid"/>
                    </a:lnT>
                    <a:lnB w="9525">
                      <a:solidFill>
                        <a:srgbClr val="DCE5EA"/>
                      </a:solidFill>
                      <a:prstDash val="solid"/>
                    </a:lnB>
                    <a:solidFill>
                      <a:srgbClr val="186A91"/>
                    </a:solidFill>
                  </a:tcPr>
                </a:tc>
              </a:tr>
              <a:tr h="452438">
                <a:tc>
                  <a:txBody>
                    <a:bodyPr/>
                    <a:lstStyle/>
                    <a:p>
                      <a:r>
                        <a:rPr sz="1875" b="0">
                          <a:solidFill>
                            <a:srgbClr val="142536"/>
                          </a:solidFill>
                          <a:latin typeface="Helvetica Neue"/>
                          <a:ea typeface="Helvetica Neue"/>
                          <a:cs typeface="Helvetica Neue"/>
                        </a:rPr>
                        <a:t>Intended</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875" b="0">
                          <a:solidFill>
                            <a:srgbClr val="142536"/>
                          </a:solidFill>
                          <a:latin typeface="Helvetica Neue"/>
                          <a:ea typeface="Helvetica Neue"/>
                          <a:cs typeface="Helvetica Neue"/>
                        </a:rPr>
                        <a:t>Intended</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875" b="0">
                          <a:solidFill>
                            <a:srgbClr val="142536"/>
                          </a:solidFill>
                          <a:latin typeface="Helvetica Neue"/>
                          <a:ea typeface="Helvetica Neue"/>
                          <a:cs typeface="Helvetica Neue"/>
                        </a:rPr>
                        <a:t>11.8–23.7%</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r h="452438">
                <a:tc>
                  <a:txBody>
                    <a:bodyPr/>
                    <a:lstStyle/>
                    <a:p>
                      <a:r>
                        <a:rPr sz="1875" b="0">
                          <a:solidFill>
                            <a:srgbClr val="142536"/>
                          </a:solidFill>
                          <a:latin typeface="Helvetica Neue"/>
                          <a:ea typeface="Helvetica Neue"/>
                          <a:cs typeface="Helvetica Neue"/>
                        </a:rPr>
                        <a:t>Intended (same pulses)</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1F5F7"/>
                    </a:solidFill>
                  </a:tcPr>
                </a:tc>
                <a:tc>
                  <a:txBody>
                    <a:bodyPr/>
                    <a:lstStyle/>
                    <a:p>
                      <a:r>
                        <a:rPr sz="1875" b="0">
                          <a:solidFill>
                            <a:srgbClr val="142536"/>
                          </a:solidFill>
                          <a:latin typeface="Helvetica Neue"/>
                          <a:ea typeface="Helvetica Neue"/>
                          <a:cs typeface="Helvetica Neue"/>
                        </a:rPr>
                        <a:t>Geometric</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c>
                  <a:txBody>
                    <a:bodyPr/>
                    <a:lstStyle/>
                    <a:p>
                      <a:r>
                        <a:rPr sz="1875" b="0">
                          <a:solidFill>
                            <a:srgbClr val="142536"/>
                          </a:solidFill>
                          <a:latin typeface="Helvetica Neue"/>
                          <a:ea typeface="Helvetica Neue"/>
                          <a:cs typeface="Helvetica Neue"/>
                        </a:rPr>
                        <a:t>Below reporting floor</a:t>
                      </a:r>
                    </a:p>
                  </a:txBody>
                  <a:tcPr marL="142875" marR="142875" marT="76200" marB="76200" anchor="ctr">
                    <a:lnR w="9525">
                      <a:solidFill>
                        <a:srgbClr val="DCE5EA"/>
                      </a:solidFill>
                      <a:prstDash val="solid"/>
                    </a:lnR>
                    <a:lnB w="9525">
                      <a:solidFill>
                        <a:srgbClr val="DCE5EA"/>
                      </a:solidFill>
                      <a:prstDash val="solid"/>
                    </a:lnB>
                    <a:solidFill>
                      <a:srgbClr val="F1F5F7"/>
                    </a:solidFill>
                  </a:tcPr>
                </a:tc>
              </a:tr>
              <a:tr h="452438">
                <a:tc>
                  <a:txBody>
                    <a:bodyPr/>
                    <a:lstStyle/>
                    <a:p>
                      <a:r>
                        <a:rPr sz="1875" b="0">
                          <a:solidFill>
                            <a:srgbClr val="142536"/>
                          </a:solidFill>
                          <a:latin typeface="Helvetica Neue"/>
                          <a:ea typeface="Helvetica Neue"/>
                          <a:cs typeface="Helvetica Neue"/>
                        </a:rPr>
                        <a:t>Geometric</a:t>
                      </a:r>
                    </a:p>
                  </a:txBody>
                  <a:tcPr marL="142875" marR="142875" marT="76200" marB="76200" anchor="ctr">
                    <a:lnL w="9525">
                      <a:solidFill>
                        <a:srgbClr val="DCE5EA"/>
                      </a:solidFill>
                      <a:prstDash val="solid"/>
                    </a:lnL>
                    <a:lnR w="9525">
                      <a:solidFill>
                        <a:srgbClr val="DCE5EA"/>
                      </a:solidFill>
                      <a:prstDash val="solid"/>
                    </a:lnR>
                    <a:lnB w="9525">
                      <a:solidFill>
                        <a:srgbClr val="DCE5EA"/>
                      </a:solidFill>
                      <a:prstDash val="solid"/>
                    </a:lnB>
                    <a:solidFill>
                      <a:srgbClr val="FFFFFF"/>
                    </a:solidFill>
                  </a:tcPr>
                </a:tc>
                <a:tc>
                  <a:txBody>
                    <a:bodyPr/>
                    <a:lstStyle/>
                    <a:p>
                      <a:r>
                        <a:rPr sz="1875" b="0">
                          <a:solidFill>
                            <a:srgbClr val="142536"/>
                          </a:solidFill>
                          <a:latin typeface="Helvetica Neue"/>
                          <a:ea typeface="Helvetica Neue"/>
                          <a:cs typeface="Helvetica Neue"/>
                        </a:rPr>
                        <a:t>Geometric</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c>
                  <a:txBody>
                    <a:bodyPr/>
                    <a:lstStyle/>
                    <a:p>
                      <a:r>
                        <a:rPr sz="1875" b="0">
                          <a:solidFill>
                            <a:srgbClr val="142536"/>
                          </a:solidFill>
                          <a:latin typeface="Helvetica Neue"/>
                          <a:ea typeface="Helvetica Neue"/>
                          <a:cs typeface="Helvetica Neue"/>
                        </a:rPr>
                        <a:t>Up to 0.168%</a:t>
                      </a:r>
                    </a:p>
                  </a:txBody>
                  <a:tcPr marL="142875" marR="142875" marT="76200" marB="76200" anchor="ctr">
                    <a:lnR w="9525">
                      <a:solidFill>
                        <a:srgbClr val="DCE5EA"/>
                      </a:solidFill>
                      <a:prstDash val="solid"/>
                    </a:lnR>
                    <a:lnB w="9525">
                      <a:solidFill>
                        <a:srgbClr val="DCE5E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C90F566-9359-4F6D-B3EF-142CF747C05E}"/>
              </a:ext>
            </a:extLst>
          </p:cNvPr>
          <p:cNvSpPr>
            <a:spLocks xmlns:a="http://schemas.openxmlformats.org/drawingml/2006/main" noGrp="1"/>
          </p:cNvSpPr>
          <p:nvPr/>
        </p:nvSpPr>
        <p:spPr>
          <a:xfrm xmlns:a="http://schemas.openxmlformats.org/drawingml/2006/main">
            <a:off x="571500" y="45434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186A91"/>
                </a:solidFill>
                <a:latin typeface="Helvetica Neue"/>
                <a:ea typeface="Helvetica Neue"/>
                <a:cs typeface="Helvetica Neue"/>
              </a:defRPr>
            </a:defPPr>
            <a:lvl1pPr>
              <a:defRPr sz="1875" b="1">
                <a:solidFill>
                  <a:srgbClr val="186A91"/>
                </a:solidFill>
                <a:latin typeface="Helvetica Neue"/>
                <a:ea typeface="Helvetica Neue"/>
                <a:cs typeface="Helvetica Neue"/>
              </a:defRPr>
            </a:lvl1pPr>
            <a:lvl2pPr>
              <a:defRPr sz="1875" b="1">
                <a:solidFill>
                  <a:srgbClr val="186A91"/>
                </a:solidFill>
                <a:latin typeface="Helvetica Neue"/>
                <a:ea typeface="Helvetica Neue"/>
                <a:cs typeface="Helvetica Neue"/>
              </a:defRPr>
            </a:lvl2pPr>
            <a:lvl3pPr>
              <a:defRPr sz="1875" b="1">
                <a:solidFill>
                  <a:srgbClr val="186A91"/>
                </a:solidFill>
                <a:latin typeface="Helvetica Neue"/>
                <a:ea typeface="Helvetica Neue"/>
                <a:cs typeface="Helvetica Neue"/>
              </a:defRPr>
            </a:lvl3pPr>
            <a:lvl4pPr>
              <a:defRPr sz="1875" b="1">
                <a:solidFill>
                  <a:srgbClr val="186A91"/>
                </a:solidFill>
                <a:latin typeface="Helvetica Neue"/>
                <a:ea typeface="Helvetica Neue"/>
                <a:cs typeface="Helvetica Neue"/>
              </a:defRPr>
            </a:lvl4pPr>
            <a:lvl5pPr>
              <a:defRPr sz="1875" b="1">
                <a:solidFill>
                  <a:srgbClr val="186A91"/>
                </a:solidFill>
                <a:latin typeface="Helvetica Neue"/>
                <a:ea typeface="Helvetica Neue"/>
                <a:cs typeface="Helvetica Neue"/>
              </a:defRPr>
            </a:lvl5pPr>
            <a:lvl6pPr>
              <a:defRPr sz="1875" b="1">
                <a:solidFill>
                  <a:srgbClr val="186A91"/>
                </a:solidFill>
                <a:latin typeface="Helvetica Neue"/>
                <a:ea typeface="Helvetica Neue"/>
                <a:cs typeface="Helvetica Neue"/>
              </a:defRPr>
            </a:lvl6pPr>
            <a:lvl7pPr>
              <a:defRPr sz="1875" b="1">
                <a:solidFill>
                  <a:srgbClr val="186A91"/>
                </a:solidFill>
                <a:latin typeface="Helvetica Neue"/>
                <a:ea typeface="Helvetica Neue"/>
                <a:cs typeface="Helvetica Neue"/>
              </a:defRPr>
            </a:lvl7pPr>
            <a:lvl8pPr>
              <a:defRPr sz="1875" b="1">
                <a:solidFill>
                  <a:srgbClr val="186A91"/>
                </a:solidFill>
                <a:latin typeface="Helvetica Neue"/>
                <a:ea typeface="Helvetica Neue"/>
                <a:cs typeface="Helvetica Neue"/>
              </a:defRPr>
            </a:lvl8pPr>
            <a:lvl9pPr>
              <a:defRPr sz="1875" b="1">
                <a:solidFill>
                  <a:srgbClr val="186A91"/>
                </a:solidFill>
                <a:latin typeface="Helvetica Neue"/>
                <a:ea typeface="Helvetica Neue"/>
                <a:cs typeface="Helvetica Neue"/>
              </a:defRPr>
            </a:lvl9pPr>
          </a:lstStyle>
          <a:p xmlns:a="http://schemas.openxmlformats.org/drawingml/2006/main">
            <a:pPr>
              <a:defRPr sz="1875" b="1">
                <a:solidFill>
                  <a:srgbClr val="186A91"/>
                </a:solidFill>
                <a:latin typeface="Helvetica Neue"/>
                <a:ea typeface="Helvetica Neue"/>
                <a:cs typeface="Helvetica Neue"/>
              </a:defRPr>
            </a:pPr>
            <a:r>
              <a:rPr sz="1875" b="1">
                <a:solidFill>
                  <a:srgbClr val="186A91"/>
                </a:solidFill>
                <a:latin typeface="Helvetica Neue"/>
                <a:ea typeface="Helvetica Neue"/>
                <a:cs typeface="Helvetica Neue"/>
              </a:rPr>
              <a:t>Success = optimal customer assignment AND correct capacity slack bits.</a:t>
            </a:r>
          </a:p>
        </p:txBody>
      </p:sp>
      <p:sp>
        <p:nvSpPr>
          <p:cNvPr id="7" name="">
            <a:extLst xmlns:a="http://schemas.openxmlformats.org/drawingml/2006/main">
              <a:ext uri="{FF2B5EF4-FFF2-40B4-BE49-F238E27FC236}">
                <a16:creationId xmlns:a16="http://schemas.microsoft.com/office/drawing/2014/main" id="{577CC871-3F81-4CBD-9927-9361C7DB67FE}"/>
              </a:ext>
            </a:extLst>
          </p:cNvPr>
          <p:cNvSpPr>
            <a:spLocks xmlns:a="http://schemas.openxmlformats.org/drawingml/2006/main" noGrp="1"/>
          </p:cNvSpPr>
          <p:nvPr/>
        </p:nvSpPr>
        <p:spPr>
          <a:xfrm xmlns:a="http://schemas.openxmlformats.org/drawingml/2006/main">
            <a:off x="571500" y="5057775"/>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142536"/>
                </a:solidFill>
                <a:latin typeface="Helvetica Neue"/>
                <a:ea typeface="Helvetica Neue"/>
                <a:cs typeface="Helvetica Neue"/>
              </a:defRPr>
            </a:defPPr>
            <a:lvl1pPr>
              <a:defRPr sz="2025" b="1">
                <a:solidFill>
                  <a:srgbClr val="142536"/>
                </a:solidFill>
                <a:latin typeface="Helvetica Neue"/>
                <a:ea typeface="Helvetica Neue"/>
                <a:cs typeface="Helvetica Neue"/>
              </a:defRPr>
            </a:lvl1pPr>
            <a:lvl2pPr>
              <a:defRPr sz="2025" b="1">
                <a:solidFill>
                  <a:srgbClr val="142536"/>
                </a:solidFill>
                <a:latin typeface="Helvetica Neue"/>
                <a:ea typeface="Helvetica Neue"/>
                <a:cs typeface="Helvetica Neue"/>
              </a:defRPr>
            </a:lvl2pPr>
            <a:lvl3pPr>
              <a:defRPr sz="2025" b="1">
                <a:solidFill>
                  <a:srgbClr val="142536"/>
                </a:solidFill>
                <a:latin typeface="Helvetica Neue"/>
                <a:ea typeface="Helvetica Neue"/>
                <a:cs typeface="Helvetica Neue"/>
              </a:defRPr>
            </a:lvl3pPr>
            <a:lvl4pPr>
              <a:defRPr sz="2025" b="1">
                <a:solidFill>
                  <a:srgbClr val="142536"/>
                </a:solidFill>
                <a:latin typeface="Helvetica Neue"/>
                <a:ea typeface="Helvetica Neue"/>
                <a:cs typeface="Helvetica Neue"/>
              </a:defRPr>
            </a:lvl4pPr>
            <a:lvl5pPr>
              <a:defRPr sz="2025" b="1">
                <a:solidFill>
                  <a:srgbClr val="142536"/>
                </a:solidFill>
                <a:latin typeface="Helvetica Neue"/>
                <a:ea typeface="Helvetica Neue"/>
                <a:cs typeface="Helvetica Neue"/>
              </a:defRPr>
            </a:lvl5pPr>
            <a:lvl6pPr>
              <a:defRPr sz="2025" b="1">
                <a:solidFill>
                  <a:srgbClr val="142536"/>
                </a:solidFill>
                <a:latin typeface="Helvetica Neue"/>
                <a:ea typeface="Helvetica Neue"/>
                <a:cs typeface="Helvetica Neue"/>
              </a:defRPr>
            </a:lvl6pPr>
            <a:lvl7pPr>
              <a:defRPr sz="2025" b="1">
                <a:solidFill>
                  <a:srgbClr val="142536"/>
                </a:solidFill>
                <a:latin typeface="Helvetica Neue"/>
                <a:ea typeface="Helvetica Neue"/>
                <a:cs typeface="Helvetica Neue"/>
              </a:defRPr>
            </a:lvl7pPr>
            <a:lvl8pPr>
              <a:defRPr sz="2025" b="1">
                <a:solidFill>
                  <a:srgbClr val="142536"/>
                </a:solidFill>
                <a:latin typeface="Helvetica Neue"/>
                <a:ea typeface="Helvetica Neue"/>
                <a:cs typeface="Helvetica Neue"/>
              </a:defRPr>
            </a:lvl8pPr>
            <a:lvl9pPr>
              <a:defRPr sz="2025" b="1">
                <a:solidFill>
                  <a:srgbClr val="142536"/>
                </a:solidFill>
                <a:latin typeface="Helvetica Neue"/>
                <a:ea typeface="Helvetica Neue"/>
                <a:cs typeface="Helvetica Neue"/>
              </a:defRPr>
            </a:lvl9pPr>
          </a:lstStyle>
          <a:p xmlns:a="http://schemas.openxmlformats.org/drawingml/2006/main">
            <a:pPr>
              <a:defRPr sz="2025" b="1">
                <a:solidFill>
                  <a:srgbClr val="142536"/>
                </a:solidFill>
                <a:latin typeface="Helvetica Neue"/>
                <a:ea typeface="Helvetica Neue"/>
                <a:cs typeface="Helvetica Neue"/>
              </a:defRPr>
            </a:pPr>
            <a:r>
              <a:rPr sz="2025" b="1">
                <a:solidFill>
                  <a:srgbClr val="142536"/>
                </a:solidFill>
                <a:latin typeface="Helvetica Neue"/>
                <a:ea typeface="Helvetica Neue"/>
                <a:cs typeface="Helvetica Neue"/>
              </a:rPr>
              <a:t>Useful lesson: assignment-only tuning can hide incorrect slack.</a:t>
            </a:r>
          </a:p>
          <a:p xmlns:a="http://schemas.openxmlformats.org/drawingml/2006/main">
            <a:pPr>
              <a:defRPr sz="2025" b="1">
                <a:solidFill>
                  <a:srgbClr val="142536"/>
                </a:solidFill>
                <a:latin typeface="Helvetica Neue"/>
                <a:ea typeface="Helvetica Neue"/>
                <a:cs typeface="Helvetica Neue"/>
              </a:defRPr>
            </a:pPr>
            <a:r>
              <a:rPr sz="2025" b="1">
                <a:solidFill>
                  <a:srgbClr val="142536"/>
                </a:solidFill>
                <a:latin typeface="Helvetica Neue"/>
                <a:ea typeface="Helvetica Neue"/>
                <a:cs typeface="Helvetica Neue"/>
              </a:rPr>
              <a:t>Tuning on intended interactions did not transfer to geometry.</a:t>
            </a:r>
          </a:p>
        </p:txBody>
      </p:sp>
      <p:sp>
        <p:nvSpPr>
          <p:cNvPr id="8" name="">
            <a:extLst xmlns:a="http://schemas.openxmlformats.org/drawingml/2006/main">
              <a:ext uri="{FF2B5EF4-FFF2-40B4-BE49-F238E27FC236}">
                <a16:creationId xmlns:a16="http://schemas.microsoft.com/office/drawing/2014/main" id="{4736ED11-BE66-42AB-AA70-E2012760843B}"/>
              </a:ext>
            </a:extLst>
          </p:cNvPr>
          <p:cNvSpPr>
            <a:spLocks xmlns:a="http://schemas.openxmlformats.org/drawingml/2006/main" noGrp="1"/>
          </p:cNvSpPr>
          <p:nvPr/>
        </p:nvSpPr>
        <p:spPr>
          <a:xfrm xmlns:a="http://schemas.openxmlformats.org/drawingml/2006/main">
            <a:off x="571500" y="59531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516476"/>
                </a:solidFill>
                <a:latin typeface="Helvetica Neue"/>
                <a:ea typeface="Helvetica Neue"/>
                <a:cs typeface="Helvetica Neue"/>
              </a:defRPr>
            </a:defPPr>
            <a:lvl1pPr>
              <a:defRPr sz="1425" b="0">
                <a:solidFill>
                  <a:srgbClr val="516476"/>
                </a:solidFill>
                <a:latin typeface="Helvetica Neue"/>
                <a:ea typeface="Helvetica Neue"/>
                <a:cs typeface="Helvetica Neue"/>
              </a:defRPr>
            </a:lvl1pPr>
            <a:lvl2pPr>
              <a:defRPr sz="1425" b="0">
                <a:solidFill>
                  <a:srgbClr val="516476"/>
                </a:solidFill>
                <a:latin typeface="Helvetica Neue"/>
                <a:ea typeface="Helvetica Neue"/>
                <a:cs typeface="Helvetica Neue"/>
              </a:defRPr>
            </a:lvl2pPr>
            <a:lvl3pPr>
              <a:defRPr sz="1425" b="0">
                <a:solidFill>
                  <a:srgbClr val="516476"/>
                </a:solidFill>
                <a:latin typeface="Helvetica Neue"/>
                <a:ea typeface="Helvetica Neue"/>
                <a:cs typeface="Helvetica Neue"/>
              </a:defRPr>
            </a:lvl3pPr>
            <a:lvl4pPr>
              <a:defRPr sz="1425" b="0">
                <a:solidFill>
                  <a:srgbClr val="516476"/>
                </a:solidFill>
                <a:latin typeface="Helvetica Neue"/>
                <a:ea typeface="Helvetica Neue"/>
                <a:cs typeface="Helvetica Neue"/>
              </a:defRPr>
            </a:lvl4pPr>
            <a:lvl5pPr>
              <a:defRPr sz="1425" b="0">
                <a:solidFill>
                  <a:srgbClr val="516476"/>
                </a:solidFill>
                <a:latin typeface="Helvetica Neue"/>
                <a:ea typeface="Helvetica Neue"/>
                <a:cs typeface="Helvetica Neue"/>
              </a:defRPr>
            </a:lvl5pPr>
            <a:lvl6pPr>
              <a:defRPr sz="1425" b="0">
                <a:solidFill>
                  <a:srgbClr val="516476"/>
                </a:solidFill>
                <a:latin typeface="Helvetica Neue"/>
                <a:ea typeface="Helvetica Neue"/>
                <a:cs typeface="Helvetica Neue"/>
              </a:defRPr>
            </a:lvl6pPr>
            <a:lvl7pPr>
              <a:defRPr sz="1425" b="0">
                <a:solidFill>
                  <a:srgbClr val="516476"/>
                </a:solidFill>
                <a:latin typeface="Helvetica Neue"/>
                <a:ea typeface="Helvetica Neue"/>
                <a:cs typeface="Helvetica Neue"/>
              </a:defRPr>
            </a:lvl7pPr>
            <a:lvl8pPr>
              <a:defRPr sz="1425" b="0">
                <a:solidFill>
                  <a:srgbClr val="516476"/>
                </a:solidFill>
                <a:latin typeface="Helvetica Neue"/>
                <a:ea typeface="Helvetica Neue"/>
                <a:cs typeface="Helvetica Neue"/>
              </a:defRPr>
            </a:lvl8pPr>
            <a:lvl9pPr>
              <a:defRPr sz="1425" b="0">
                <a:solidFill>
                  <a:srgbClr val="516476"/>
                </a:solidFill>
                <a:latin typeface="Helvetica Neue"/>
                <a:ea typeface="Helvetica Neue"/>
                <a:cs typeface="Helvetica Neue"/>
              </a:defRPr>
            </a:lvl9pPr>
          </a:lstStyle>
          <a:p xmlns:a="http://schemas.openxmlformats.org/drawingml/2006/main">
            <a:pPr>
              <a:defRPr sz="1425" b="0">
                <a:solidFill>
                  <a:srgbClr val="516476"/>
                </a:solidFill>
                <a:latin typeface="Helvetica Neue"/>
                <a:ea typeface="Helvetica Neue"/>
                <a:cs typeface="Helvetica Neue"/>
              </a:defRPr>
            </a:pPr>
            <a:r>
              <a:rPr sz="1425" b="0">
                <a:solidFill>
                  <a:srgbClr val="516476"/>
                </a:solidFill>
                <a:latin typeface="Helvetica Neue"/>
                <a:ea typeface="Helvetica Neue"/>
                <a:cs typeface="Helvetica Neue"/>
              </a:rPr>
              <a:t>Penalty tuning used known optimal answers. Ideal individual fields; durations may exceed hardware limits. Ranges: three search-seed means over five cases. Reporting floor: 0.1%, not a certified bound.</a:t>
            </a:r>
          </a:p>
        </p:txBody>
      </p:sp>
    </p:spTree>
    <p:extLst>
      <p:ext uri="{BB962C8B-B14F-4D97-AF65-F5344CB8AC3E}">
        <p14:creationId xmlns:p14="http://schemas.microsoft.com/office/powerpoint/2010/main" val="916842776"/>
      </p:ext>
    </p:extLst>
  </p:cSld>
</p:sld>
</file>

<file path=ppt/slides/slide11.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C8880C-A035-4FF6-A430-BA90D20370C8}"/>
              </a:ext>
            </a:extLst>
          </p:cNvPr>
          <p:cNvSpPr>
            <a:spLocks xmlns:a="http://schemas.openxmlformats.org/drawingml/2006/main" noGrp="1"/>
          </p:cNvSpPr>
          <p:nvPr/>
        </p:nvSpPr>
        <p:spPr>
          <a:xfrm xmlns:a="http://schemas.openxmlformats.org/drawingml/2006/main">
            <a:off x="571500" y="34290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42536"/>
                </a:solidFill>
                <a:latin typeface="Helvetica Neue"/>
                <a:ea typeface="Helvetica Neue"/>
                <a:cs typeface="Helvetica Neue"/>
              </a:defRPr>
            </a:defPPr>
            <a:lvl1pPr>
              <a:defRPr sz="3225" b="1">
                <a:solidFill>
                  <a:srgbClr val="142536"/>
                </a:solidFill>
                <a:latin typeface="Helvetica Neue"/>
                <a:ea typeface="Helvetica Neue"/>
                <a:cs typeface="Helvetica Neue"/>
              </a:defRPr>
            </a:lvl1pPr>
            <a:lvl2pPr>
              <a:defRPr sz="3225" b="1">
                <a:solidFill>
                  <a:srgbClr val="142536"/>
                </a:solidFill>
                <a:latin typeface="Helvetica Neue"/>
                <a:ea typeface="Helvetica Neue"/>
                <a:cs typeface="Helvetica Neue"/>
              </a:defRPr>
            </a:lvl2pPr>
            <a:lvl3pPr>
              <a:defRPr sz="3225" b="1">
                <a:solidFill>
                  <a:srgbClr val="142536"/>
                </a:solidFill>
                <a:latin typeface="Helvetica Neue"/>
                <a:ea typeface="Helvetica Neue"/>
                <a:cs typeface="Helvetica Neue"/>
              </a:defRPr>
            </a:lvl3pPr>
            <a:lvl4pPr>
              <a:defRPr sz="3225" b="1">
                <a:solidFill>
                  <a:srgbClr val="142536"/>
                </a:solidFill>
                <a:latin typeface="Helvetica Neue"/>
                <a:ea typeface="Helvetica Neue"/>
                <a:cs typeface="Helvetica Neue"/>
              </a:defRPr>
            </a:lvl4pPr>
            <a:lvl5pPr>
              <a:defRPr sz="3225" b="1">
                <a:solidFill>
                  <a:srgbClr val="142536"/>
                </a:solidFill>
                <a:latin typeface="Helvetica Neue"/>
                <a:ea typeface="Helvetica Neue"/>
                <a:cs typeface="Helvetica Neue"/>
              </a:defRPr>
            </a:lvl5pPr>
            <a:lvl6pPr>
              <a:defRPr sz="3225" b="1">
                <a:solidFill>
                  <a:srgbClr val="142536"/>
                </a:solidFill>
                <a:latin typeface="Helvetica Neue"/>
                <a:ea typeface="Helvetica Neue"/>
                <a:cs typeface="Helvetica Neue"/>
              </a:defRPr>
            </a:lvl6pPr>
            <a:lvl7pPr>
              <a:defRPr sz="3225" b="1">
                <a:solidFill>
                  <a:srgbClr val="142536"/>
                </a:solidFill>
                <a:latin typeface="Helvetica Neue"/>
                <a:ea typeface="Helvetica Neue"/>
                <a:cs typeface="Helvetica Neue"/>
              </a:defRPr>
            </a:lvl7pPr>
            <a:lvl8pPr>
              <a:defRPr sz="3225" b="1">
                <a:solidFill>
                  <a:srgbClr val="142536"/>
                </a:solidFill>
                <a:latin typeface="Helvetica Neue"/>
                <a:ea typeface="Helvetica Neue"/>
                <a:cs typeface="Helvetica Neue"/>
              </a:defRPr>
            </a:lvl8pPr>
            <a:lvl9pPr>
              <a:defRPr sz="3225" b="1">
                <a:solidFill>
                  <a:srgbClr val="142536"/>
                </a:solidFill>
                <a:latin typeface="Helvetica Neue"/>
                <a:ea typeface="Helvetica Neue"/>
                <a:cs typeface="Helvetica Neue"/>
              </a:defRPr>
            </a:lvl9pPr>
          </a:lstStyle>
          <a:p xmlns:a="http://schemas.openxmlformats.org/drawingml/2006/main">
            <a:pPr>
              <a:defRPr sz="3225" b="1">
                <a:solidFill>
                  <a:srgbClr val="142536"/>
                </a:solidFill>
                <a:latin typeface="Helvetica Neue"/>
                <a:ea typeface="Helvetica Neue"/>
                <a:cs typeface="Helvetica Neue"/>
              </a:defRPr>
            </a:pPr>
            <a:r>
              <a:rPr sz="3225" b="1">
                <a:solidFill>
                  <a:srgbClr val="142536"/>
                </a:solidFill>
                <a:latin typeface="Helvetica Neue"/>
                <a:ea typeface="Helvetica Neue"/>
                <a:cs typeface="Helvetica Neue"/>
              </a:rPr>
              <a:t>Embedding fidelity is a bottleneck in these layouts</a:t>
            </a:r>
          </a:p>
        </p:txBody>
      </p:sp>
      <p:sp>
        <p:nvSpPr>
          <p:cNvPr id="2" name="">
            <a:extLst xmlns:a="http://schemas.openxmlformats.org/drawingml/2006/main">
              <a:ext uri="{FF2B5EF4-FFF2-40B4-BE49-F238E27FC236}">
                <a16:creationId xmlns:a16="http://schemas.microsoft.com/office/drawing/2014/main" id="{3BD75BF9-82C1-47D2-A151-D564484C5721}"/>
              </a:ext>
            </a:extLst>
          </p:cNvPr>
          <p:cNvSpPr>
            <a:spLocks xmlns:a="http://schemas.openxmlformats.org/drawingml/2006/main" noGrp="1"/>
          </p:cNvSpPr>
          <p:nvPr/>
        </p:nvSpPr>
        <p:spPr>
          <a:xfrm xmlns:a="http://schemas.openxmlformats.org/drawingml/2006/main">
            <a:off x="11001375" y="63817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16476"/>
                </a:solidFill>
                <a:latin typeface="Helvetica Neue"/>
                <a:ea typeface="Helvetica Neue"/>
                <a:cs typeface="Helvetica Neue"/>
              </a:defRPr>
            </a:defPPr>
            <a:lvl1pPr>
              <a:defRPr sz="1350" b="0">
                <a:solidFill>
                  <a:srgbClr val="516476"/>
                </a:solidFill>
                <a:latin typeface="Helvetica Neue"/>
                <a:ea typeface="Helvetica Neue"/>
                <a:cs typeface="Helvetica Neue"/>
              </a:defRPr>
            </a:lvl1pPr>
            <a:lvl2pPr>
              <a:defRPr sz="1350" b="0">
                <a:solidFill>
                  <a:srgbClr val="516476"/>
                </a:solidFill>
                <a:latin typeface="Helvetica Neue"/>
                <a:ea typeface="Helvetica Neue"/>
                <a:cs typeface="Helvetica Neue"/>
              </a:defRPr>
            </a:lvl2pPr>
            <a:lvl3pPr>
              <a:defRPr sz="1350" b="0">
                <a:solidFill>
                  <a:srgbClr val="516476"/>
                </a:solidFill>
                <a:latin typeface="Helvetica Neue"/>
                <a:ea typeface="Helvetica Neue"/>
                <a:cs typeface="Helvetica Neue"/>
              </a:defRPr>
            </a:lvl3pPr>
            <a:lvl4pPr>
              <a:defRPr sz="1350" b="0">
                <a:solidFill>
                  <a:srgbClr val="516476"/>
                </a:solidFill>
                <a:latin typeface="Helvetica Neue"/>
                <a:ea typeface="Helvetica Neue"/>
                <a:cs typeface="Helvetica Neue"/>
              </a:defRPr>
            </a:lvl4pPr>
            <a:lvl5pPr>
              <a:defRPr sz="1350" b="0">
                <a:solidFill>
                  <a:srgbClr val="516476"/>
                </a:solidFill>
                <a:latin typeface="Helvetica Neue"/>
                <a:ea typeface="Helvetica Neue"/>
                <a:cs typeface="Helvetica Neue"/>
              </a:defRPr>
            </a:lvl5pPr>
            <a:lvl6pPr>
              <a:defRPr sz="1350" b="0">
                <a:solidFill>
                  <a:srgbClr val="516476"/>
                </a:solidFill>
                <a:latin typeface="Helvetica Neue"/>
                <a:ea typeface="Helvetica Neue"/>
                <a:cs typeface="Helvetica Neue"/>
              </a:defRPr>
            </a:lvl6pPr>
            <a:lvl7pPr>
              <a:defRPr sz="1350" b="0">
                <a:solidFill>
                  <a:srgbClr val="516476"/>
                </a:solidFill>
                <a:latin typeface="Helvetica Neue"/>
                <a:ea typeface="Helvetica Neue"/>
                <a:cs typeface="Helvetica Neue"/>
              </a:defRPr>
            </a:lvl7pPr>
            <a:lvl8pPr>
              <a:defRPr sz="1350" b="0">
                <a:solidFill>
                  <a:srgbClr val="516476"/>
                </a:solidFill>
                <a:latin typeface="Helvetica Neue"/>
                <a:ea typeface="Helvetica Neue"/>
                <a:cs typeface="Helvetica Neue"/>
              </a:defRPr>
            </a:lvl8pPr>
            <a:lvl9pPr>
              <a:defRPr sz="1350" b="0">
                <a:solidFill>
                  <a:srgbClr val="516476"/>
                </a:solidFill>
                <a:latin typeface="Helvetica Neue"/>
                <a:ea typeface="Helvetica Neue"/>
                <a:cs typeface="Helvetica Neue"/>
              </a:defRPr>
            </a:lvl9pPr>
          </a:lstStyle>
          <a:p xmlns:a="http://schemas.openxmlformats.org/drawingml/2006/main">
            <a:pPr>
              <a:defRPr sz="1350" b="0">
                <a:solidFill>
                  <a:srgbClr val="516476"/>
                </a:solidFill>
                <a:latin typeface="Helvetica Neue"/>
                <a:ea typeface="Helvetica Neue"/>
                <a:cs typeface="Helvetica Neue"/>
              </a:defRPr>
            </a:pPr>
            <a:r>
              <a:rPr sz="1350" b="0">
                <a:solidFill>
                  <a:srgbClr val="516476"/>
                </a:solidFill>
                <a:latin typeface="Helvetica Neue"/>
                <a:ea typeface="Helvetica Neue"/>
                <a:cs typeface="Helvetica Neue"/>
              </a:rPr>
              <a:t>11 / 11</a:t>
            </a:r>
          </a:p>
        </p:txBody>
      </p:sp>
      <p:sp>
        <p:nvSpPr>
          <p:cNvPr id="3" name="">
            <a:extLst xmlns:a="http://schemas.openxmlformats.org/drawingml/2006/main">
              <a:ext uri="{FF2B5EF4-FFF2-40B4-BE49-F238E27FC236}">
                <a16:creationId xmlns:a16="http://schemas.microsoft.com/office/drawing/2014/main" id="{DCFC9A4D-118D-46BB-A750-1DFEB6F542AC}"/>
              </a:ext>
            </a:extLst>
          </p:cNvPr>
          <p:cNvSpPr>
            <a:spLocks xmlns:a="http://schemas.openxmlformats.org/drawingml/2006/main" noGrp="1"/>
          </p:cNvSpPr>
          <p:nvPr/>
        </p:nvSpPr>
        <p:spPr>
          <a:xfrm xmlns:a="http://schemas.openxmlformats.org/drawingml/2006/main">
            <a:off x="571500" y="1619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86A91"/>
                </a:solidFill>
                <a:latin typeface="Helvetica Neue"/>
                <a:ea typeface="Helvetica Neue"/>
                <a:cs typeface="Helvetica Neue"/>
              </a:defRPr>
            </a:defPPr>
            <a:lvl1pPr>
              <a:defRPr sz="2175" b="1">
                <a:solidFill>
                  <a:srgbClr val="186A91"/>
                </a:solidFill>
                <a:latin typeface="Helvetica Neue"/>
                <a:ea typeface="Helvetica Neue"/>
                <a:cs typeface="Helvetica Neue"/>
              </a:defRPr>
            </a:lvl1pPr>
            <a:lvl2pPr>
              <a:defRPr sz="2175" b="1">
                <a:solidFill>
                  <a:srgbClr val="186A91"/>
                </a:solidFill>
                <a:latin typeface="Helvetica Neue"/>
                <a:ea typeface="Helvetica Neue"/>
                <a:cs typeface="Helvetica Neue"/>
              </a:defRPr>
            </a:lvl2pPr>
            <a:lvl3pPr>
              <a:defRPr sz="2175" b="1">
                <a:solidFill>
                  <a:srgbClr val="186A91"/>
                </a:solidFill>
                <a:latin typeface="Helvetica Neue"/>
                <a:ea typeface="Helvetica Neue"/>
                <a:cs typeface="Helvetica Neue"/>
              </a:defRPr>
            </a:lvl3pPr>
            <a:lvl4pPr>
              <a:defRPr sz="2175" b="1">
                <a:solidFill>
                  <a:srgbClr val="186A91"/>
                </a:solidFill>
                <a:latin typeface="Helvetica Neue"/>
                <a:ea typeface="Helvetica Neue"/>
                <a:cs typeface="Helvetica Neue"/>
              </a:defRPr>
            </a:lvl4pPr>
            <a:lvl5pPr>
              <a:defRPr sz="2175" b="1">
                <a:solidFill>
                  <a:srgbClr val="186A91"/>
                </a:solidFill>
                <a:latin typeface="Helvetica Neue"/>
                <a:ea typeface="Helvetica Neue"/>
                <a:cs typeface="Helvetica Neue"/>
              </a:defRPr>
            </a:lvl5pPr>
            <a:lvl6pPr>
              <a:defRPr sz="2175" b="1">
                <a:solidFill>
                  <a:srgbClr val="186A91"/>
                </a:solidFill>
                <a:latin typeface="Helvetica Neue"/>
                <a:ea typeface="Helvetica Neue"/>
                <a:cs typeface="Helvetica Neue"/>
              </a:defRPr>
            </a:lvl6pPr>
            <a:lvl7pPr>
              <a:defRPr sz="2175" b="1">
                <a:solidFill>
                  <a:srgbClr val="186A91"/>
                </a:solidFill>
                <a:latin typeface="Helvetica Neue"/>
                <a:ea typeface="Helvetica Neue"/>
                <a:cs typeface="Helvetica Neue"/>
              </a:defRPr>
            </a:lvl7pPr>
            <a:lvl8pPr>
              <a:defRPr sz="2175" b="1">
                <a:solidFill>
                  <a:srgbClr val="186A91"/>
                </a:solidFill>
                <a:latin typeface="Helvetica Neue"/>
                <a:ea typeface="Helvetica Neue"/>
                <a:cs typeface="Helvetica Neue"/>
              </a:defRPr>
            </a:lvl8pPr>
            <a:lvl9pPr>
              <a:defRPr sz="2175" b="1">
                <a:solidFill>
                  <a:srgbClr val="186A91"/>
                </a:solidFill>
                <a:latin typeface="Helvetica Neue"/>
                <a:ea typeface="Helvetica Neue"/>
                <a:cs typeface="Helvetica Neue"/>
              </a:defRPr>
            </a:lvl9pPr>
          </a:lstStyle>
          <a:p xmlns:a="http://schemas.openxmlformats.org/drawingml/2006/main">
            <a:pPr>
              <a:defRPr sz="2175" b="1">
                <a:solidFill>
                  <a:srgbClr val="186A91"/>
                </a:solidFill>
                <a:latin typeface="Helvetica Neue"/>
                <a:ea typeface="Helvetica Neue"/>
                <a:cs typeface="Helvetica Neue"/>
              </a:defRPr>
            </a:pPr>
            <a:r>
              <a:rPr sz="2175" b="1">
                <a:solidFill>
                  <a:srgbClr val="186A91"/>
                </a:solidFill>
                <a:latin typeface="Helvetica Neue"/>
                <a:ea typeface="Helvetica Neue"/>
                <a:cs typeface="Helvetica Neue"/>
              </a:rPr>
              <a:t>Established</a:t>
            </a:r>
          </a:p>
        </p:txBody>
      </p:sp>
      <p:sp>
        <p:nvSpPr>
          <p:cNvPr id="4" name="">
            <a:extLst xmlns:a="http://schemas.openxmlformats.org/drawingml/2006/main">
              <a:ext uri="{FF2B5EF4-FFF2-40B4-BE49-F238E27FC236}">
                <a16:creationId xmlns:a16="http://schemas.microsoft.com/office/drawing/2014/main" id="{CACA8048-EFB3-4319-8FE3-0E874C3F23C4}"/>
              </a:ext>
            </a:extLst>
          </p:cNvPr>
          <p:cNvSpPr>
            <a:spLocks xmlns:a="http://schemas.openxmlformats.org/drawingml/2006/main" noGrp="1"/>
          </p:cNvSpPr>
          <p:nvPr/>
        </p:nvSpPr>
        <p:spPr>
          <a:xfrm xmlns:a="http://schemas.openxmlformats.org/drawingml/2006/main">
            <a:off x="3571875" y="1619250"/>
            <a:ext cx="790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1">
                <a:solidFill>
                  <a:srgbClr val="142536"/>
                </a:solidFill>
                <a:latin typeface="Helvetica Neue"/>
                <a:ea typeface="Helvetica Neue"/>
                <a:cs typeface="Helvetica Neue"/>
              </a:defRPr>
            </a:defPPr>
            <a:lvl1pPr>
              <a:defRPr sz="2625" b="1">
                <a:solidFill>
                  <a:srgbClr val="142536"/>
                </a:solidFill>
                <a:latin typeface="Helvetica Neue"/>
                <a:ea typeface="Helvetica Neue"/>
                <a:cs typeface="Helvetica Neue"/>
              </a:defRPr>
            </a:lvl1pPr>
            <a:lvl2pPr>
              <a:defRPr sz="2625" b="1">
                <a:solidFill>
                  <a:srgbClr val="142536"/>
                </a:solidFill>
                <a:latin typeface="Helvetica Neue"/>
                <a:ea typeface="Helvetica Neue"/>
                <a:cs typeface="Helvetica Neue"/>
              </a:defRPr>
            </a:lvl2pPr>
            <a:lvl3pPr>
              <a:defRPr sz="2625" b="1">
                <a:solidFill>
                  <a:srgbClr val="142536"/>
                </a:solidFill>
                <a:latin typeface="Helvetica Neue"/>
                <a:ea typeface="Helvetica Neue"/>
                <a:cs typeface="Helvetica Neue"/>
              </a:defRPr>
            </a:lvl3pPr>
            <a:lvl4pPr>
              <a:defRPr sz="2625" b="1">
                <a:solidFill>
                  <a:srgbClr val="142536"/>
                </a:solidFill>
                <a:latin typeface="Helvetica Neue"/>
                <a:ea typeface="Helvetica Neue"/>
                <a:cs typeface="Helvetica Neue"/>
              </a:defRPr>
            </a:lvl4pPr>
            <a:lvl5pPr>
              <a:defRPr sz="2625" b="1">
                <a:solidFill>
                  <a:srgbClr val="142536"/>
                </a:solidFill>
                <a:latin typeface="Helvetica Neue"/>
                <a:ea typeface="Helvetica Neue"/>
                <a:cs typeface="Helvetica Neue"/>
              </a:defRPr>
            </a:lvl5pPr>
            <a:lvl6pPr>
              <a:defRPr sz="2625" b="1">
                <a:solidFill>
                  <a:srgbClr val="142536"/>
                </a:solidFill>
                <a:latin typeface="Helvetica Neue"/>
                <a:ea typeface="Helvetica Neue"/>
                <a:cs typeface="Helvetica Neue"/>
              </a:defRPr>
            </a:lvl6pPr>
            <a:lvl7pPr>
              <a:defRPr sz="2625" b="1">
                <a:solidFill>
                  <a:srgbClr val="142536"/>
                </a:solidFill>
                <a:latin typeface="Helvetica Neue"/>
                <a:ea typeface="Helvetica Neue"/>
                <a:cs typeface="Helvetica Neue"/>
              </a:defRPr>
            </a:lvl7pPr>
            <a:lvl8pPr>
              <a:defRPr sz="2625" b="1">
                <a:solidFill>
                  <a:srgbClr val="142536"/>
                </a:solidFill>
                <a:latin typeface="Helvetica Neue"/>
                <a:ea typeface="Helvetica Neue"/>
                <a:cs typeface="Helvetica Neue"/>
              </a:defRPr>
            </a:lvl8pPr>
            <a:lvl9pPr>
              <a:defRPr sz="2625" b="1">
                <a:solidFill>
                  <a:srgbClr val="142536"/>
                </a:solidFill>
                <a:latin typeface="Helvetica Neue"/>
                <a:ea typeface="Helvetica Neue"/>
                <a:cs typeface="Helvetica Neue"/>
              </a:defRPr>
            </a:lvl9pPr>
          </a:lstStyle>
          <a:p xmlns:a="http://schemas.openxmlformats.org/drawingml/2006/main">
            <a:pPr>
              <a:defRPr sz="2625" b="1">
                <a:solidFill>
                  <a:srgbClr val="142536"/>
                </a:solidFill>
                <a:latin typeface="Helvetica Neue"/>
                <a:ea typeface="Helvetica Neue"/>
                <a:cs typeface="Helvetica Neue"/>
              </a:defRPr>
            </a:pPr>
            <a:r>
              <a:rPr sz="2625" b="1">
                <a:solidFill>
                  <a:srgbClr val="142536"/>
                </a:solidFill>
                <a:latin typeface="Helvetica Neue"/>
                <a:ea typeface="Helvetica Neue"/>
                <a:cs typeface="Helvetica Neue"/>
              </a:rPr>
              <a:t>Pair distortion removes feasible minima</a:t>
            </a:r>
          </a:p>
          <a:p xmlns:a="http://schemas.openxmlformats.org/drawingml/2006/main">
            <a:pPr>
              <a:defRPr sz="2625" b="1">
                <a:solidFill>
                  <a:srgbClr val="142536"/>
                </a:solidFill>
                <a:latin typeface="Helvetica Neue"/>
                <a:ea typeface="Helvetica Neue"/>
                <a:cs typeface="Helvetica Neue"/>
              </a:defRPr>
            </a:pPr>
            <a:r>
              <a:rPr sz="2625" b="1">
                <a:solidFill>
                  <a:srgbClr val="142536"/>
                </a:solidFill>
                <a:latin typeface="Helvetica Neue"/>
                <a:ea typeface="Helvetica Neue"/>
                <a:cs typeface="Helvetica Neue"/>
              </a:rPr>
              <a:t>in the tested small and medium layouts.</a:t>
            </a:r>
          </a:p>
        </p:txBody>
      </p:sp>
      <p:sp>
        <p:nvSpPr>
          <p:cNvPr id="5" name="">
            <a:extLst xmlns:a="http://schemas.openxmlformats.org/drawingml/2006/main">
              <a:ext uri="{FF2B5EF4-FFF2-40B4-BE49-F238E27FC236}">
                <a16:creationId xmlns:a16="http://schemas.microsoft.com/office/drawing/2014/main" id="{537211AE-845F-4496-987B-BB0D6615CE0F}"/>
              </a:ext>
            </a:extLst>
          </p:cNvPr>
          <p:cNvSpPr>
            <a:spLocks xmlns:a="http://schemas.openxmlformats.org/drawingml/2006/main" noGrp="1"/>
          </p:cNvSpPr>
          <p:nvPr/>
        </p:nvSpPr>
        <p:spPr>
          <a:xfrm xmlns:a="http://schemas.openxmlformats.org/drawingml/2006/main">
            <a:off x="571500" y="3048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86A91"/>
                </a:solidFill>
                <a:latin typeface="Helvetica Neue"/>
                <a:ea typeface="Helvetica Neue"/>
                <a:cs typeface="Helvetica Neue"/>
              </a:defRPr>
            </a:defPPr>
            <a:lvl1pPr>
              <a:defRPr sz="2175" b="1">
                <a:solidFill>
                  <a:srgbClr val="186A91"/>
                </a:solidFill>
                <a:latin typeface="Helvetica Neue"/>
                <a:ea typeface="Helvetica Neue"/>
                <a:cs typeface="Helvetica Neue"/>
              </a:defRPr>
            </a:lvl1pPr>
            <a:lvl2pPr>
              <a:defRPr sz="2175" b="1">
                <a:solidFill>
                  <a:srgbClr val="186A91"/>
                </a:solidFill>
                <a:latin typeface="Helvetica Neue"/>
                <a:ea typeface="Helvetica Neue"/>
                <a:cs typeface="Helvetica Neue"/>
              </a:defRPr>
            </a:lvl2pPr>
            <a:lvl3pPr>
              <a:defRPr sz="2175" b="1">
                <a:solidFill>
                  <a:srgbClr val="186A91"/>
                </a:solidFill>
                <a:latin typeface="Helvetica Neue"/>
                <a:ea typeface="Helvetica Neue"/>
                <a:cs typeface="Helvetica Neue"/>
              </a:defRPr>
            </a:lvl3pPr>
            <a:lvl4pPr>
              <a:defRPr sz="2175" b="1">
                <a:solidFill>
                  <a:srgbClr val="186A91"/>
                </a:solidFill>
                <a:latin typeface="Helvetica Neue"/>
                <a:ea typeface="Helvetica Neue"/>
                <a:cs typeface="Helvetica Neue"/>
              </a:defRPr>
            </a:lvl4pPr>
            <a:lvl5pPr>
              <a:defRPr sz="2175" b="1">
                <a:solidFill>
                  <a:srgbClr val="186A91"/>
                </a:solidFill>
                <a:latin typeface="Helvetica Neue"/>
                <a:ea typeface="Helvetica Neue"/>
                <a:cs typeface="Helvetica Neue"/>
              </a:defRPr>
            </a:lvl5pPr>
            <a:lvl6pPr>
              <a:defRPr sz="2175" b="1">
                <a:solidFill>
                  <a:srgbClr val="186A91"/>
                </a:solidFill>
                <a:latin typeface="Helvetica Neue"/>
                <a:ea typeface="Helvetica Neue"/>
                <a:cs typeface="Helvetica Neue"/>
              </a:defRPr>
            </a:lvl6pPr>
            <a:lvl7pPr>
              <a:defRPr sz="2175" b="1">
                <a:solidFill>
                  <a:srgbClr val="186A91"/>
                </a:solidFill>
                <a:latin typeface="Helvetica Neue"/>
                <a:ea typeface="Helvetica Neue"/>
                <a:cs typeface="Helvetica Neue"/>
              </a:defRPr>
            </a:lvl7pPr>
            <a:lvl8pPr>
              <a:defRPr sz="2175" b="1">
                <a:solidFill>
                  <a:srgbClr val="186A91"/>
                </a:solidFill>
                <a:latin typeface="Helvetica Neue"/>
                <a:ea typeface="Helvetica Neue"/>
                <a:cs typeface="Helvetica Neue"/>
              </a:defRPr>
            </a:lvl8pPr>
            <a:lvl9pPr>
              <a:defRPr sz="2175" b="1">
                <a:solidFill>
                  <a:srgbClr val="186A91"/>
                </a:solidFill>
                <a:latin typeface="Helvetica Neue"/>
                <a:ea typeface="Helvetica Neue"/>
                <a:cs typeface="Helvetica Neue"/>
              </a:defRPr>
            </a:lvl9pPr>
          </a:lstStyle>
          <a:p xmlns:a="http://schemas.openxmlformats.org/drawingml/2006/main">
            <a:pPr>
              <a:defRPr sz="2175" b="1">
                <a:solidFill>
                  <a:srgbClr val="186A91"/>
                </a:solidFill>
                <a:latin typeface="Helvetica Neue"/>
                <a:ea typeface="Helvetica Neue"/>
                <a:cs typeface="Helvetica Neue"/>
              </a:defRPr>
            </a:pPr>
            <a:r>
              <a:rPr sz="2175" b="1">
                <a:solidFill>
                  <a:srgbClr val="186A91"/>
                </a:solidFill>
                <a:latin typeface="Helvetica Neue"/>
                <a:ea typeface="Helvetica Neue"/>
                <a:cs typeface="Helvetica Neue"/>
              </a:rPr>
              <a:t>Unresolved</a:t>
            </a:r>
          </a:p>
        </p:txBody>
      </p:sp>
      <p:sp>
        <p:nvSpPr>
          <p:cNvPr id="6" name="">
            <a:extLst xmlns:a="http://schemas.openxmlformats.org/drawingml/2006/main">
              <a:ext uri="{FF2B5EF4-FFF2-40B4-BE49-F238E27FC236}">
                <a16:creationId xmlns:a16="http://schemas.microsoft.com/office/drawing/2014/main" id="{A71356DA-3482-43D6-9E37-AE8810F6A95F}"/>
              </a:ext>
            </a:extLst>
          </p:cNvPr>
          <p:cNvSpPr>
            <a:spLocks xmlns:a="http://schemas.openxmlformats.org/drawingml/2006/main" noGrp="1"/>
          </p:cNvSpPr>
          <p:nvPr/>
        </p:nvSpPr>
        <p:spPr>
          <a:xfrm xmlns:a="http://schemas.openxmlformats.org/drawingml/2006/main">
            <a:off x="3571875" y="3048000"/>
            <a:ext cx="790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75" b="0">
                <a:solidFill>
                  <a:srgbClr val="142536"/>
                </a:solidFill>
                <a:latin typeface="Helvetica Neue"/>
                <a:ea typeface="Helvetica Neue"/>
                <a:cs typeface="Helvetica Neue"/>
              </a:defRPr>
            </a:defPPr>
            <a:lvl1pPr>
              <a:defRPr sz="2475" b="0">
                <a:solidFill>
                  <a:srgbClr val="142536"/>
                </a:solidFill>
                <a:latin typeface="Helvetica Neue"/>
                <a:ea typeface="Helvetica Neue"/>
                <a:cs typeface="Helvetica Neue"/>
              </a:defRPr>
            </a:lvl1pPr>
            <a:lvl2pPr>
              <a:defRPr sz="2475" b="0">
                <a:solidFill>
                  <a:srgbClr val="142536"/>
                </a:solidFill>
                <a:latin typeface="Helvetica Neue"/>
                <a:ea typeface="Helvetica Neue"/>
                <a:cs typeface="Helvetica Neue"/>
              </a:defRPr>
            </a:lvl2pPr>
            <a:lvl3pPr>
              <a:defRPr sz="2475" b="0">
                <a:solidFill>
                  <a:srgbClr val="142536"/>
                </a:solidFill>
                <a:latin typeface="Helvetica Neue"/>
                <a:ea typeface="Helvetica Neue"/>
                <a:cs typeface="Helvetica Neue"/>
              </a:defRPr>
            </a:lvl3pPr>
            <a:lvl4pPr>
              <a:defRPr sz="2475" b="0">
                <a:solidFill>
                  <a:srgbClr val="142536"/>
                </a:solidFill>
                <a:latin typeface="Helvetica Neue"/>
                <a:ea typeface="Helvetica Neue"/>
                <a:cs typeface="Helvetica Neue"/>
              </a:defRPr>
            </a:lvl4pPr>
            <a:lvl5pPr>
              <a:defRPr sz="2475" b="0">
                <a:solidFill>
                  <a:srgbClr val="142536"/>
                </a:solidFill>
                <a:latin typeface="Helvetica Neue"/>
                <a:ea typeface="Helvetica Neue"/>
                <a:cs typeface="Helvetica Neue"/>
              </a:defRPr>
            </a:lvl5pPr>
            <a:lvl6pPr>
              <a:defRPr sz="2475" b="0">
                <a:solidFill>
                  <a:srgbClr val="142536"/>
                </a:solidFill>
                <a:latin typeface="Helvetica Neue"/>
                <a:ea typeface="Helvetica Neue"/>
                <a:cs typeface="Helvetica Neue"/>
              </a:defRPr>
            </a:lvl6pPr>
            <a:lvl7pPr>
              <a:defRPr sz="2475" b="0">
                <a:solidFill>
                  <a:srgbClr val="142536"/>
                </a:solidFill>
                <a:latin typeface="Helvetica Neue"/>
                <a:ea typeface="Helvetica Neue"/>
                <a:cs typeface="Helvetica Neue"/>
              </a:defRPr>
            </a:lvl7pPr>
            <a:lvl8pPr>
              <a:defRPr sz="2475" b="0">
                <a:solidFill>
                  <a:srgbClr val="142536"/>
                </a:solidFill>
                <a:latin typeface="Helvetica Neue"/>
                <a:ea typeface="Helvetica Neue"/>
                <a:cs typeface="Helvetica Neue"/>
              </a:defRPr>
            </a:lvl8pPr>
            <a:lvl9pPr>
              <a:defRPr sz="2475" b="0">
                <a:solidFill>
                  <a:srgbClr val="142536"/>
                </a:solidFill>
                <a:latin typeface="Helvetica Neue"/>
                <a:ea typeface="Helvetica Neue"/>
                <a:cs typeface="Helvetica Neue"/>
              </a:defRPr>
            </a:lvl9pPr>
          </a:lstStyle>
          <a:p xmlns:a="http://schemas.openxmlformats.org/drawingml/2006/main">
            <a:pPr>
              <a:defRPr sz="2475" b="0">
                <a:solidFill>
                  <a:srgbClr val="142536"/>
                </a:solidFill>
                <a:latin typeface="Helvetica Neue"/>
                <a:ea typeface="Helvetica Neue"/>
                <a:cs typeface="Helvetica Neue"/>
              </a:defRPr>
            </a:pPr>
            <a:r>
              <a:rPr sz="2475" b="0">
                <a:solidFill>
                  <a:srgbClr val="142536"/>
                </a:solidFill>
                <a:latin typeface="Helvetica Neue"/>
                <a:ea typeface="Helvetica Neue"/>
                <a:cs typeface="Helvetica Neue"/>
              </a:rPr>
              <a:t>Lower average coefficient error</a:t>
            </a:r>
          </a:p>
          <a:p xmlns:a="http://schemas.openxmlformats.org/drawingml/2006/main">
            <a:pPr>
              <a:defRPr sz="2475" b="0">
                <a:solidFill>
                  <a:srgbClr val="142536"/>
                </a:solidFill>
                <a:latin typeface="Helvetica Neue"/>
                <a:ea typeface="Helvetica Neue"/>
                <a:cs typeface="Helvetica Neue"/>
              </a:defRPr>
            </a:pPr>
            <a:r>
              <a:rPr sz="2475" b="0">
                <a:solidFill>
                  <a:srgbClr val="142536"/>
                </a:solidFill>
                <a:latin typeface="Helvetica Neue"/>
                <a:ea typeface="Helvetica Neue"/>
                <a:cs typeface="Helvetica Neue"/>
              </a:rPr>
              <a:t>can still discard useful layouts.</a:t>
            </a:r>
          </a:p>
        </p:txBody>
      </p:sp>
      <p:sp>
        <p:nvSpPr>
          <p:cNvPr id="7" name="">
            <a:extLst xmlns:a="http://schemas.openxmlformats.org/drawingml/2006/main">
              <a:ext uri="{FF2B5EF4-FFF2-40B4-BE49-F238E27FC236}">
                <a16:creationId xmlns:a16="http://schemas.microsoft.com/office/drawing/2014/main" id="{D55963B0-369C-4625-B9F2-2478B144CF15}"/>
              </a:ext>
            </a:extLst>
          </p:cNvPr>
          <p:cNvSpPr>
            <a:spLocks xmlns:a="http://schemas.openxmlformats.org/drawingml/2006/main" noGrp="1"/>
          </p:cNvSpPr>
          <p:nvPr/>
        </p:nvSpPr>
        <p:spPr>
          <a:xfrm xmlns:a="http://schemas.openxmlformats.org/drawingml/2006/main">
            <a:off x="571500" y="45243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86A91"/>
                </a:solidFill>
                <a:latin typeface="Helvetica Neue"/>
                <a:ea typeface="Helvetica Neue"/>
                <a:cs typeface="Helvetica Neue"/>
              </a:defRPr>
            </a:defPPr>
            <a:lvl1pPr>
              <a:defRPr sz="2175" b="1">
                <a:solidFill>
                  <a:srgbClr val="186A91"/>
                </a:solidFill>
                <a:latin typeface="Helvetica Neue"/>
                <a:ea typeface="Helvetica Neue"/>
                <a:cs typeface="Helvetica Neue"/>
              </a:defRPr>
            </a:lvl1pPr>
            <a:lvl2pPr>
              <a:defRPr sz="2175" b="1">
                <a:solidFill>
                  <a:srgbClr val="186A91"/>
                </a:solidFill>
                <a:latin typeface="Helvetica Neue"/>
                <a:ea typeface="Helvetica Neue"/>
                <a:cs typeface="Helvetica Neue"/>
              </a:defRPr>
            </a:lvl2pPr>
            <a:lvl3pPr>
              <a:defRPr sz="2175" b="1">
                <a:solidFill>
                  <a:srgbClr val="186A91"/>
                </a:solidFill>
                <a:latin typeface="Helvetica Neue"/>
                <a:ea typeface="Helvetica Neue"/>
                <a:cs typeface="Helvetica Neue"/>
              </a:defRPr>
            </a:lvl3pPr>
            <a:lvl4pPr>
              <a:defRPr sz="2175" b="1">
                <a:solidFill>
                  <a:srgbClr val="186A91"/>
                </a:solidFill>
                <a:latin typeface="Helvetica Neue"/>
                <a:ea typeface="Helvetica Neue"/>
                <a:cs typeface="Helvetica Neue"/>
              </a:defRPr>
            </a:lvl4pPr>
            <a:lvl5pPr>
              <a:defRPr sz="2175" b="1">
                <a:solidFill>
                  <a:srgbClr val="186A91"/>
                </a:solidFill>
                <a:latin typeface="Helvetica Neue"/>
                <a:ea typeface="Helvetica Neue"/>
                <a:cs typeface="Helvetica Neue"/>
              </a:defRPr>
            </a:lvl5pPr>
            <a:lvl6pPr>
              <a:defRPr sz="2175" b="1">
                <a:solidFill>
                  <a:srgbClr val="186A91"/>
                </a:solidFill>
                <a:latin typeface="Helvetica Neue"/>
                <a:ea typeface="Helvetica Neue"/>
                <a:cs typeface="Helvetica Neue"/>
              </a:defRPr>
            </a:lvl6pPr>
            <a:lvl7pPr>
              <a:defRPr sz="2175" b="1">
                <a:solidFill>
                  <a:srgbClr val="186A91"/>
                </a:solidFill>
                <a:latin typeface="Helvetica Neue"/>
                <a:ea typeface="Helvetica Neue"/>
                <a:cs typeface="Helvetica Neue"/>
              </a:defRPr>
            </a:lvl7pPr>
            <a:lvl8pPr>
              <a:defRPr sz="2175" b="1">
                <a:solidFill>
                  <a:srgbClr val="186A91"/>
                </a:solidFill>
                <a:latin typeface="Helvetica Neue"/>
                <a:ea typeface="Helvetica Neue"/>
                <a:cs typeface="Helvetica Neue"/>
              </a:defRPr>
            </a:lvl8pPr>
            <a:lvl9pPr>
              <a:defRPr sz="2175" b="1">
                <a:solidFill>
                  <a:srgbClr val="186A91"/>
                </a:solidFill>
                <a:latin typeface="Helvetica Neue"/>
                <a:ea typeface="Helvetica Neue"/>
                <a:cs typeface="Helvetica Neue"/>
              </a:defRPr>
            </a:lvl9pPr>
          </a:lstStyle>
          <a:p xmlns:a="http://schemas.openxmlformats.org/drawingml/2006/main">
            <a:pPr>
              <a:defRPr sz="2175" b="1">
                <a:solidFill>
                  <a:srgbClr val="186A91"/>
                </a:solidFill>
                <a:latin typeface="Helvetica Neue"/>
                <a:ea typeface="Helvetica Neue"/>
                <a:cs typeface="Helvetica Neue"/>
              </a:defRPr>
            </a:pPr>
            <a:r>
              <a:rPr sz="2175" b="1">
                <a:solidFill>
                  <a:srgbClr val="186A91"/>
                </a:solidFill>
                <a:latin typeface="Helvetica Neue"/>
                <a:ea typeface="Helvetica Neue"/>
                <a:cs typeface="Helvetica Neue"/>
              </a:rPr>
              <a:t>Next experiment</a:t>
            </a:r>
          </a:p>
        </p:txBody>
      </p:sp>
      <p:sp>
        <p:nvSpPr>
          <p:cNvPr id="8" name="">
            <a:extLst xmlns:a="http://schemas.openxmlformats.org/drawingml/2006/main">
              <a:ext uri="{FF2B5EF4-FFF2-40B4-BE49-F238E27FC236}">
                <a16:creationId xmlns:a16="http://schemas.microsoft.com/office/drawing/2014/main" id="{3F30747C-E47A-4504-80FD-F106D5A38041}"/>
              </a:ext>
            </a:extLst>
          </p:cNvPr>
          <p:cNvSpPr>
            <a:spLocks xmlns:a="http://schemas.openxmlformats.org/drawingml/2006/main" noGrp="1"/>
          </p:cNvSpPr>
          <p:nvPr/>
        </p:nvSpPr>
        <p:spPr>
          <a:xfrm xmlns:a="http://schemas.openxmlformats.org/drawingml/2006/main">
            <a:off x="3571875" y="4524375"/>
            <a:ext cx="790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0">
                <a:solidFill>
                  <a:srgbClr val="142536"/>
                </a:solidFill>
                <a:latin typeface="Helvetica Neue"/>
                <a:ea typeface="Helvetica Neue"/>
                <a:cs typeface="Helvetica Neue"/>
              </a:defRPr>
            </a:defPPr>
            <a:lvl1pPr>
              <a:defRPr sz="2325" b="0">
                <a:solidFill>
                  <a:srgbClr val="142536"/>
                </a:solidFill>
                <a:latin typeface="Helvetica Neue"/>
                <a:ea typeface="Helvetica Neue"/>
                <a:cs typeface="Helvetica Neue"/>
              </a:defRPr>
            </a:lvl1pPr>
            <a:lvl2pPr>
              <a:defRPr sz="2325" b="0">
                <a:solidFill>
                  <a:srgbClr val="142536"/>
                </a:solidFill>
                <a:latin typeface="Helvetica Neue"/>
                <a:ea typeface="Helvetica Neue"/>
                <a:cs typeface="Helvetica Neue"/>
              </a:defRPr>
            </a:lvl2pPr>
            <a:lvl3pPr>
              <a:defRPr sz="2325" b="0">
                <a:solidFill>
                  <a:srgbClr val="142536"/>
                </a:solidFill>
                <a:latin typeface="Helvetica Neue"/>
                <a:ea typeface="Helvetica Neue"/>
                <a:cs typeface="Helvetica Neue"/>
              </a:defRPr>
            </a:lvl3pPr>
            <a:lvl4pPr>
              <a:defRPr sz="2325" b="0">
                <a:solidFill>
                  <a:srgbClr val="142536"/>
                </a:solidFill>
                <a:latin typeface="Helvetica Neue"/>
                <a:ea typeface="Helvetica Neue"/>
                <a:cs typeface="Helvetica Neue"/>
              </a:defRPr>
            </a:lvl4pPr>
            <a:lvl5pPr>
              <a:defRPr sz="2325" b="0">
                <a:solidFill>
                  <a:srgbClr val="142536"/>
                </a:solidFill>
                <a:latin typeface="Helvetica Neue"/>
                <a:ea typeface="Helvetica Neue"/>
                <a:cs typeface="Helvetica Neue"/>
              </a:defRPr>
            </a:lvl5pPr>
            <a:lvl6pPr>
              <a:defRPr sz="2325" b="0">
                <a:solidFill>
                  <a:srgbClr val="142536"/>
                </a:solidFill>
                <a:latin typeface="Helvetica Neue"/>
                <a:ea typeface="Helvetica Neue"/>
                <a:cs typeface="Helvetica Neue"/>
              </a:defRPr>
            </a:lvl6pPr>
            <a:lvl7pPr>
              <a:defRPr sz="2325" b="0">
                <a:solidFill>
                  <a:srgbClr val="142536"/>
                </a:solidFill>
                <a:latin typeface="Helvetica Neue"/>
                <a:ea typeface="Helvetica Neue"/>
                <a:cs typeface="Helvetica Neue"/>
              </a:defRPr>
            </a:lvl7pPr>
            <a:lvl8pPr>
              <a:defRPr sz="2325" b="0">
                <a:solidFill>
                  <a:srgbClr val="142536"/>
                </a:solidFill>
                <a:latin typeface="Helvetica Neue"/>
                <a:ea typeface="Helvetica Neue"/>
                <a:cs typeface="Helvetica Neue"/>
              </a:defRPr>
            </a:lvl8pPr>
            <a:lvl9pPr>
              <a:defRPr sz="2325" b="0">
                <a:solidFill>
                  <a:srgbClr val="142536"/>
                </a:solidFill>
                <a:latin typeface="Helvetica Neue"/>
                <a:ea typeface="Helvetica Neue"/>
                <a:cs typeface="Helvetica Neue"/>
              </a:defRPr>
            </a:lvl9pPr>
          </a:lstStyle>
          <a:p xmlns:a="http://schemas.openxmlformats.org/drawingml/2006/main">
            <a:pPr>
              <a:defRPr sz="2325" b="0">
                <a:solidFill>
                  <a:srgbClr val="142536"/>
                </a:solidFill>
                <a:latin typeface="Helvetica Neue"/>
                <a:ea typeface="Helvetica Neue"/>
                <a:cs typeface="Helvetica Neue"/>
              </a:defRPr>
            </a:pPr>
            <a:r>
              <a:rPr sz="2325" b="0">
                <a:solidFill>
                  <a:srgbClr val="142536"/>
                </a:solidFill>
                <a:latin typeface="Helvetica Neue"/>
                <a:ea typeface="Helvetica Neue"/>
                <a:cs typeface="Helvetica Neue"/>
              </a:rPr>
              <a:t>Train on invalid low-energy candidates found</a:t>
            </a:r>
          </a:p>
          <a:p xmlns:a="http://schemas.openxmlformats.org/drawingml/2006/main">
            <a:pPr>
              <a:defRPr sz="2325" b="0">
                <a:solidFill>
                  <a:srgbClr val="142536"/>
                </a:solidFill>
                <a:latin typeface="Helvetica Neue"/>
                <a:ea typeface="Helvetica Neue"/>
                <a:cs typeface="Helvetica Neue"/>
              </a:defRPr>
            </a:pPr>
            <a:r>
              <a:rPr sz="2325" b="0">
                <a:solidFill>
                  <a:srgbClr val="142536"/>
                </a:solidFill>
                <a:latin typeface="Helvetica Neue"/>
                <a:ea typeface="Helvetica Neue"/>
                <a:cs typeface="Helvetica Neue"/>
              </a:rPr>
              <a:t>without known answers. Keep the classical baseline.</a:t>
            </a:r>
          </a:p>
        </p:txBody>
      </p:sp>
      <p:sp>
        <p:nvSpPr>
          <p:cNvPr id="9" name="">
            <a:extLst xmlns:a="http://schemas.openxmlformats.org/drawingml/2006/main">
              <a:ext uri="{FF2B5EF4-FFF2-40B4-BE49-F238E27FC236}">
                <a16:creationId xmlns:a16="http://schemas.microsoft.com/office/drawing/2014/main" id="{39AA3830-54B5-4FF2-9BE4-2ACD26E197AB}"/>
              </a:ext>
            </a:extLst>
          </p:cNvPr>
          <p:cNvSpPr>
            <a:spLocks xmlns:a="http://schemas.openxmlformats.org/drawingml/2006/main" noGrp="1"/>
          </p:cNvSpPr>
          <p:nvPr/>
        </p:nvSpPr>
        <p:spPr>
          <a:xfrm xmlns:a="http://schemas.openxmlformats.org/drawingml/2006/main">
            <a:off x="571500" y="60960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516476"/>
                </a:solidFill>
                <a:latin typeface="Helvetica Neue"/>
                <a:ea typeface="Helvetica Neue"/>
                <a:cs typeface="Helvetica Neue"/>
              </a:defRPr>
            </a:defPPr>
            <a:lvl1pPr>
              <a:defRPr sz="1500" b="0">
                <a:solidFill>
                  <a:srgbClr val="516476"/>
                </a:solidFill>
                <a:latin typeface="Helvetica Neue"/>
                <a:ea typeface="Helvetica Neue"/>
                <a:cs typeface="Helvetica Neue"/>
              </a:defRPr>
            </a:lvl1pPr>
            <a:lvl2pPr>
              <a:defRPr sz="1500" b="0">
                <a:solidFill>
                  <a:srgbClr val="516476"/>
                </a:solidFill>
                <a:latin typeface="Helvetica Neue"/>
                <a:ea typeface="Helvetica Neue"/>
                <a:cs typeface="Helvetica Neue"/>
              </a:defRPr>
            </a:lvl2pPr>
            <a:lvl3pPr>
              <a:defRPr sz="1500" b="0">
                <a:solidFill>
                  <a:srgbClr val="516476"/>
                </a:solidFill>
                <a:latin typeface="Helvetica Neue"/>
                <a:ea typeface="Helvetica Neue"/>
                <a:cs typeface="Helvetica Neue"/>
              </a:defRPr>
            </a:lvl3pPr>
            <a:lvl4pPr>
              <a:defRPr sz="1500" b="0">
                <a:solidFill>
                  <a:srgbClr val="516476"/>
                </a:solidFill>
                <a:latin typeface="Helvetica Neue"/>
                <a:ea typeface="Helvetica Neue"/>
                <a:cs typeface="Helvetica Neue"/>
              </a:defRPr>
            </a:lvl4pPr>
            <a:lvl5pPr>
              <a:defRPr sz="1500" b="0">
                <a:solidFill>
                  <a:srgbClr val="516476"/>
                </a:solidFill>
                <a:latin typeface="Helvetica Neue"/>
                <a:ea typeface="Helvetica Neue"/>
                <a:cs typeface="Helvetica Neue"/>
              </a:defRPr>
            </a:lvl5pPr>
            <a:lvl6pPr>
              <a:defRPr sz="1500" b="0">
                <a:solidFill>
                  <a:srgbClr val="516476"/>
                </a:solidFill>
                <a:latin typeface="Helvetica Neue"/>
                <a:ea typeface="Helvetica Neue"/>
                <a:cs typeface="Helvetica Neue"/>
              </a:defRPr>
            </a:lvl6pPr>
            <a:lvl7pPr>
              <a:defRPr sz="1500" b="0">
                <a:solidFill>
                  <a:srgbClr val="516476"/>
                </a:solidFill>
                <a:latin typeface="Helvetica Neue"/>
                <a:ea typeface="Helvetica Neue"/>
                <a:cs typeface="Helvetica Neue"/>
              </a:defRPr>
            </a:lvl7pPr>
            <a:lvl8pPr>
              <a:defRPr sz="1500" b="0">
                <a:solidFill>
                  <a:srgbClr val="516476"/>
                </a:solidFill>
                <a:latin typeface="Helvetica Neue"/>
                <a:ea typeface="Helvetica Neue"/>
                <a:cs typeface="Helvetica Neue"/>
              </a:defRPr>
            </a:lvl8pPr>
            <a:lvl9pPr>
              <a:defRPr sz="1500" b="0">
                <a:solidFill>
                  <a:srgbClr val="516476"/>
                </a:solidFill>
                <a:latin typeface="Helvetica Neue"/>
                <a:ea typeface="Helvetica Neue"/>
                <a:cs typeface="Helvetica Neue"/>
              </a:defRPr>
            </a:lvl9pPr>
          </a:lstStyle>
          <a:p xmlns:a="http://schemas.openxmlformats.org/drawingml/2006/main">
            <a:pPr>
              <a:defRPr sz="1500" b="0">
                <a:solidFill>
                  <a:srgbClr val="516476"/>
                </a:solidFill>
                <a:latin typeface="Helvetica Neue"/>
                <a:ea typeface="Helvetica Neue"/>
                <a:cs typeface="Helvetica Neue"/>
              </a:defRPr>
            </a:pPr>
            <a:r>
              <a:rPr sz="1500" b="0">
                <a:solidFill>
                  <a:srgbClr val="516476"/>
                </a:solidFill>
                <a:latin typeface="Helvetica Neue"/>
                <a:ea typeface="Helvetica Neue"/>
                <a:cs typeface="Helvetica Neue"/>
              </a:rPr>
              <a:t>Proposed follow-up only. No quantum-advantage claim. AI assisted code, analysis and writing; team review remains essential.</a:t>
            </a:r>
          </a:p>
        </p:txBody>
      </p:sp>
    </p:spTree>
    <p:extLst>
      <p:ext uri="{BB962C8B-B14F-4D97-AF65-F5344CB8AC3E}">
        <p14:creationId xmlns:p14="http://schemas.microsoft.com/office/powerpoint/2010/main" val="341253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2026-10-25T14:47:41.2700000Z</dcterms:created>
  <dcterms:modified xsi:type="dcterms:W3CDTF">2026-10-25T14:47:41.2700000Z</dcterms:modified>
</coreProperties>
</file>